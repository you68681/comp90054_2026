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60" r:id="rId3"/>
    <p:sldId id="269" r:id="rId4"/>
    <p:sldId id="276" r:id="rId5"/>
    <p:sldId id="270" r:id="rId6"/>
    <p:sldId id="283" r:id="rId7"/>
    <p:sldId id="271" r:id="rId8"/>
    <p:sldId id="273" r:id="rId9"/>
    <p:sldId id="275" r:id="rId10"/>
    <p:sldId id="274" r:id="rId11"/>
    <p:sldId id="277" r:id="rId12"/>
    <p:sldId id="278" r:id="rId13"/>
    <p:sldId id="295" r:id="rId14"/>
    <p:sldId id="284" r:id="rId15"/>
    <p:sldId id="285" r:id="rId16"/>
    <p:sldId id="289" r:id="rId17"/>
    <p:sldId id="290" r:id="rId18"/>
    <p:sldId id="291" r:id="rId19"/>
    <p:sldId id="281" r:id="rId20"/>
    <p:sldId id="282" r:id="rId21"/>
    <p:sldId id="292" r:id="rId22"/>
    <p:sldId id="293" r:id="rId23"/>
    <p:sldId id="294" r:id="rId24"/>
    <p:sldId id="286" r:id="rId25"/>
    <p:sldId id="287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82"/>
    <p:restoredTop sz="79726"/>
  </p:normalViewPr>
  <p:slideViewPr>
    <p:cSldViewPr snapToGrid="0" snapToObjects="1">
      <p:cViewPr varScale="1">
        <p:scale>
          <a:sx n="100" d="100"/>
          <a:sy n="100" d="100"/>
        </p:scale>
        <p:origin x="184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B34B9-252B-B043-8AF3-FB5CB55F0F9F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6AE14-972F-D04F-B611-AA5F2C2E4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4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52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14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070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515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3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21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27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33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60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66AE14-972F-D04F-B611-AA5F2C2E42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32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18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62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909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39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23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237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96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3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28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1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14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5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0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4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83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699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FC4C1-D7A6-6847-8822-6832183FA72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5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FC4C1-D7A6-6847-8822-6832183FA72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B16512-B3C6-6E4C-B0B8-218FB5E34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50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400" dirty="0"/>
              <a:t>COMP90054 AI Planning for Autonomy</a:t>
            </a:r>
            <a:br>
              <a:rPr lang="en-US" altLang="zh-CN" sz="4400" dirty="0"/>
            </a:br>
            <a:r>
              <a:rPr lang="en-US" altLang="zh-CN" sz="4400" dirty="0"/>
              <a:t>Workshop  Week 3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692448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7462" y="1072055"/>
            <a:ext cx="1007416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Objectives of today’s workshop:</a:t>
            </a:r>
          </a:p>
          <a:p>
            <a:endParaRPr lang="en-US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Blind Search </a:t>
            </a:r>
            <a:r>
              <a:rPr lang="en-US" altLang="zh-CN" sz="2800" dirty="0"/>
              <a:t>Algorithm</a:t>
            </a:r>
            <a:r>
              <a:rPr lang="en-US" sz="2800" dirty="0"/>
              <a:t>: BFS, DFS, ID, IW</a:t>
            </a:r>
          </a:p>
        </p:txBody>
      </p:sp>
    </p:spTree>
    <p:extLst>
      <p:ext uri="{BB962C8B-B14F-4D97-AF65-F5344CB8AC3E}">
        <p14:creationId xmlns:p14="http://schemas.microsoft.com/office/powerpoint/2010/main" val="1140672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2707" y="576776"/>
            <a:ext cx="72026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Blind Search Algorithms :</a:t>
            </a:r>
          </a:p>
          <a:p>
            <a:endParaRPr lang="en-US" dirty="0"/>
          </a:p>
          <a:p>
            <a:r>
              <a:rPr lang="en-US" sz="2000" dirty="0"/>
              <a:t>Only use the basic ingredients for general search algorithms. </a:t>
            </a:r>
            <a:endParaRPr lang="en-US" sz="2000" dirty="0">
              <a:effectLst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3214" y="1772529"/>
            <a:ext cx="53879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Depth First Search (DFS)</a:t>
            </a:r>
          </a:p>
          <a:p>
            <a:r>
              <a:rPr lang="en-US" sz="2000" i="1" dirty="0"/>
              <a:t>Breadth-first search (</a:t>
            </a:r>
            <a:r>
              <a:rPr lang="en-US" sz="2000" i="1" dirty="0" err="1"/>
              <a:t>BrFS</a:t>
            </a:r>
            <a:r>
              <a:rPr lang="en-US" sz="2000" i="1" dirty="0"/>
              <a:t>)</a:t>
            </a:r>
          </a:p>
          <a:p>
            <a:r>
              <a:rPr lang="en-US" sz="2000" i="1" dirty="0"/>
              <a:t>Uniform Cost (</a:t>
            </a:r>
            <a:r>
              <a:rPr lang="en-US" sz="2000" i="1" dirty="0" err="1"/>
              <a:t>Dijkstra</a:t>
            </a:r>
            <a:r>
              <a:rPr lang="en-US" sz="2000" i="1" dirty="0"/>
              <a:t>)</a:t>
            </a:r>
          </a:p>
          <a:p>
            <a:r>
              <a:rPr lang="en-US" sz="2000" i="1" dirty="0"/>
              <a:t>Iterative Deepening (ID) </a:t>
            </a:r>
          </a:p>
          <a:p>
            <a:r>
              <a:rPr lang="en-US" sz="2000" i="1" dirty="0">
                <a:effectLst/>
              </a:rPr>
              <a:t>Iterated Width (IW)</a:t>
            </a:r>
            <a:endParaRPr lang="en-US" sz="2000" dirty="0">
              <a:effectLst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707" y="3560515"/>
            <a:ext cx="101052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Heuristic Search Algorithms :</a:t>
            </a:r>
          </a:p>
          <a:p>
            <a:endParaRPr lang="en-US" dirty="0"/>
          </a:p>
          <a:p>
            <a:r>
              <a:rPr lang="en-US" sz="2000" dirty="0"/>
              <a:t>Additionally use heuristic functions which estimate the distance (or remaining cost) to the goal. </a:t>
            </a:r>
            <a:endParaRPr lang="en-US" sz="2000" dirty="0">
              <a:effectLst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3214" y="4696836"/>
            <a:ext cx="53879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A* </a:t>
            </a:r>
          </a:p>
          <a:p>
            <a:r>
              <a:rPr lang="en-US" sz="2000" i="1" dirty="0"/>
              <a:t>WA*</a:t>
            </a:r>
          </a:p>
          <a:p>
            <a:r>
              <a:rPr lang="en-US" sz="2000" i="1" dirty="0"/>
              <a:t>Hill </a:t>
            </a:r>
            <a:r>
              <a:rPr lang="en-US" sz="2000" i="1" dirty="0" err="1"/>
              <a:t>Climbling</a:t>
            </a:r>
            <a:endParaRPr lang="en-US" sz="2000" i="1" dirty="0"/>
          </a:p>
          <a:p>
            <a:r>
              <a:rPr lang="en-US" sz="2000" i="1" dirty="0"/>
              <a:t>Greedy Best First Search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5901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0964" y="1129553"/>
            <a:ext cx="2169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Properties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479176" y="2097741"/>
            <a:ext cx="97536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Optimality</a:t>
            </a:r>
          </a:p>
          <a:p>
            <a:r>
              <a:rPr lang="en-US" sz="2000" dirty="0"/>
              <a:t>Are the returned solutions guaranteed to be optimal?</a:t>
            </a:r>
          </a:p>
          <a:p>
            <a:endParaRPr lang="en-US" dirty="0"/>
          </a:p>
          <a:p>
            <a:r>
              <a:rPr lang="en-US" sz="2800" b="1" dirty="0"/>
              <a:t>Completeness</a:t>
            </a:r>
          </a:p>
          <a:p>
            <a:r>
              <a:rPr lang="en-US" sz="2000" dirty="0"/>
              <a:t>Is the strategy guaranteed to find a solution when there is one?</a:t>
            </a:r>
          </a:p>
          <a:p>
            <a:endParaRPr lang="en-US" sz="2000" dirty="0"/>
          </a:p>
          <a:p>
            <a:r>
              <a:rPr lang="en-US" altLang="zh-CN" sz="2800" b="1" dirty="0"/>
              <a:t>Sound</a:t>
            </a:r>
          </a:p>
          <a:p>
            <a:r>
              <a:rPr lang="en-US" sz="2000" dirty="0"/>
              <a:t>Is the algorithm guaranteed to return correct answers? </a:t>
            </a:r>
            <a:endParaRPr lang="en-US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48554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03" y="197933"/>
            <a:ext cx="10849646" cy="63838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4533" y="812801"/>
            <a:ext cx="1354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</a:rPr>
              <a:t>initial </a:t>
            </a:r>
            <a:r>
              <a:rPr lang="en-US" altLang="zh-CN" dirty="0">
                <a:solidFill>
                  <a:srgbClr val="FF0000"/>
                </a:solidFill>
              </a:rPr>
              <a:t>state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5740593" y="755600"/>
            <a:ext cx="491067" cy="491066"/>
          </a:xfrm>
          <a:prstGeom prst="ellipse">
            <a:avLst/>
          </a:prstGeom>
          <a:solidFill>
            <a:srgbClr val="FF0000">
              <a:alpha val="62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740593" y="3251199"/>
            <a:ext cx="491067" cy="508000"/>
          </a:xfrm>
          <a:prstGeom prst="ellipse">
            <a:avLst/>
          </a:prstGeom>
          <a:solidFill>
            <a:schemeClr val="accent1">
              <a:alpha val="6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231660" y="3389867"/>
            <a:ext cx="116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goal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5756" y="1158799"/>
            <a:ext cx="287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9863" y="1275733"/>
            <a:ext cx="22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6266" y="1208001"/>
            <a:ext cx="296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1823" y="2119665"/>
            <a:ext cx="143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4066" y="2304331"/>
            <a:ext cx="469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195" y="2119665"/>
            <a:ext cx="17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3623" y="2997200"/>
            <a:ext cx="236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3867" y="2997200"/>
            <a:ext cx="152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2023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1694" y="535521"/>
            <a:ext cx="17481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/>
              <a:t>1.</a:t>
            </a:r>
            <a:r>
              <a:rPr lang="en-US" sz="4400" b="1"/>
              <a:t>BFS</a:t>
            </a:r>
            <a:endParaRPr lang="en-US" sz="24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071" y="91470"/>
            <a:ext cx="3086929" cy="407835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09441" y="4593081"/>
            <a:ext cx="2115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n6 = &lt; s7, 12, n3 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368" y="5485545"/>
            <a:ext cx="6275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solution found by BFS:   s1 -&gt; s3 -&gt; s7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7377" y="889464"/>
            <a:ext cx="33886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r-IN" sz="2400" b="1" dirty="0"/>
              <a:t>n3 = ⟨</a:t>
            </a:r>
            <a:r>
              <a:rPr lang="en-US" sz="2400" b="1" dirty="0"/>
              <a:t> </a:t>
            </a:r>
            <a:r>
              <a:rPr lang="mr-IN" sz="2400" b="1" dirty="0"/>
              <a:t>s3, </a:t>
            </a:r>
            <a:r>
              <a:rPr lang="mr-IN" sz="2400" b="1" dirty="0" err="1"/>
              <a:t>g</a:t>
            </a:r>
            <a:r>
              <a:rPr lang="mr-IN" sz="2400" b="1" dirty="0"/>
              <a:t>(</a:t>
            </a:r>
            <a:r>
              <a:rPr lang="mr-IN" sz="2400" b="1" dirty="0" err="1"/>
              <a:t>n</a:t>
            </a:r>
            <a:r>
              <a:rPr lang="mr-IN" sz="2400" b="1" dirty="0"/>
              <a:t>), </a:t>
            </a:r>
            <a:r>
              <a:rPr lang="mr-IN" sz="2400" b="1" dirty="0" err="1"/>
              <a:t>n</a:t>
            </a:r>
            <a:r>
              <a:rPr lang="mr-IN" sz="2400" b="1" baseline="-25000" dirty="0" err="1"/>
              <a:t>parent</a:t>
            </a:r>
            <a:r>
              <a:rPr lang="en-US" sz="2400" b="1" baseline="-25000" dirty="0"/>
              <a:t> </a:t>
            </a:r>
            <a:r>
              <a:rPr lang="mr-IN" sz="2400" b="1" dirty="0"/>
              <a:t>⟩ </a:t>
            </a:r>
          </a:p>
          <a:p>
            <a:endParaRPr lang="en-US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218583" y="2592550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18583" y="2969915"/>
            <a:ext cx="1954307" cy="40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n2 = &lt; s2, 2, n1 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18583" y="3378496"/>
            <a:ext cx="240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n3 = &lt; s3, 2, n1 &gt;</a:t>
            </a:r>
            <a:endParaRPr lang="en-US" sz="2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222888" y="4135415"/>
            <a:ext cx="1972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n5 = &lt; s5, 4, n2 &gt;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694" y="1813981"/>
            <a:ext cx="48274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Ordered Sequence of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States expanded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2905" y="5842354"/>
            <a:ext cx="381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solution is not optimal</a:t>
            </a:r>
            <a:endParaRPr lang="en-US" sz="2400" dirty="0"/>
          </a:p>
        </p:txBody>
      </p:sp>
      <p:sp>
        <p:nvSpPr>
          <p:cNvPr id="42" name="TextBox 41"/>
          <p:cNvSpPr txBox="1"/>
          <p:nvPr/>
        </p:nvSpPr>
        <p:spPr>
          <a:xfrm>
            <a:off x="219368" y="6125648"/>
            <a:ext cx="8148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BFS will be optimal if the costs are uniform, e.g. all costs are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09441" y="3778606"/>
            <a:ext cx="1972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n4 = &lt; s4, 1, n1 &gt;</a:t>
            </a:r>
          </a:p>
        </p:txBody>
      </p:sp>
    </p:spTree>
    <p:extLst>
      <p:ext uri="{BB962C8B-B14F-4D97-AF65-F5344CB8AC3E}">
        <p14:creationId xmlns:p14="http://schemas.microsoft.com/office/powerpoint/2010/main" val="1366452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28" grpId="0"/>
      <p:bldP spid="29" grpId="0"/>
      <p:bldP spid="30" grpId="0"/>
      <p:bldP spid="34" grpId="0"/>
      <p:bldP spid="39" grpId="0"/>
      <p:bldP spid="42" grpId="0"/>
      <p:bldP spid="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119" y="244562"/>
            <a:ext cx="3546881" cy="46860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6517" y="609599"/>
            <a:ext cx="17032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/>
              <a:t>2.</a:t>
            </a:r>
            <a:r>
              <a:rPr lang="zh-CN" altLang="en-US" sz="4400" b="1" dirty="0"/>
              <a:t> </a:t>
            </a:r>
            <a:r>
              <a:rPr lang="en-US" altLang="zh-CN" sz="4400" b="1" dirty="0"/>
              <a:t>DFS</a:t>
            </a:r>
            <a:endParaRPr lang="en-US" sz="4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99247" y="2008094"/>
            <a:ext cx="693868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Any one of 3 possible solutions:</a:t>
            </a:r>
          </a:p>
          <a:p>
            <a:endParaRPr lang="en-US" sz="2800" dirty="0"/>
          </a:p>
          <a:p>
            <a:r>
              <a:rPr lang="en-US" sz="2800" dirty="0"/>
              <a:t>s1 -&gt; s2 -&gt; s5 -&gt; s7          cost = 2 + 2 + 3  = 7</a:t>
            </a:r>
          </a:p>
          <a:p>
            <a:endParaRPr lang="en-US" sz="2800" dirty="0"/>
          </a:p>
          <a:p>
            <a:r>
              <a:rPr lang="en-US" sz="2800" dirty="0"/>
              <a:t>s1 -&gt; s3 -&gt; s7                   cost = 2 + 10 = 12</a:t>
            </a:r>
          </a:p>
          <a:p>
            <a:endParaRPr lang="en-US" sz="2800" dirty="0"/>
          </a:p>
          <a:p>
            <a:r>
              <a:rPr lang="en-US" sz="2800" dirty="0"/>
              <a:t>s1 -&gt; s4 -&gt; s6 -&gt; s7          cost = 1 + 1 + 4 =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247" y="5514858"/>
            <a:ext cx="6347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DFS can not guarantee optimality </a:t>
            </a:r>
          </a:p>
        </p:txBody>
      </p:sp>
    </p:spTree>
    <p:extLst>
      <p:ext uri="{BB962C8B-B14F-4D97-AF65-F5344CB8AC3E}">
        <p14:creationId xmlns:p14="http://schemas.microsoft.com/office/powerpoint/2010/main" val="1367645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50" y="1850882"/>
            <a:ext cx="3017618" cy="3986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6516" y="609599"/>
            <a:ext cx="55222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/>
              <a:t>3.</a:t>
            </a:r>
            <a:r>
              <a:rPr lang="zh-CN" altLang="en-US" sz="4400" b="1" dirty="0"/>
              <a:t> </a:t>
            </a:r>
            <a:r>
              <a:rPr lang="en-US" altLang="zh-CN" sz="4400" b="1" dirty="0"/>
              <a:t>Iterative Deepening </a:t>
            </a:r>
            <a:endParaRPr lang="en-US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372097" y="1850882"/>
            <a:ext cx="3070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depth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bound=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0</a:t>
            </a: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570770"/>
              </p:ext>
            </p:extLst>
          </p:nvPr>
        </p:nvGraphicFramePr>
        <p:xfrm>
          <a:off x="4987518" y="3161652"/>
          <a:ext cx="4858871" cy="17725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3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4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841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altLang="zh-CN" b="1" baseline="30000" dirty="0">
                          <a:solidFill>
                            <a:srgbClr val="0070C0"/>
                          </a:solidFill>
                        </a:rPr>
                        <a:t>st</a:t>
                      </a:r>
                      <a:r>
                        <a:rPr lang="en-US" altLang="zh-CN" b="1" dirty="0">
                          <a:solidFill>
                            <a:srgbClr val="0070C0"/>
                          </a:solidFill>
                        </a:rPr>
                        <a:t> stage</a:t>
                      </a:r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  <a:r>
                        <a:rPr lang="en-US" b="1" baseline="30000" dirty="0">
                          <a:solidFill>
                            <a:srgbClr val="0070C0"/>
                          </a:solidFill>
                        </a:rPr>
                        <a:t>nd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841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70C0"/>
                          </a:solidFill>
                        </a:rPr>
                        <a:t>Open</a:t>
                      </a:r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84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60139" y="3751446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91" y="2190424"/>
            <a:ext cx="123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Depth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1" y="3131720"/>
            <a:ext cx="123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Depth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144178"/>
            <a:ext cx="123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 =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" y="5156636"/>
            <a:ext cx="123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5189" y="4346702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5189" y="4346701"/>
            <a:ext cx="1981200" cy="587474"/>
          </a:xfrm>
          <a:prstGeom prst="rect">
            <a:avLst/>
          </a:prstGeom>
          <a:solidFill>
            <a:schemeClr val="accent1">
              <a:alpha val="6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286101" y="5453383"/>
            <a:ext cx="2382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Ordered Sequence of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States expanded</a:t>
            </a:r>
          </a:p>
        </p:txBody>
      </p:sp>
    </p:spTree>
    <p:extLst>
      <p:ext uri="{BB962C8B-B14F-4D97-AF65-F5344CB8AC3E}">
        <p14:creationId xmlns:p14="http://schemas.microsoft.com/office/powerpoint/2010/main" val="135164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/>
      <p:bldP spid="14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23" y="1850882"/>
            <a:ext cx="3017618" cy="3986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6516" y="609599"/>
            <a:ext cx="55222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/>
              <a:t>3.</a:t>
            </a:r>
            <a:r>
              <a:rPr lang="zh-CN" altLang="en-US" sz="4400" b="1" dirty="0"/>
              <a:t> </a:t>
            </a:r>
            <a:r>
              <a:rPr lang="en-US" altLang="zh-CN" sz="4400" b="1" dirty="0"/>
              <a:t>Iterative Deepening </a:t>
            </a:r>
            <a:endParaRPr lang="en-US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372097" y="1850882"/>
            <a:ext cx="3070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depth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bound=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1</a:t>
            </a: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278382"/>
              </p:ext>
            </p:extLst>
          </p:nvPr>
        </p:nvGraphicFramePr>
        <p:xfrm>
          <a:off x="4772368" y="2731348"/>
          <a:ext cx="6792106" cy="3597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3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841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1</a:t>
                      </a:r>
                      <a:r>
                        <a:rPr lang="en-US" altLang="zh-CN" b="1" baseline="30000" dirty="0">
                          <a:solidFill>
                            <a:srgbClr val="0070C0"/>
                          </a:solidFill>
                        </a:rPr>
                        <a:t>st</a:t>
                      </a:r>
                      <a:r>
                        <a:rPr lang="en-US" altLang="zh-CN" b="1" dirty="0">
                          <a:solidFill>
                            <a:srgbClr val="0070C0"/>
                          </a:solidFill>
                        </a:rPr>
                        <a:t> stage</a:t>
                      </a:r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2</a:t>
                      </a:r>
                      <a:r>
                        <a:rPr lang="en-US" b="1" baseline="30000" dirty="0">
                          <a:solidFill>
                            <a:srgbClr val="0070C0"/>
                          </a:solidFill>
                        </a:rPr>
                        <a:t>nd</a:t>
                      </a:r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70C0"/>
                          </a:solidFill>
                        </a:rPr>
                        <a:t>3</a:t>
                      </a:r>
                      <a:r>
                        <a:rPr lang="en-US" altLang="zh-CN" b="1" baseline="30000" dirty="0">
                          <a:solidFill>
                            <a:srgbClr val="0070C0"/>
                          </a:solidFill>
                        </a:rPr>
                        <a:t>rd</a:t>
                      </a:r>
                      <a:r>
                        <a:rPr lang="en-US" altLang="zh-CN" b="1" baseline="0" dirty="0">
                          <a:solidFill>
                            <a:srgbClr val="0070C0"/>
                          </a:solidFill>
                        </a:rPr>
                        <a:t> stage</a:t>
                      </a:r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946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70C0"/>
                          </a:solidFill>
                        </a:rPr>
                        <a:t>Open</a:t>
                      </a:r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743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8839" y="3298375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691" y="2190424"/>
            <a:ext cx="123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Depth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1" y="3131720"/>
            <a:ext cx="123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Depth =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144178"/>
            <a:ext cx="123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 =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" y="5156636"/>
            <a:ext cx="123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 =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9358" y="4695554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786" y="4052255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altLang="zh-CN" sz="2000" b="1" dirty="0"/>
              <a:t>4</a:t>
            </a:r>
            <a:r>
              <a:rPr lang="en-US" sz="2000" b="1" dirty="0"/>
              <a:t> = &lt; s</a:t>
            </a:r>
            <a:r>
              <a:rPr lang="en-US" altLang="zh-CN" sz="2000" b="1" dirty="0"/>
              <a:t>4</a:t>
            </a:r>
            <a:r>
              <a:rPr lang="en-US" sz="2000" b="1" dirty="0"/>
              <a:t>, 0, n1 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9358" y="3320014"/>
            <a:ext cx="1954307" cy="40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n2 = &lt; s2, 2, n1 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786" y="3698485"/>
            <a:ext cx="240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n3 = &lt; s3, 2, n1 &gt;</a:t>
            </a:r>
            <a:endParaRPr lang="en-US" sz="20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9620647" y="4695554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647" y="5805198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altLang="zh-CN" sz="2000" b="1" dirty="0"/>
              <a:t>4</a:t>
            </a:r>
            <a:r>
              <a:rPr lang="en-US" sz="2000" b="1" dirty="0"/>
              <a:t> = &lt; s</a:t>
            </a:r>
            <a:r>
              <a:rPr lang="en-US" altLang="zh-CN" sz="2000" b="1" dirty="0"/>
              <a:t>4</a:t>
            </a:r>
            <a:r>
              <a:rPr lang="en-US" sz="2000" b="1" dirty="0"/>
              <a:t>, 0, n1 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34093" y="5049193"/>
            <a:ext cx="1954307" cy="40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n2 = &lt; s2, 2, n1 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4093" y="5425841"/>
            <a:ext cx="240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n3 = &lt; s3, 2, n1 &gt;</a:t>
            </a:r>
            <a:endParaRPr lang="en-US" sz="2000" b="1" dirty="0"/>
          </a:p>
        </p:txBody>
      </p:sp>
      <p:sp>
        <p:nvSpPr>
          <p:cNvPr id="20" name="Rectangle 19"/>
          <p:cNvSpPr/>
          <p:nvPr/>
        </p:nvSpPr>
        <p:spPr>
          <a:xfrm>
            <a:off x="9620646" y="4670552"/>
            <a:ext cx="1943828" cy="1658532"/>
          </a:xfrm>
          <a:prstGeom prst="rect">
            <a:avLst/>
          </a:prstGeom>
          <a:solidFill>
            <a:schemeClr val="accent1">
              <a:alpha val="6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9992685" y="6230722"/>
            <a:ext cx="2382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Ordered Sequence of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States expanded</a:t>
            </a:r>
          </a:p>
        </p:txBody>
      </p:sp>
    </p:spTree>
    <p:extLst>
      <p:ext uri="{BB962C8B-B14F-4D97-AF65-F5344CB8AC3E}">
        <p14:creationId xmlns:p14="http://schemas.microsoft.com/office/powerpoint/2010/main" val="1627672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6516" y="609599"/>
            <a:ext cx="55222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/>
              <a:t>3.</a:t>
            </a:r>
            <a:r>
              <a:rPr lang="zh-CN" altLang="en-US" sz="4400" b="1" dirty="0"/>
              <a:t> </a:t>
            </a:r>
            <a:r>
              <a:rPr lang="en-US" altLang="zh-CN" sz="4400" b="1" dirty="0"/>
              <a:t>Iterative Deepening </a:t>
            </a:r>
            <a:endParaRPr lang="en-US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060147" y="533084"/>
            <a:ext cx="3070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depth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bound=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2</a:t>
            </a:r>
            <a:endParaRPr lang="en-US" sz="280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73" y="1552395"/>
            <a:ext cx="4912657" cy="4722898"/>
          </a:xfrm>
          <a:prstGeom prst="rect">
            <a:avLst/>
          </a:prstGeom>
        </p:spPr>
      </p:pic>
      <p:sp>
        <p:nvSpPr>
          <p:cNvPr id="21" name="5-Point Star 20"/>
          <p:cNvSpPr/>
          <p:nvPr/>
        </p:nvSpPr>
        <p:spPr>
          <a:xfrm>
            <a:off x="2868715" y="1954305"/>
            <a:ext cx="466164" cy="484094"/>
          </a:xfrm>
          <a:prstGeom prst="star5">
            <a:avLst>
              <a:gd name="adj" fmla="val 22448"/>
              <a:gd name="hf" fmla="val 105146"/>
              <a:gd name="vf" fmla="val 110557"/>
            </a:avLst>
          </a:prstGeom>
          <a:solidFill>
            <a:schemeClr val="accent4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5-Point Star 21"/>
          <p:cNvSpPr/>
          <p:nvPr/>
        </p:nvSpPr>
        <p:spPr>
          <a:xfrm>
            <a:off x="1748136" y="3110751"/>
            <a:ext cx="466164" cy="484094"/>
          </a:xfrm>
          <a:prstGeom prst="star5">
            <a:avLst>
              <a:gd name="adj" fmla="val 22448"/>
              <a:gd name="hf" fmla="val 105146"/>
              <a:gd name="vf" fmla="val 110557"/>
            </a:avLst>
          </a:prstGeom>
          <a:solidFill>
            <a:schemeClr val="accent4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5-Point Star 24"/>
          <p:cNvSpPr/>
          <p:nvPr/>
        </p:nvSpPr>
        <p:spPr>
          <a:xfrm>
            <a:off x="2904572" y="3110751"/>
            <a:ext cx="466164" cy="484094"/>
          </a:xfrm>
          <a:prstGeom prst="star5">
            <a:avLst>
              <a:gd name="adj" fmla="val 22448"/>
              <a:gd name="hf" fmla="val 105146"/>
              <a:gd name="vf" fmla="val 110557"/>
            </a:avLst>
          </a:prstGeom>
          <a:solidFill>
            <a:schemeClr val="accent4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5-Point Star 25"/>
          <p:cNvSpPr/>
          <p:nvPr/>
        </p:nvSpPr>
        <p:spPr>
          <a:xfrm>
            <a:off x="4061008" y="3110751"/>
            <a:ext cx="466164" cy="484094"/>
          </a:xfrm>
          <a:prstGeom prst="star5">
            <a:avLst>
              <a:gd name="adj" fmla="val 22448"/>
              <a:gd name="hf" fmla="val 105146"/>
              <a:gd name="vf" fmla="val 110557"/>
            </a:avLst>
          </a:prstGeom>
          <a:solidFill>
            <a:schemeClr val="accent4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5-Point Star 26"/>
          <p:cNvSpPr/>
          <p:nvPr/>
        </p:nvSpPr>
        <p:spPr>
          <a:xfrm>
            <a:off x="2133612" y="4213399"/>
            <a:ext cx="537869" cy="551391"/>
          </a:xfrm>
          <a:prstGeom prst="star5">
            <a:avLst>
              <a:gd name="adj" fmla="val 22448"/>
              <a:gd name="hf" fmla="val 105146"/>
              <a:gd name="vf" fmla="val 110557"/>
            </a:avLst>
          </a:prstGeom>
          <a:solidFill>
            <a:schemeClr val="accent4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5-Point Star 27"/>
          <p:cNvSpPr/>
          <p:nvPr/>
        </p:nvSpPr>
        <p:spPr>
          <a:xfrm>
            <a:off x="2877686" y="5351918"/>
            <a:ext cx="466164" cy="484094"/>
          </a:xfrm>
          <a:prstGeom prst="star5">
            <a:avLst>
              <a:gd name="adj" fmla="val 22448"/>
              <a:gd name="hf" fmla="val 105146"/>
              <a:gd name="vf" fmla="val 110557"/>
            </a:avLst>
          </a:prstGeom>
          <a:solidFill>
            <a:schemeClr val="accent4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813548"/>
              </p:ext>
            </p:extLst>
          </p:nvPr>
        </p:nvGraphicFramePr>
        <p:xfrm>
          <a:off x="6167710" y="1183351"/>
          <a:ext cx="5448311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3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2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68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03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88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292175" y="1742462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3375" y="2450678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altLang="zh-CN" sz="2000" b="1" dirty="0"/>
              <a:t>4</a:t>
            </a:r>
            <a:r>
              <a:rPr lang="en-US" sz="2000" b="1" dirty="0"/>
              <a:t> = &lt; s</a:t>
            </a:r>
            <a:r>
              <a:rPr lang="en-US" altLang="zh-CN" sz="2000" b="1" dirty="0"/>
              <a:t>4</a:t>
            </a:r>
            <a:r>
              <a:rPr lang="en-US" sz="2000" b="1" dirty="0"/>
              <a:t>, 0, n1 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3375" y="1727294"/>
            <a:ext cx="1954307" cy="40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n2 = &lt; s2, 2, n1 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3375" y="2070200"/>
            <a:ext cx="240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n3 = &lt; s3, 2, n1 &gt;</a:t>
            </a:r>
            <a:endParaRPr lang="en-US" sz="2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9273375" y="2829366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656044"/>
              </p:ext>
            </p:extLst>
          </p:nvPr>
        </p:nvGraphicFramePr>
        <p:xfrm>
          <a:off x="4966455" y="3827288"/>
          <a:ext cx="6849027" cy="29679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2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5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68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r>
                        <a:rPr lang="en-US" baseline="30000" dirty="0"/>
                        <a:t>th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03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224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771057" y="5783282"/>
            <a:ext cx="1954307" cy="40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n2 = &lt; s2, 2, n1 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1057" y="5439791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50882" y="4640131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altLang="zh-CN" sz="2000" b="1" dirty="0"/>
              <a:t>4</a:t>
            </a:r>
            <a:r>
              <a:rPr lang="en-US" sz="2000" b="1" dirty="0"/>
              <a:t> = &lt; s</a:t>
            </a:r>
            <a:r>
              <a:rPr lang="en-US" altLang="zh-CN" sz="2000" b="1" dirty="0"/>
              <a:t>4</a:t>
            </a:r>
            <a:r>
              <a:rPr lang="en-US" sz="2000" b="1" dirty="0"/>
              <a:t>, 0, n1 &gt;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1057" y="4315313"/>
            <a:ext cx="240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n3 = &lt; s3, 2, n1 &gt;</a:t>
            </a:r>
            <a:endParaRPr lang="en-US" sz="2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5750882" y="5035523"/>
            <a:ext cx="1972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n5 = &lt; s5, 4, n2 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44219" y="5738330"/>
            <a:ext cx="1954307" cy="40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n2 = &lt; s2, 2, n1 &gt;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50365" y="5397785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08000" y="4328872"/>
            <a:ext cx="240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n3 = &lt; s3, 2, n1 &gt;</a:t>
            </a:r>
            <a:endParaRPr lang="en-US" sz="2000" b="1" dirty="0"/>
          </a:p>
        </p:txBody>
      </p:sp>
      <p:sp>
        <p:nvSpPr>
          <p:cNvPr id="47" name="TextBox 46"/>
          <p:cNvSpPr txBox="1"/>
          <p:nvPr/>
        </p:nvSpPr>
        <p:spPr>
          <a:xfrm>
            <a:off x="7721631" y="4699199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altLang="zh-CN" sz="2000" b="1" dirty="0"/>
              <a:t>4</a:t>
            </a:r>
            <a:r>
              <a:rPr lang="en-US" sz="2000" b="1" dirty="0"/>
              <a:t> = &lt; s</a:t>
            </a:r>
            <a:r>
              <a:rPr lang="en-US" altLang="zh-CN" sz="2000" b="1" dirty="0"/>
              <a:t>4</a:t>
            </a:r>
            <a:r>
              <a:rPr lang="en-US" sz="2000" b="1" dirty="0"/>
              <a:t>, 0, n1 &gt;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37933" y="6092466"/>
            <a:ext cx="1972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n5 = &lt; s5, 4, n2 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97347" y="4364680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altLang="zh-CN" sz="2000" b="1" dirty="0"/>
              <a:t>4</a:t>
            </a:r>
            <a:r>
              <a:rPr lang="en-US" sz="2000" b="1" dirty="0"/>
              <a:t> = &lt; s</a:t>
            </a:r>
            <a:r>
              <a:rPr lang="en-US" altLang="zh-CN" sz="2000" b="1" dirty="0"/>
              <a:t>4</a:t>
            </a:r>
            <a:r>
              <a:rPr lang="en-US" sz="2000" b="1" dirty="0"/>
              <a:t>, 0, n1 &gt;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97347" y="5719402"/>
            <a:ext cx="1954307" cy="40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n2 = &lt; s2, 2, n1 &gt;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03493" y="5378857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91061" y="6073538"/>
            <a:ext cx="1972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n5 = &lt; s5, 4, n2 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9101" y="6380277"/>
            <a:ext cx="240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n3 = &lt; s3, 2, n1 &gt;</a:t>
            </a:r>
            <a:endParaRPr lang="en-US" sz="20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9803493" y="4693916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n6 = &lt; s7, 0, n3 &gt;</a:t>
            </a:r>
          </a:p>
        </p:txBody>
      </p:sp>
    </p:spTree>
    <p:extLst>
      <p:ext uri="{BB962C8B-B14F-4D97-AF65-F5344CB8AC3E}">
        <p14:creationId xmlns:p14="http://schemas.microsoft.com/office/powerpoint/2010/main" val="497030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26" grpId="0" animBg="1"/>
      <p:bldP spid="27" grpId="0" animBg="1"/>
      <p:bldP spid="28" grpId="0" animBg="1"/>
      <p:bldP spid="31" grpId="0"/>
      <p:bldP spid="32" grpId="0"/>
      <p:bldP spid="33" grpId="0"/>
      <p:bldP spid="34" grpId="0"/>
      <p:bldP spid="38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0" grpId="0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631159"/>
              </p:ext>
            </p:extLst>
          </p:nvPr>
        </p:nvGraphicFramePr>
        <p:xfrm>
          <a:off x="233079" y="448247"/>
          <a:ext cx="5448311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3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2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68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nd</a:t>
                      </a:r>
                      <a:r>
                        <a:rPr lang="en-US" dirty="0"/>
                        <a:t>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03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88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357544" y="1007358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8744" y="1715574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altLang="zh-CN" sz="2000" b="1" dirty="0"/>
              <a:t>4</a:t>
            </a:r>
            <a:r>
              <a:rPr lang="en-US" sz="2000" b="1" dirty="0"/>
              <a:t> = &lt; s</a:t>
            </a:r>
            <a:r>
              <a:rPr lang="en-US" altLang="zh-CN" sz="2000" b="1" dirty="0"/>
              <a:t>4</a:t>
            </a:r>
            <a:r>
              <a:rPr lang="en-US" sz="2000" b="1" dirty="0"/>
              <a:t>, 0, n1 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8744" y="992190"/>
            <a:ext cx="1954307" cy="40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n2 = &lt; s2, 2, n1 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8744" y="1335096"/>
            <a:ext cx="240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n3 = &lt; s3, 2, n1 &gt;</a:t>
            </a:r>
            <a:endParaRPr 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338744" y="2094262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171891"/>
              </p:ext>
            </p:extLst>
          </p:nvPr>
        </p:nvGraphicFramePr>
        <p:xfrm>
          <a:off x="210080" y="3121990"/>
          <a:ext cx="8037449" cy="3476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59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8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1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68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r>
                        <a:rPr lang="en-US" baseline="30000" dirty="0"/>
                        <a:t>rd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r>
                        <a:rPr lang="en-US" baseline="30000" dirty="0"/>
                        <a:t>th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stage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03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031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30888" y="5062816"/>
            <a:ext cx="1954307" cy="40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n2 = &lt; s2, 2, n1 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888" y="4719325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713" y="3919665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altLang="zh-CN" sz="2000" b="1" dirty="0"/>
              <a:t>4</a:t>
            </a:r>
            <a:r>
              <a:rPr lang="en-US" sz="2000" b="1" dirty="0"/>
              <a:t> = &lt; s</a:t>
            </a:r>
            <a:r>
              <a:rPr lang="en-US" altLang="zh-CN" sz="2000" b="1" dirty="0"/>
              <a:t>4</a:t>
            </a:r>
            <a:r>
              <a:rPr lang="en-US" sz="2000" b="1" dirty="0"/>
              <a:t>, 0, n1 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888" y="3594847"/>
            <a:ext cx="240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n3 = &lt; s3, 2, n1 &gt;</a:t>
            </a:r>
            <a:endParaRPr lang="en-US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10713" y="4315057"/>
            <a:ext cx="1972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n5 = &lt; s5, 4, n2 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4050" y="5017864"/>
            <a:ext cx="1954307" cy="40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n2 = &lt; s2, 2, n1 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0196" y="4677319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831" y="3608406"/>
            <a:ext cx="240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n3 = &lt; s3, 2, n1 &gt;</a:t>
            </a:r>
            <a:endParaRPr lang="en-US" sz="20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181462" y="3978733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altLang="zh-CN" sz="2000" b="1" dirty="0"/>
              <a:t>4</a:t>
            </a:r>
            <a:r>
              <a:rPr lang="en-US" sz="2000" b="1" dirty="0"/>
              <a:t> = &lt; s</a:t>
            </a:r>
            <a:r>
              <a:rPr lang="en-US" altLang="zh-CN" sz="2000" b="1" dirty="0"/>
              <a:t>4</a:t>
            </a:r>
            <a:r>
              <a:rPr lang="en-US" sz="2000" b="1" dirty="0"/>
              <a:t>, 0, n1 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7764" y="5372000"/>
            <a:ext cx="1972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n5 = &lt; s5, 4, n2 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7178" y="3644214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altLang="zh-CN" sz="2000" b="1" dirty="0"/>
              <a:t>4</a:t>
            </a:r>
            <a:r>
              <a:rPr lang="en-US" sz="2000" b="1" dirty="0"/>
              <a:t> = &lt; s</a:t>
            </a:r>
            <a:r>
              <a:rPr lang="en-US" altLang="zh-CN" sz="2000" b="1" dirty="0"/>
              <a:t>4</a:t>
            </a:r>
            <a:r>
              <a:rPr lang="en-US" sz="2000" b="1" dirty="0"/>
              <a:t>, 0, n1 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7178" y="4998936"/>
            <a:ext cx="1954307" cy="40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n2 = &lt; s2, 2, n1 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3324" y="4658391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0892" y="5353072"/>
            <a:ext cx="1972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n5 = &lt; s5, 4, n2 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8932" y="5659811"/>
            <a:ext cx="240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n3 = &lt; s3, 2, n1 &gt;</a:t>
            </a:r>
            <a:endParaRPr lang="en-US" sz="20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4263324" y="3973450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n6 = &lt; s7, 0, n3 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475" y="3610491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</a:t>
            </a:r>
            <a:r>
              <a:rPr lang="en-US" altLang="zh-CN" sz="2000" b="1" dirty="0"/>
              <a:t>4</a:t>
            </a:r>
            <a:r>
              <a:rPr lang="en-US" sz="2000" b="1" dirty="0"/>
              <a:t> = &lt; s</a:t>
            </a:r>
            <a:r>
              <a:rPr lang="en-US" altLang="zh-CN" sz="2000" b="1" dirty="0"/>
              <a:t>4</a:t>
            </a:r>
            <a:r>
              <a:rPr lang="en-US" sz="2000" b="1" dirty="0"/>
              <a:t>, 0, n1 &gt;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4582" y="5007904"/>
            <a:ext cx="1954307" cy="402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n2 = &lt; s2, 2, n1 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728" y="4667359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n1 = &lt; s1, 0, -- 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8296" y="5362040"/>
            <a:ext cx="1972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n5 = &lt; s5, 4, n2 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6336" y="5668779"/>
            <a:ext cx="2402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n3 = &lt; s3, 2, n1 &gt;</a:t>
            </a:r>
            <a:endParaRPr lang="en-US" sz="20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6157689" y="5954382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n6 = &lt; s7, 0, n3 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8295" y="4711762"/>
            <a:ext cx="2069233" cy="1886261"/>
          </a:xfrm>
          <a:prstGeom prst="rect">
            <a:avLst/>
          </a:prstGeom>
          <a:solidFill>
            <a:schemeClr val="accent1">
              <a:alpha val="6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8247528" y="5990021"/>
            <a:ext cx="2382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Ordered Sequence of</a:t>
            </a:r>
            <a:r>
              <a:rPr lang="zh-CN" alt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States expanded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695" y="57544"/>
            <a:ext cx="3017618" cy="39867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257178" y="3973450"/>
            <a:ext cx="1900511" cy="341607"/>
          </a:xfrm>
          <a:prstGeom prst="rect">
            <a:avLst/>
          </a:prstGeom>
          <a:solidFill>
            <a:srgbClr val="FF0000">
              <a:alpha val="2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162768" y="3642320"/>
            <a:ext cx="1900511" cy="341607"/>
          </a:xfrm>
          <a:prstGeom prst="rect">
            <a:avLst/>
          </a:prstGeom>
          <a:solidFill>
            <a:srgbClr val="FF0000">
              <a:alpha val="2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1271551" y="1058927"/>
            <a:ext cx="1900511" cy="341607"/>
          </a:xfrm>
          <a:prstGeom prst="rect">
            <a:avLst/>
          </a:prstGeom>
          <a:solidFill>
            <a:srgbClr val="FF0000">
              <a:alpha val="2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6966599" y="201331"/>
            <a:ext cx="3070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depth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bound=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2</a:t>
            </a:r>
            <a:endParaRPr lang="en-US" sz="28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5994975" y="1138141"/>
            <a:ext cx="62754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solution found by ID:   </a:t>
            </a:r>
          </a:p>
          <a:p>
            <a:r>
              <a:rPr lang="en-US" sz="2400" b="1" dirty="0"/>
              <a:t>s1 -&gt; s3 -&gt; s7 </a:t>
            </a:r>
          </a:p>
        </p:txBody>
      </p:sp>
    </p:spTree>
    <p:extLst>
      <p:ext uri="{BB962C8B-B14F-4D97-AF65-F5344CB8AC3E}">
        <p14:creationId xmlns:p14="http://schemas.microsoft.com/office/powerpoint/2010/main" val="1703271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34" grpId="0" animBg="1"/>
      <p:bldP spid="35" grpId="0" animBg="1"/>
      <p:bldP spid="36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83" y="703003"/>
            <a:ext cx="3017618" cy="39867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10932" y="1097553"/>
            <a:ext cx="62754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solution found </a:t>
            </a:r>
            <a:r>
              <a:rPr lang="en-US" sz="2400" b="1"/>
              <a:t>by Iterative Deepening:   </a:t>
            </a:r>
            <a:endParaRPr lang="en-US" sz="2400" b="1" dirty="0"/>
          </a:p>
          <a:p>
            <a:r>
              <a:rPr lang="en-US" sz="2400" b="1" dirty="0"/>
              <a:t>s1 -&gt; s3 -&gt; s7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35964" y="2883231"/>
            <a:ext cx="3819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solution is not optimal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522427" y="3436236"/>
            <a:ext cx="8148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 will be optimal if the costs are uniform, e.g. all costs are 1</a:t>
            </a:r>
          </a:p>
        </p:txBody>
      </p:sp>
    </p:spTree>
    <p:extLst>
      <p:ext uri="{BB962C8B-B14F-4D97-AF65-F5344CB8AC3E}">
        <p14:creationId xmlns:p14="http://schemas.microsoft.com/office/powerpoint/2010/main" val="2115024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35EB7E-FA45-19A7-D40C-D091E9B3C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AA8A23-7418-9A8D-679D-CEDCBD540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155791"/>
              </p:ext>
            </p:extLst>
          </p:nvPr>
        </p:nvGraphicFramePr>
        <p:xfrm>
          <a:off x="643467" y="1509427"/>
          <a:ext cx="10905068" cy="383914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32725">
                  <a:extLst>
                    <a:ext uri="{9D8B030D-6E8A-4147-A177-3AD203B41FA5}">
                      <a16:colId xmlns:a16="http://schemas.microsoft.com/office/drawing/2014/main" val="2078135382"/>
                    </a:ext>
                  </a:extLst>
                </a:gridCol>
                <a:gridCol w="2877396">
                  <a:extLst>
                    <a:ext uri="{9D8B030D-6E8A-4147-A177-3AD203B41FA5}">
                      <a16:colId xmlns:a16="http://schemas.microsoft.com/office/drawing/2014/main" val="2636512597"/>
                    </a:ext>
                  </a:extLst>
                </a:gridCol>
                <a:gridCol w="2298714">
                  <a:extLst>
                    <a:ext uri="{9D8B030D-6E8A-4147-A177-3AD203B41FA5}">
                      <a16:colId xmlns:a16="http://schemas.microsoft.com/office/drawing/2014/main" val="2216061092"/>
                    </a:ext>
                  </a:extLst>
                </a:gridCol>
                <a:gridCol w="2996233">
                  <a:extLst>
                    <a:ext uri="{9D8B030D-6E8A-4147-A177-3AD203B41FA5}">
                      <a16:colId xmlns:a16="http://schemas.microsoft.com/office/drawing/2014/main" val="1897758966"/>
                    </a:ext>
                  </a:extLst>
                </a:gridCol>
              </a:tblGrid>
              <a:tr h="50593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AU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BFS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DFS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7494275"/>
                  </a:ext>
                </a:extLst>
              </a:tr>
              <a:tr h="505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Data structure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Queue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Stack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Stack / repeated DLS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41502"/>
                  </a:ext>
                </a:extLst>
              </a:tr>
              <a:tr h="505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Complete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Yes, if finite (b)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No, in general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Yes, if finite (b)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2639502"/>
                  </a:ext>
                </a:extLst>
              </a:tr>
              <a:tr h="505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Optimal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Yes, if equal step costs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Yes, if equal step costs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713473"/>
                  </a:ext>
                </a:extLst>
              </a:tr>
              <a:tr h="505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Time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(O(b^d))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(O(b^D))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(O(b^d))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930741"/>
                  </a:ext>
                </a:extLst>
              </a:tr>
              <a:tr h="5059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Space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(O(b^d))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(O(bD))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(O(bd))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142958"/>
                  </a:ext>
                </a:extLst>
              </a:tr>
              <a:tr h="8035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Main issue/advantage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cap="none" spc="0">
                          <a:solidFill>
                            <a:schemeClr val="tx1"/>
                          </a:solidFill>
                        </a:rPr>
                        <a:t>Uses lots of memory</a:t>
                      </a: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cap="none" spc="0">
                          <a:solidFill>
                            <a:schemeClr val="tx1"/>
                          </a:solidFill>
                        </a:rPr>
                        <a:t>Memory efficient</a:t>
                      </a:r>
                      <a:endParaRPr lang="en-AU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2000" b="1" cap="none" spc="0">
                          <a:solidFill>
                            <a:schemeClr val="tx1"/>
                          </a:solidFill>
                        </a:rPr>
                        <a:t>BFS guarantees + DFS memory</a:t>
                      </a:r>
                      <a:endParaRPr lang="en-AU" sz="2000" cap="none" spc="0">
                        <a:solidFill>
                          <a:schemeClr val="tx1"/>
                        </a:solidFill>
                      </a:endParaRPr>
                    </a:p>
                  </a:txBody>
                  <a:tcPr marL="0" marR="148804" marT="74402" marB="7440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218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810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8213" y="564204"/>
            <a:ext cx="4786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IW (Iterated Width)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94570" y="690504"/>
            <a:ext cx="4844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Blind </a:t>
            </a:r>
            <a:r>
              <a:rPr lang="en-US" sz="2400"/>
              <a:t>Search Algorithm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55" y="1612225"/>
            <a:ext cx="11471255" cy="233720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59" y="4409486"/>
            <a:ext cx="84582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9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669" y="2115676"/>
            <a:ext cx="98552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9303" y="642025"/>
            <a:ext cx="32879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Novelty</a:t>
            </a:r>
          </a:p>
        </p:txBody>
      </p:sp>
    </p:spTree>
    <p:extLst>
      <p:ext uri="{BB962C8B-B14F-4D97-AF65-F5344CB8AC3E}">
        <p14:creationId xmlns:p14="http://schemas.microsoft.com/office/powerpoint/2010/main" val="1906177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573" y="270174"/>
            <a:ext cx="7276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How to </a:t>
            </a:r>
            <a:r>
              <a:rPr lang="en-US" altLang="zh-CN" sz="3600" b="1"/>
              <a:t>compute novelty of a state?</a:t>
            </a:r>
            <a:endParaRPr lang="en-US" sz="36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0938" y="1206236"/>
          <a:ext cx="2898841" cy="856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3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46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6" descr="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890" y="1509890"/>
            <a:ext cx="693468" cy="69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586152" y="1918608"/>
            <a:ext cx="947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iw</a:t>
            </a:r>
            <a:r>
              <a:rPr lang="en-US" sz="2800" b="1" dirty="0"/>
              <a:t>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3857" y="1279057"/>
            <a:ext cx="1130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{A,D}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0891" y="1200134"/>
            <a:ext cx="21213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New things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3544" y="1841662"/>
            <a:ext cx="428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3698" y="3105377"/>
            <a:ext cx="947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iw</a:t>
            </a:r>
            <a:r>
              <a:rPr lang="en-US" sz="2800" b="1" dirty="0"/>
              <a:t>(2)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58157" y="2615455"/>
          <a:ext cx="4328808" cy="9798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6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77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77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47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(A,B)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(A,C)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altLang="zh-CN" dirty="0"/>
                        <a:t>A</a:t>
                      </a:r>
                      <a:r>
                        <a:rPr lang="en-US" dirty="0"/>
                        <a:t>,D)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(B,C)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(B,D)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(C,D)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092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656" y="4804328"/>
            <a:ext cx="8372344" cy="19420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03543" y="2189346"/>
            <a:ext cx="428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8137" y="3581034"/>
            <a:ext cx="681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(A,D)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8137" y="4009141"/>
            <a:ext cx="681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(A,B)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8137" y="4412811"/>
            <a:ext cx="681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(B,D)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0257" y="1152725"/>
            <a:ext cx="3483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B050"/>
                </a:solidFill>
              </a:rPr>
              <a:t>Novelty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22940" y="2825325"/>
            <a:ext cx="428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2939" y="3173009"/>
            <a:ext cx="428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90160" y="1834696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90160" y="3305336"/>
            <a:ext cx="3674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066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573" y="270174"/>
            <a:ext cx="7276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How to </a:t>
            </a:r>
            <a:r>
              <a:rPr lang="en-US" altLang="zh-CN" sz="3600" b="1"/>
              <a:t>compute novelty of a state?</a:t>
            </a:r>
            <a:endParaRPr lang="en-US" sz="36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0938" y="1206236"/>
          <a:ext cx="2898841" cy="8568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7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3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46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6" descr="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890" y="1509890"/>
            <a:ext cx="693468" cy="69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522739" y="2019550"/>
            <a:ext cx="947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iw</a:t>
            </a:r>
            <a:r>
              <a:rPr lang="en-US" sz="2400" b="1" dirty="0"/>
              <a:t>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23857" y="1279057"/>
            <a:ext cx="1130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{A,B}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6655" y="1279056"/>
            <a:ext cx="1721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New things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3698" y="3105377"/>
            <a:ext cx="947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iw</a:t>
            </a:r>
            <a:r>
              <a:rPr lang="en-US" sz="2400" b="1" dirty="0"/>
              <a:t>(2)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58157" y="2615455"/>
          <a:ext cx="4328808" cy="97984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6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7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77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77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475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(A,B)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(A,C)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</a:t>
                      </a:r>
                      <a:r>
                        <a:rPr lang="en-US" altLang="zh-CN" dirty="0"/>
                        <a:t>A</a:t>
                      </a:r>
                      <a:r>
                        <a:rPr lang="en-US" dirty="0"/>
                        <a:t>,D)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(B,C)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(B,D)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(C,D)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092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984" y="4870401"/>
            <a:ext cx="8152016" cy="18909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30999" y="1198814"/>
            <a:ext cx="348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B050"/>
                </a:solidFill>
              </a:rPr>
              <a:t>Novelty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76730" y="3136413"/>
            <a:ext cx="9528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(A,B)</a:t>
            </a:r>
          </a:p>
        </p:txBody>
      </p:sp>
      <p:pic>
        <p:nvPicPr>
          <p:cNvPr id="19" name="Picture 6" descr="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00" y="1540666"/>
            <a:ext cx="693468" cy="69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148374" y="2111883"/>
            <a:ext cx="1081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Empty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30999" y="2043698"/>
            <a:ext cx="348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B050"/>
                </a:solidFill>
              </a:rPr>
              <a:t>|F| = 4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30999" y="3043951"/>
            <a:ext cx="3483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B050"/>
                </a:solidFill>
              </a:rPr>
              <a:t>2</a:t>
            </a:r>
            <a:endParaRPr lang="en-US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78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3" grpId="0"/>
      <p:bldP spid="16" grpId="0"/>
      <p:bldP spid="8" grpId="0"/>
      <p:bldP spid="15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839" y="175099"/>
            <a:ext cx="9322675" cy="4993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80" y="5343669"/>
            <a:ext cx="11119392" cy="96840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67711" y="5343670"/>
            <a:ext cx="2159540" cy="337284"/>
          </a:xfrm>
          <a:prstGeom prst="rect">
            <a:avLst/>
          </a:prstGeom>
          <a:solidFill>
            <a:srgbClr val="FF0000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60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44749" y="822302"/>
            <a:ext cx="830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Initial state</a:t>
            </a:r>
            <a:r>
              <a:rPr lang="en-US" dirty="0"/>
              <a:t>: {</a:t>
            </a:r>
            <a:r>
              <a:rPr lang="en-US" dirty="0" err="1"/>
              <a:t>onTable</a:t>
            </a:r>
            <a:r>
              <a:rPr lang="en-US" dirty="0"/>
              <a:t>(A), </a:t>
            </a:r>
            <a:r>
              <a:rPr lang="en-US" dirty="0" err="1"/>
              <a:t>onTable</a:t>
            </a:r>
            <a:r>
              <a:rPr lang="en-US" dirty="0"/>
              <a:t>(B), </a:t>
            </a:r>
            <a:r>
              <a:rPr lang="en-US" dirty="0" err="1"/>
              <a:t>onTable</a:t>
            </a:r>
            <a:r>
              <a:rPr lang="en-US" dirty="0"/>
              <a:t>(C), clear(A), clear(B), clear(C), </a:t>
            </a:r>
            <a:r>
              <a:rPr lang="en-US" dirty="0" err="1"/>
              <a:t>ArmFree</a:t>
            </a:r>
            <a:r>
              <a:rPr lang="en-US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749" y="1203302"/>
            <a:ext cx="2334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 state</a:t>
            </a:r>
            <a:r>
              <a:rPr lang="en-US" dirty="0"/>
              <a:t>:  {on(A,B)}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46734" y="1574007"/>
          <a:ext cx="11673192" cy="972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7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97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62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68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225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08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65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65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7548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5603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6420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8638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onT</a:t>
                      </a:r>
                      <a:r>
                        <a:rPr lang="en-US" sz="1600" dirty="0"/>
                        <a:t>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onT</a:t>
                      </a:r>
                      <a:r>
                        <a:rPr lang="en-US" sz="1600" dirty="0"/>
                        <a:t>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on</a:t>
                      </a:r>
                      <a:r>
                        <a:rPr lang="en-US" altLang="zh-CN" sz="1600" dirty="0" err="1"/>
                        <a:t>T</a:t>
                      </a:r>
                      <a:r>
                        <a:rPr lang="en-US" sz="1600" dirty="0"/>
                        <a:t>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Cl(C)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H(C)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On(A,B)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On(B,A)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On(A,C)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On(C,A)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On(B,C)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On(C,B)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383"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" name="Picture 6" descr="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34" y="1974366"/>
            <a:ext cx="693468" cy="69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154" y="1974366"/>
            <a:ext cx="693468" cy="69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664" y="1974366"/>
            <a:ext cx="693468" cy="69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77" y="1991948"/>
            <a:ext cx="693468" cy="69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273" y="1968399"/>
            <a:ext cx="693468" cy="69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466" y="1968399"/>
            <a:ext cx="693468" cy="69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5368" y="1990740"/>
            <a:ext cx="693468" cy="69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7311" y="3354936"/>
            <a:ext cx="1756857" cy="2663025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24301" y="4160012"/>
            <a:ext cx="1177705" cy="10528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ysClr val="windowText" lastClr="000000"/>
                </a:solidFill>
              </a:rPr>
              <a:t>Initial state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1759221" y="3648320"/>
            <a:ext cx="1501523" cy="7759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rot="20031194">
            <a:off x="1784283" y="3729676"/>
            <a:ext cx="120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Pickup(C)</a:t>
            </a:r>
          </a:p>
        </p:txBody>
      </p:sp>
      <p:cxnSp>
        <p:nvCxnSpPr>
          <p:cNvPr id="22" name="Straight Arrow Connector 21"/>
          <p:cNvCxnSpPr>
            <a:stCxn id="18" idx="6"/>
          </p:cNvCxnSpPr>
          <p:nvPr/>
        </p:nvCxnSpPr>
        <p:spPr>
          <a:xfrm flipV="1">
            <a:off x="1802006" y="4682958"/>
            <a:ext cx="1471267" cy="34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065414" y="4365654"/>
            <a:ext cx="1206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Pickup(B)</a:t>
            </a:r>
          </a:p>
        </p:txBody>
      </p:sp>
      <p:cxnSp>
        <p:nvCxnSpPr>
          <p:cNvPr id="26" name="Straight Arrow Connector 25"/>
          <p:cNvCxnSpPr>
            <a:stCxn id="18" idx="5"/>
          </p:cNvCxnSpPr>
          <p:nvPr/>
        </p:nvCxnSpPr>
        <p:spPr>
          <a:xfrm>
            <a:off x="1629535" y="5058694"/>
            <a:ext cx="1591989" cy="8671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rot="1635875">
            <a:off x="1827231" y="5121456"/>
            <a:ext cx="1162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Pickup(A)</a:t>
            </a:r>
          </a:p>
        </p:txBody>
      </p:sp>
      <p:sp>
        <p:nvSpPr>
          <p:cNvPr id="34" name="Oval 33"/>
          <p:cNvSpPr/>
          <p:nvPr/>
        </p:nvSpPr>
        <p:spPr>
          <a:xfrm>
            <a:off x="3285494" y="3002635"/>
            <a:ext cx="1177705" cy="10528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ysClr val="windowText" lastClr="000000"/>
                </a:solidFill>
              </a:rPr>
              <a:t>H(C)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447" y="39014"/>
            <a:ext cx="2603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IW(1) process</a:t>
            </a:r>
          </a:p>
        </p:txBody>
      </p:sp>
      <p:sp>
        <p:nvSpPr>
          <p:cNvPr id="36" name="Oval 35"/>
          <p:cNvSpPr/>
          <p:nvPr/>
        </p:nvSpPr>
        <p:spPr>
          <a:xfrm>
            <a:off x="3285494" y="4253250"/>
            <a:ext cx="1177705" cy="10528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ysClr val="windowText" lastClr="000000"/>
                </a:solidFill>
              </a:rPr>
              <a:t>H(B)</a:t>
            </a:r>
          </a:p>
        </p:txBody>
      </p:sp>
      <p:sp>
        <p:nvSpPr>
          <p:cNvPr id="37" name="Oval 36"/>
          <p:cNvSpPr/>
          <p:nvPr/>
        </p:nvSpPr>
        <p:spPr>
          <a:xfrm>
            <a:off x="3221524" y="5628450"/>
            <a:ext cx="1177705" cy="10528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ysClr val="windowText" lastClr="000000"/>
                </a:solidFill>
              </a:rPr>
              <a:t>H(A)</a:t>
            </a: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0" y="13091"/>
            <a:ext cx="6591300" cy="9017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3654024" y="3587218"/>
            <a:ext cx="430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85385" y="4820352"/>
            <a:ext cx="430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77835" y="6199586"/>
            <a:ext cx="430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1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0306" y="2593449"/>
            <a:ext cx="3577237" cy="37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92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/>
      <p:bldP spid="23" grpId="0"/>
      <p:bldP spid="27" grpId="0"/>
      <p:bldP spid="34" grpId="0" animBg="1"/>
      <p:bldP spid="36" grpId="0" animBg="1"/>
      <p:bldP spid="37" grpId="0" animBg="1"/>
      <p:bldP spid="40" grpId="0"/>
      <p:bldP spid="41" grpId="0"/>
      <p:bldP spid="4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2" y="1114377"/>
            <a:ext cx="11033192" cy="10145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447" y="39014"/>
            <a:ext cx="2603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IW(1) process</a:t>
            </a:r>
          </a:p>
        </p:txBody>
      </p:sp>
      <p:pic>
        <p:nvPicPr>
          <p:cNvPr id="7" name="Picture 6" descr="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291" y="1485542"/>
            <a:ext cx="693468" cy="69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 flipV="1">
            <a:off x="3260498" y="2741833"/>
            <a:ext cx="1100956" cy="75688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19494837" flipH="1">
            <a:off x="3043082" y="2767953"/>
            <a:ext cx="1368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Stack(C,A)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359" y="3232133"/>
            <a:ext cx="142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Stack(C,B)</a:t>
            </a:r>
          </a:p>
        </p:txBody>
      </p:sp>
      <p:sp>
        <p:nvSpPr>
          <p:cNvPr id="16" name="TextBox 15"/>
          <p:cNvSpPr txBox="1"/>
          <p:nvPr/>
        </p:nvSpPr>
        <p:spPr>
          <a:xfrm rot="1972356">
            <a:off x="3094430" y="3806575"/>
            <a:ext cx="1479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Putdown(C)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270654" y="3498714"/>
            <a:ext cx="1437534" cy="191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33" y="742272"/>
            <a:ext cx="3577237" cy="370059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>
            <a:off x="3270654" y="3500719"/>
            <a:ext cx="1285420" cy="8009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4393562" y="2161810"/>
            <a:ext cx="1598676" cy="1006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On(C,A)</a:t>
            </a:r>
          </a:p>
          <a:p>
            <a:pPr algn="ctr"/>
            <a:endParaRPr lang="en-US" b="1" dirty="0">
              <a:solidFill>
                <a:sysClr val="windowText" lastClr="000000"/>
              </a:solidFill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248" y="3120274"/>
            <a:ext cx="2974033" cy="289142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589651" y="2434045"/>
            <a:ext cx="272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4" name="Oval 43"/>
          <p:cNvSpPr/>
          <p:nvPr/>
        </p:nvSpPr>
        <p:spPr>
          <a:xfrm>
            <a:off x="4702894" y="3190743"/>
            <a:ext cx="1598676" cy="1006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ysClr val="windowText" lastClr="000000"/>
              </a:solidFill>
            </a:endParaRPr>
          </a:p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On(C,B)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9326" y="3403568"/>
            <a:ext cx="272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46" name="Oval 45"/>
          <p:cNvSpPr/>
          <p:nvPr/>
        </p:nvSpPr>
        <p:spPr>
          <a:xfrm>
            <a:off x="4330001" y="4218628"/>
            <a:ext cx="1598676" cy="1006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492377" y="4547960"/>
            <a:ext cx="619108" cy="413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|F|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14402" y="4431366"/>
            <a:ext cx="1298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&gt; 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65842" y="4204985"/>
            <a:ext cx="2472779" cy="1028933"/>
          </a:xfrm>
          <a:prstGeom prst="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Prune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13091"/>
            <a:ext cx="6591300" cy="901700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4571631"/>
            <a:ext cx="11049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98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  <p:bldP spid="37" grpId="0" animBg="1"/>
      <p:bldP spid="43" grpId="0"/>
      <p:bldP spid="44" grpId="0" animBg="1"/>
      <p:bldP spid="45" grpId="0"/>
      <p:bldP spid="46" grpId="0" animBg="1"/>
      <p:bldP spid="47" grpId="0"/>
      <p:bldP spid="48" grpId="0"/>
      <p:bldP spid="4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48" y="3120274"/>
            <a:ext cx="2974033" cy="28914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33" y="980206"/>
            <a:ext cx="11033192" cy="10145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447" y="39014"/>
            <a:ext cx="2603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IW(1) process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33" y="649449"/>
            <a:ext cx="3577237" cy="3700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0" y="13091"/>
            <a:ext cx="6591300" cy="9017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3124313" y="3638145"/>
            <a:ext cx="1447690" cy="8527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rot="19700576" flipH="1">
            <a:off x="3060770" y="3779244"/>
            <a:ext cx="1368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Stack(B,A)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4174" y="4224352"/>
            <a:ext cx="142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Stack(B,C)</a:t>
            </a:r>
          </a:p>
        </p:txBody>
      </p:sp>
      <p:sp>
        <p:nvSpPr>
          <p:cNvPr id="11" name="TextBox 10"/>
          <p:cNvSpPr txBox="1"/>
          <p:nvPr/>
        </p:nvSpPr>
        <p:spPr>
          <a:xfrm rot="1972356">
            <a:off x="3016610" y="4837704"/>
            <a:ext cx="1479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Putdown(B)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134469" y="4490933"/>
            <a:ext cx="1437534" cy="191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134469" y="4492938"/>
            <a:ext cx="1433240" cy="902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630639" y="3135076"/>
            <a:ext cx="1598676" cy="1006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On(B,A)</a:t>
            </a:r>
          </a:p>
        </p:txBody>
      </p:sp>
      <p:pic>
        <p:nvPicPr>
          <p:cNvPr id="17" name="Picture 16" descr="elated ima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7232" y="1405689"/>
            <a:ext cx="693468" cy="696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5801059" y="3407311"/>
            <a:ext cx="330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4596440" y="4168327"/>
            <a:ext cx="1598676" cy="1006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On(B,C)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818" y="4376834"/>
            <a:ext cx="330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4476467" y="5235122"/>
            <a:ext cx="1598676" cy="1006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42175" y="5505236"/>
            <a:ext cx="1245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|F|&gt;1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6167" y="5228346"/>
            <a:ext cx="2472779" cy="1028933"/>
          </a:xfrm>
          <a:prstGeom prst="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Prune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0575" y="4664690"/>
            <a:ext cx="1104900" cy="18288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9688589">
            <a:off x="2912388" y="2254438"/>
            <a:ext cx="1458723" cy="128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2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6" grpId="0" animBg="1"/>
      <p:bldP spid="18" grpId="0"/>
      <p:bldP spid="19" grpId="0" animBg="1"/>
      <p:bldP spid="20" grpId="0"/>
      <p:bldP spid="21" grpId="0" animBg="1"/>
      <p:bldP spid="22" grpId="0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44" y="2729377"/>
            <a:ext cx="2974033" cy="28914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447" y="39014"/>
            <a:ext cx="2603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IW(1) process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33" y="649449"/>
            <a:ext cx="3577237" cy="370059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700" y="13091"/>
            <a:ext cx="6591300" cy="901700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 flipV="1">
            <a:off x="3413655" y="4497967"/>
            <a:ext cx="2474284" cy="622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 rot="20765624" flipH="1">
            <a:off x="4432001" y="4637177"/>
            <a:ext cx="1368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Stack(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b="1" dirty="0">
                <a:solidFill>
                  <a:srgbClr val="FF0000"/>
                </a:solidFill>
              </a:rPr>
              <a:t>,B)</a:t>
            </a:r>
          </a:p>
        </p:txBody>
      </p:sp>
      <p:sp>
        <p:nvSpPr>
          <p:cNvPr id="24" name="TextBox 23"/>
          <p:cNvSpPr txBox="1"/>
          <p:nvPr/>
        </p:nvSpPr>
        <p:spPr>
          <a:xfrm rot="237377">
            <a:off x="4546765" y="5250710"/>
            <a:ext cx="142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Stack(A,C)</a:t>
            </a:r>
          </a:p>
        </p:txBody>
      </p:sp>
      <p:sp>
        <p:nvSpPr>
          <p:cNvPr id="25" name="TextBox 24"/>
          <p:cNvSpPr txBox="1"/>
          <p:nvPr/>
        </p:nvSpPr>
        <p:spPr>
          <a:xfrm rot="1161326">
            <a:off x="3891056" y="5545957"/>
            <a:ext cx="1479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Putdown(A)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464864" y="5164138"/>
            <a:ext cx="2506615" cy="1791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3413655" y="5143174"/>
            <a:ext cx="2411354" cy="8232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887939" y="3706576"/>
            <a:ext cx="1598676" cy="10061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On(A,B)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8359" y="3978811"/>
            <a:ext cx="330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66854" y="3700049"/>
            <a:ext cx="2472779" cy="1028933"/>
          </a:xfrm>
          <a:prstGeom prst="rect">
            <a:avLst/>
          </a:prstGeom>
          <a:solidFill>
            <a:srgbClr val="92D050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Achieve Goal</a:t>
            </a: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0212" y="4796281"/>
            <a:ext cx="1104900" cy="1828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033868" y="5389964"/>
            <a:ext cx="42112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Plan found by IW: </a:t>
            </a:r>
          </a:p>
          <a:p>
            <a:r>
              <a:rPr lang="en-US" sz="2400" b="1" dirty="0">
                <a:solidFill>
                  <a:srgbClr val="00B050"/>
                </a:solidFill>
              </a:rPr>
              <a:t>pickup(A), stack(A,B)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33867" y="6258868"/>
            <a:ext cx="42112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Optimal</a:t>
            </a:r>
          </a:p>
        </p:txBody>
      </p:sp>
      <p:sp>
        <p:nvSpPr>
          <p:cNvPr id="44" name="Rectangle 43"/>
          <p:cNvSpPr/>
          <p:nvPr/>
        </p:nvSpPr>
        <p:spPr>
          <a:xfrm rot="20587311">
            <a:off x="4276172" y="4680229"/>
            <a:ext cx="1330336" cy="346505"/>
          </a:xfrm>
          <a:prstGeom prst="rect">
            <a:avLst/>
          </a:prstGeom>
          <a:solidFill>
            <a:srgbClr val="92D050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 rot="1713209">
            <a:off x="1377571" y="4366204"/>
            <a:ext cx="1122808" cy="277224"/>
          </a:xfrm>
          <a:prstGeom prst="rect">
            <a:avLst/>
          </a:prstGeom>
          <a:solidFill>
            <a:srgbClr val="92D050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33" y="1000458"/>
            <a:ext cx="8517704" cy="783237"/>
          </a:xfrm>
          <a:prstGeom prst="rect">
            <a:avLst/>
          </a:prstGeom>
        </p:spPr>
      </p:pic>
      <p:pic>
        <p:nvPicPr>
          <p:cNvPr id="51" name="Picture 50" descr="elated imag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758" y="1210121"/>
            <a:ext cx="680112" cy="682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9688589">
            <a:off x="3280687" y="1913655"/>
            <a:ext cx="1458723" cy="1288648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994995">
            <a:off x="3445061" y="3326463"/>
            <a:ext cx="1474921" cy="126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0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8" grpId="0" animBg="1"/>
      <p:bldP spid="29" grpId="0"/>
      <p:bldP spid="35" grpId="0" animBg="1"/>
      <p:bldP spid="42" grpId="0"/>
      <p:bldP spid="43" grpId="0"/>
      <p:bldP spid="44" grpId="0" animBg="1"/>
      <p:bldP spid="4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7637" y="1470345"/>
            <a:ext cx="10943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we have single goal, then the plan found by IW is </a:t>
            </a:r>
            <a:r>
              <a:rPr lang="en-US" sz="2400" b="1" dirty="0">
                <a:solidFill>
                  <a:srgbClr val="FF0000"/>
                </a:solidFill>
              </a:rPr>
              <a:t>optimal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7637" y="824014"/>
            <a:ext cx="4786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IW (</a:t>
            </a:r>
            <a:r>
              <a:rPr lang="en-US" sz="3600" b="1"/>
              <a:t>Iterated Width)</a:t>
            </a:r>
            <a:endParaRPr lang="en-US" sz="3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37" y="3714211"/>
            <a:ext cx="8666851" cy="9401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7637" y="2965812"/>
            <a:ext cx="6838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S</a:t>
            </a:r>
            <a:r>
              <a:rPr lang="en-US" sz="3600" b="1" dirty="0"/>
              <a:t>IW (Serialized</a:t>
            </a:r>
            <a:r>
              <a:rPr lang="zh-CN" altLang="en-US" sz="3600" b="1" dirty="0"/>
              <a:t> </a:t>
            </a:r>
            <a:r>
              <a:rPr lang="en-US" sz="3600" b="1" dirty="0"/>
              <a:t>Iterated Width)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7637" y="5003611"/>
            <a:ext cx="5482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SIW can not guarantee optimal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7637" y="2627258"/>
            <a:ext cx="6653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if we have more than one goal?</a:t>
            </a:r>
          </a:p>
        </p:txBody>
      </p:sp>
    </p:spTree>
    <p:extLst>
      <p:ext uri="{BB962C8B-B14F-4D97-AF65-F5344CB8AC3E}">
        <p14:creationId xmlns:p14="http://schemas.microsoft.com/office/powerpoint/2010/main" val="51948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16" y="666750"/>
            <a:ext cx="11221484" cy="7683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00450" y="2019300"/>
            <a:ext cx="476250" cy="457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450" y="2476500"/>
            <a:ext cx="476250" cy="45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450" y="2933700"/>
            <a:ext cx="476250" cy="457200"/>
          </a:xfrm>
          <a:prstGeom prst="rect">
            <a:avLst/>
          </a:prstGeom>
          <a:solidFill>
            <a:srgbClr val="FF65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7066" y="3390900"/>
            <a:ext cx="2604534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6100" y="4051300"/>
            <a:ext cx="2324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Initial situation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43850" y="2609850"/>
            <a:ext cx="476250" cy="457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43850" y="3067050"/>
            <a:ext cx="476250" cy="457200"/>
          </a:xfrm>
          <a:prstGeom prst="rect">
            <a:avLst/>
          </a:prstGeom>
          <a:solidFill>
            <a:srgbClr val="FF65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10450" y="3994150"/>
            <a:ext cx="2324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Goal situation</a:t>
            </a:r>
          </a:p>
        </p:txBody>
      </p:sp>
    </p:spTree>
    <p:extLst>
      <p:ext uri="{BB962C8B-B14F-4D97-AF65-F5344CB8AC3E}">
        <p14:creationId xmlns:p14="http://schemas.microsoft.com/office/powerpoint/2010/main" val="1559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/>
      <p:bldP spid="10" grpId="0" animBg="1"/>
      <p:bldP spid="12" grpId="0" animBg="1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45" y="0"/>
            <a:ext cx="11678798" cy="682095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5200" y="3056213"/>
            <a:ext cx="1816100" cy="1790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8100" y="5264150"/>
            <a:ext cx="1130300" cy="11303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4752" y="2267474"/>
            <a:ext cx="2953897" cy="1409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9926" y="548962"/>
            <a:ext cx="2603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IW(1) 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1456841" y="5408908"/>
            <a:ext cx="712922" cy="263472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19858275">
            <a:off x="3168649" y="5000678"/>
            <a:ext cx="712922" cy="263472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20335946">
            <a:off x="4678515" y="4289196"/>
            <a:ext cx="712922" cy="263472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rot="19251231">
            <a:off x="6180015" y="3418686"/>
            <a:ext cx="712922" cy="263472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0233230">
            <a:off x="7572281" y="2580849"/>
            <a:ext cx="712922" cy="263472"/>
          </a:xfrm>
          <a:prstGeom prst="rect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5159" y="3928000"/>
            <a:ext cx="1257300" cy="13208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8336" y="3969764"/>
            <a:ext cx="1152380" cy="90233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9262" y="3283188"/>
            <a:ext cx="1069865" cy="92584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91122" y="2339405"/>
            <a:ext cx="1266342" cy="94378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0118" y="1454328"/>
            <a:ext cx="1194193" cy="9987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88637" y="949071"/>
            <a:ext cx="1217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holding(A)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2259" y="3231292"/>
            <a:ext cx="1217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holding(A)</a:t>
            </a:r>
          </a:p>
          <a:p>
            <a:r>
              <a:rPr lang="en-US" b="1" dirty="0">
                <a:solidFill>
                  <a:srgbClr val="FF0000"/>
                </a:solidFill>
              </a:rPr>
              <a:t>Clear(C)</a:t>
            </a:r>
          </a:p>
        </p:txBody>
      </p:sp>
      <p:sp>
        <p:nvSpPr>
          <p:cNvPr id="25" name="Oval 24"/>
          <p:cNvSpPr/>
          <p:nvPr/>
        </p:nvSpPr>
        <p:spPr>
          <a:xfrm>
            <a:off x="6940088" y="1308822"/>
            <a:ext cx="1514250" cy="1404755"/>
          </a:xfrm>
          <a:prstGeom prst="ellipse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1162810" y="4004153"/>
            <a:ext cx="1514250" cy="1404755"/>
          </a:xfrm>
          <a:prstGeom prst="ellipse">
            <a:avLst/>
          </a:prstGeom>
          <a:solidFill>
            <a:schemeClr val="accent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85779" y="1352235"/>
            <a:ext cx="647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Then try IW(2), </a:t>
            </a:r>
            <a:r>
              <a:rPr lang="en-US" sz="3200" b="1">
                <a:solidFill>
                  <a:srgbClr val="00B050"/>
                </a:solidFill>
              </a:rPr>
              <a:t>we achieved our goal</a:t>
            </a:r>
            <a:endParaRPr lang="en-US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86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23" grpId="0"/>
      <p:bldP spid="24" grpId="0"/>
      <p:bldP spid="25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92221" y="2042809"/>
            <a:ext cx="51556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IW</a:t>
            </a:r>
          </a:p>
          <a:p>
            <a:endParaRPr lang="en-US" sz="3200" b="1" dirty="0">
              <a:solidFill>
                <a:srgbClr val="FF0000"/>
              </a:solidFill>
            </a:endParaRPr>
          </a:p>
          <a:p>
            <a:r>
              <a:rPr lang="en-US" sz="3200" b="1" dirty="0">
                <a:solidFill>
                  <a:srgbClr val="FF0000"/>
                </a:solidFill>
              </a:rPr>
              <a:t>BFS</a:t>
            </a:r>
          </a:p>
          <a:p>
            <a:endParaRPr lang="en-US" sz="3200" b="1" dirty="0">
              <a:solidFill>
                <a:srgbClr val="FF0000"/>
              </a:solidFill>
            </a:endParaRPr>
          </a:p>
          <a:p>
            <a:r>
              <a:rPr lang="en-US" sz="3200" b="1" dirty="0">
                <a:solidFill>
                  <a:srgbClr val="FF0000"/>
                </a:solidFill>
              </a:rPr>
              <a:t>Heuristic Search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2221" y="623049"/>
            <a:ext cx="2762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Comparison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77838" y="2042809"/>
            <a:ext cx="6459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IW is blind search algorithm, compared with heuristic search, </a:t>
            </a:r>
            <a:r>
              <a:rPr lang="en-US" sz="2000"/>
              <a:t>IW </a:t>
            </a:r>
            <a:r>
              <a:rPr lang="en-US" sz="2000">
                <a:solidFill>
                  <a:srgbClr val="FF0000"/>
                </a:solidFill>
              </a:rPr>
              <a:t>doesn’t need additional information </a:t>
            </a:r>
            <a:r>
              <a:rPr lang="en-US" sz="2000"/>
              <a:t>about problem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077838" y="4862951"/>
            <a:ext cx="57976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IW is </a:t>
            </a:r>
            <a:r>
              <a:rPr lang="en-US" sz="2000" dirty="0">
                <a:solidFill>
                  <a:srgbClr val="FF0000"/>
                </a:solidFill>
              </a:rPr>
              <a:t>quicker</a:t>
            </a:r>
            <a:r>
              <a:rPr lang="en-US" sz="2000" dirty="0"/>
              <a:t> than BFS, because we reduce the number of expansion nodes by </a:t>
            </a:r>
            <a:r>
              <a:rPr lang="en-US" sz="2000" dirty="0">
                <a:solidFill>
                  <a:srgbClr val="FF0000"/>
                </a:solidFill>
              </a:rPr>
              <a:t>pruning with the help of novelty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559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4833</TotalTime>
  <Words>1665</Words>
  <Application>Microsoft Macintosh PowerPoint</Application>
  <PresentationFormat>Widescreen</PresentationFormat>
  <Paragraphs>349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COMP90054 AI Planning for Autonomy Workshop  Week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COMP90054 AI Planning for Autonomy Workshop - 1</dc:title>
  <dc:creator>Name</dc:creator>
  <cp:lastModifiedBy>Chao Lei</cp:lastModifiedBy>
  <cp:revision>313</cp:revision>
  <dcterms:created xsi:type="dcterms:W3CDTF">2018-07-24T17:07:27Z</dcterms:created>
  <dcterms:modified xsi:type="dcterms:W3CDTF">2026-08-12T12:16:16Z</dcterms:modified>
</cp:coreProperties>
</file>