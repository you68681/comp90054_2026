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4" r:id="rId4"/>
    <p:sldId id="260" r:id="rId5"/>
    <p:sldId id="258" r:id="rId6"/>
    <p:sldId id="281" r:id="rId7"/>
    <p:sldId id="294" r:id="rId8"/>
    <p:sldId id="280" r:id="rId9"/>
    <p:sldId id="282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90"/>
    <p:restoredTop sz="79726"/>
  </p:normalViewPr>
  <p:slideViewPr>
    <p:cSldViewPr snapToGrid="0" snapToObjects="1">
      <p:cViewPr varScale="1">
        <p:scale>
          <a:sx n="100" d="100"/>
          <a:sy n="100" d="100"/>
        </p:scale>
        <p:origin x="18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B34B9-252B-B043-8AF3-FB5CB55F0F9F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6AE14-972F-D04F-B611-AA5F2C2E4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4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52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89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14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2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41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2EE1E-3C19-BC1A-CF2A-FBD4C3B3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7682C-8D4B-C8E1-17A1-AB15A63CB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6AC2B-DEC0-7925-A737-DBF200149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9727B-9819-E7EB-BAE5-4D7AAF4C95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35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91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503F9-38FC-0C4A-B872-73A4283C67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03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Absolute</a:t>
            </a:r>
            <a:r>
              <a:rPr lang="en-US" altLang="zh-CN" baseline="0" dirty="0"/>
              <a:t> value of </a:t>
            </a:r>
            <a:r>
              <a:rPr lang="en-US" altLang="zh-CN" dirty="0"/>
              <a:t>G’s power of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03F9-38FC-0C4A-B872-73A4283C67C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82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3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28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1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4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5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4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8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99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5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FC4C1-D7A6-6847-8822-6832183FA72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5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i.jpl.nasa.gov/" TargetMode="External"/><Relationship Id="rId2" Type="http://schemas.openxmlformats.org/officeDocument/2006/relationships/hyperlink" Target="https://aws.amazon.com/blogs/quantum-computing/optimization-of-robot-trajectory-planning-with-nature-inspired-and-hybrid-quantum-algorithm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irbus.com/en/innovation/digital-transformation/artificial-intelligenc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26.png"/><Relationship Id="rId4" Type="http://schemas.openxmlformats.org/officeDocument/2006/relationships/image" Target="../media/image25.tif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/>
              <a:t>COMP90054 AI Planning for Autonomy</a:t>
            </a:r>
            <a:br>
              <a:rPr lang="en-US" altLang="zh-CN" sz="4400" dirty="0"/>
            </a:br>
            <a:r>
              <a:rPr lang="en-US" altLang="zh-CN" sz="4400" dirty="0"/>
              <a:t>Workshop - 1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692448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Chao Lei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Email: clei1@student.unimelb.edu.au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altLang="zh-CN" dirty="0"/>
              <a:t>If you have any questions about the lecture or workshop, pls put them on (ED) Discussion Board.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95EC98B-C55D-817A-3D27-FEA76F12E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3911547"/>
            <a:ext cx="4978400" cy="251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9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BB9F-D5D0-D7F6-F044-60871A6D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563B1-7F07-A432-6916-FEDB13BA6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6000751"/>
            <a:ext cx="10515600" cy="506412"/>
          </a:xfrm>
        </p:spPr>
        <p:txBody>
          <a:bodyPr/>
          <a:lstStyle/>
          <a:p>
            <a:r>
              <a:rPr lang="en-US" dirty="0"/>
              <a:t>https://icaps25.icaps-conference.org/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EEC3A-36F0-05C7-BB7C-5F35CC46FBEE}"/>
              </a:ext>
            </a:extLst>
          </p:cNvPr>
          <p:cNvSpPr txBox="1"/>
          <p:nvPr/>
        </p:nvSpPr>
        <p:spPr>
          <a:xfrm>
            <a:off x="901700" y="4246425"/>
            <a:ext cx="3454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Conference:</a:t>
            </a:r>
          </a:p>
          <a:p>
            <a:r>
              <a:rPr lang="en-US" dirty="0"/>
              <a:t>ICAPS</a:t>
            </a:r>
          </a:p>
          <a:p>
            <a:r>
              <a:rPr lang="en-US" dirty="0"/>
              <a:t>AAAI</a:t>
            </a:r>
          </a:p>
          <a:p>
            <a:r>
              <a:rPr lang="en-US" dirty="0"/>
              <a:t>ICLR</a:t>
            </a:r>
          </a:p>
          <a:p>
            <a:r>
              <a:rPr lang="en-US" dirty="0"/>
              <a:t>ICML</a:t>
            </a:r>
          </a:p>
          <a:p>
            <a:r>
              <a:rPr lang="en-US" dirty="0" err="1"/>
              <a:t>Neurips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621F49-1113-35DB-FB7E-B38FC4D45A4E}"/>
              </a:ext>
            </a:extLst>
          </p:cNvPr>
          <p:cNvSpPr txBox="1"/>
          <p:nvPr/>
        </p:nvSpPr>
        <p:spPr>
          <a:xfrm>
            <a:off x="901700" y="1343438"/>
            <a:ext cx="957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5A5D6-4652-0F99-C152-A7646EBAB3DB}"/>
              </a:ext>
            </a:extLst>
          </p:cNvPr>
          <p:cNvSpPr txBox="1"/>
          <p:nvPr/>
        </p:nvSpPr>
        <p:spPr>
          <a:xfrm>
            <a:off x="901700" y="1664854"/>
            <a:ext cx="90043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t">
              <a:spcBef>
                <a:spcPts val="0"/>
              </a:spcBef>
              <a:spcAft>
                <a:spcPts val="0"/>
              </a:spcAft>
            </a:pPr>
            <a:r>
              <a:rPr lang="en-A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Amazon</a:t>
            </a:r>
          </a:p>
          <a:p>
            <a:pPr algn="l" rtl="0" fontAlgn="t">
              <a:spcBef>
                <a:spcPts val="0"/>
              </a:spcBef>
              <a:spcAft>
                <a:spcPts val="0"/>
              </a:spcAft>
            </a:pPr>
            <a:r>
              <a:rPr lang="en-AU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hlinkClick r:id="rId2"/>
              </a:rPr>
              <a:t>https://aws.amazon.com/blogs/quantum-computing/optimization-of-robot-trajectory-planning-with-nature-inspired-and-hybrid-quantum-algorithms/</a:t>
            </a:r>
            <a:endParaRPr lang="en-AU" sz="1800" b="0" i="0" dirty="0">
              <a:solidFill>
                <a:srgbClr val="212121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l" rtl="0" fontAlgn="t"/>
            <a:r>
              <a:rPr lang="en-US" dirty="0"/>
              <a:t>NASA</a:t>
            </a:r>
          </a:p>
          <a:p>
            <a:r>
              <a:rPr lang="en-US" dirty="0">
                <a:hlinkClick r:id="rId3"/>
              </a:rPr>
              <a:t>https://ai.jpl.nasa.gov/</a:t>
            </a:r>
            <a:endParaRPr lang="en-US" dirty="0"/>
          </a:p>
          <a:p>
            <a:r>
              <a:rPr lang="en-US" dirty="0"/>
              <a:t>Airbus</a:t>
            </a:r>
          </a:p>
          <a:p>
            <a:r>
              <a:rPr lang="en-US" dirty="0">
                <a:hlinkClick r:id="rId4"/>
              </a:rPr>
              <a:t>https://www.airbus.com/en/innovation/digital-transformation/artificial-intelligence</a:t>
            </a:r>
            <a:endParaRPr lang="en-US" dirty="0"/>
          </a:p>
          <a:p>
            <a:r>
              <a:rPr lang="en-AU" dirty="0"/>
              <a:t>J.P. Morgan AI Research</a:t>
            </a:r>
            <a:endParaRPr lang="en-US" dirty="0"/>
          </a:p>
          <a:p>
            <a:r>
              <a:rPr lang="en-US" dirty="0"/>
              <a:t>IBM….</a:t>
            </a:r>
          </a:p>
        </p:txBody>
      </p:sp>
    </p:spTree>
    <p:extLst>
      <p:ext uri="{BB962C8B-B14F-4D97-AF65-F5344CB8AC3E}">
        <p14:creationId xmlns:p14="http://schemas.microsoft.com/office/powerpoint/2010/main" val="328372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7462" y="1072055"/>
            <a:ext cx="1007416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Objectives of today’s workshop:</a:t>
            </a:r>
          </a:p>
          <a:p>
            <a:endParaRPr lang="en-US" dirty="0"/>
          </a:p>
          <a:p>
            <a:endParaRPr lang="en-US" sz="2800" dirty="0"/>
          </a:p>
          <a:p>
            <a:r>
              <a:rPr lang="en-US" sz="2800" dirty="0"/>
              <a:t>Question 1:  State Model</a:t>
            </a:r>
          </a:p>
          <a:p>
            <a:endParaRPr lang="en-US" sz="2800" dirty="0"/>
          </a:p>
          <a:p>
            <a:r>
              <a:rPr lang="en-US" sz="2800" dirty="0"/>
              <a:t>Question 2: </a:t>
            </a:r>
            <a:r>
              <a:rPr lang="en-AU" sz="2800" dirty="0"/>
              <a:t>Travailing Salesman Problem (TSP)</a:t>
            </a:r>
          </a:p>
          <a:p>
            <a:endParaRPr lang="en-AU" sz="2800" dirty="0"/>
          </a:p>
          <a:p>
            <a:r>
              <a:rPr lang="en-AU" sz="2800" dirty="0"/>
              <a:t>Question 3: Grid problem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4067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1942937"/>
            <a:ext cx="935874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• State space S</a:t>
            </a:r>
            <a:br>
              <a:rPr lang="en-US" sz="3200" dirty="0"/>
            </a:br>
            <a:r>
              <a:rPr lang="en-US" sz="3200" dirty="0"/>
              <a:t>• Initial state s</a:t>
            </a:r>
            <a:r>
              <a:rPr lang="en-US" sz="3200" baseline="-25000" dirty="0"/>
              <a:t>0</a:t>
            </a:r>
            <a:r>
              <a:rPr lang="en-US" sz="3200" dirty="0"/>
              <a:t> ∈ S</a:t>
            </a:r>
            <a:br>
              <a:rPr lang="en-US" sz="3200" dirty="0"/>
            </a:br>
            <a:r>
              <a:rPr lang="en-US" sz="3200" dirty="0"/>
              <a:t>• Set of goal states </a:t>
            </a:r>
            <a:r>
              <a:rPr lang="en-US" sz="3200" dirty="0" err="1"/>
              <a:t>s</a:t>
            </a:r>
            <a:r>
              <a:rPr lang="en-US" sz="3200" baseline="-25000" dirty="0" err="1"/>
              <a:t>G</a:t>
            </a:r>
            <a:r>
              <a:rPr lang="en-US" sz="3200" baseline="-25000" dirty="0"/>
              <a:t> </a:t>
            </a:r>
            <a:r>
              <a:rPr lang="en-US" sz="3200" dirty="0"/>
              <a:t>⊆ S </a:t>
            </a:r>
          </a:p>
          <a:p>
            <a:r>
              <a:rPr lang="en-US" sz="3200" dirty="0"/>
              <a:t>• Applicable actions function A(s) for each state s ∈ S </a:t>
            </a:r>
          </a:p>
          <a:p>
            <a:r>
              <a:rPr lang="en-US" sz="3200" dirty="0"/>
              <a:t>• Transition function f (s, a) for s ∈ S and a ∈ A(s)</a:t>
            </a:r>
            <a:br>
              <a:rPr lang="en-US" sz="3200" dirty="0"/>
            </a:br>
            <a:r>
              <a:rPr lang="en-US" sz="3200" dirty="0"/>
              <a:t>• Cost of each action c(a, s) for s ∈ S and a ∈ A(s) </a:t>
            </a:r>
          </a:p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804041"/>
            <a:ext cx="77224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State Model</a:t>
            </a:r>
          </a:p>
        </p:txBody>
      </p:sp>
    </p:spTree>
    <p:extLst>
      <p:ext uri="{BB962C8B-B14F-4D97-AF65-F5344CB8AC3E}">
        <p14:creationId xmlns:p14="http://schemas.microsoft.com/office/powerpoint/2010/main" val="1834430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760" y="318950"/>
            <a:ext cx="8486215" cy="622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0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B9EAC-B6CA-674F-8166-A262CA761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6CB896-4EB2-4898-835C-B1C47A44A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419100"/>
            <a:ext cx="9226062" cy="2579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8AFF89-48AC-E856-5E48-D099F068B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481" y="3149600"/>
            <a:ext cx="6337300" cy="1016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C805F3-BBE2-357F-3950-93880F2FE5FE}"/>
              </a:ext>
            </a:extLst>
          </p:cNvPr>
          <p:cNvSpPr txBox="1"/>
          <p:nvPr/>
        </p:nvSpPr>
        <p:spPr>
          <a:xfrm>
            <a:off x="736600" y="4130576"/>
            <a:ext cx="112140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dirty="0"/>
              <a:t>The </a:t>
            </a:r>
            <a:r>
              <a:rPr lang="en-AU" b="1" dirty="0"/>
              <a:t>state-space model</a:t>
            </a:r>
            <a:r>
              <a:rPr lang="en-AU" dirty="0"/>
              <a:t> describes the problem: what states exist, where the agent starts, what the goal is, what actions are available, how actions change the state, and what each action costs.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dirty="0"/>
              <a:t>The </a:t>
            </a:r>
            <a:r>
              <a:rPr lang="en-AU" b="1" dirty="0"/>
              <a:t>planner</a:t>
            </a:r>
            <a:r>
              <a:rPr lang="en-AU" dirty="0"/>
              <a:t> takes this model and searches through the state space.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AU" dirty="0"/>
              <a:t>The output is a </a:t>
            </a:r>
            <a:r>
              <a:rPr lang="en-AU" b="1" dirty="0"/>
              <a:t>plan</a:t>
            </a:r>
            <a:r>
              <a:rPr lang="en-AU" dirty="0"/>
              <a:t>, which is an action sequence that takes the initial state to a goal state.</a:t>
            </a:r>
          </a:p>
        </p:txBody>
      </p:sp>
    </p:spTree>
    <p:extLst>
      <p:ext uri="{BB962C8B-B14F-4D97-AF65-F5344CB8AC3E}">
        <p14:creationId xmlns:p14="http://schemas.microsoft.com/office/powerpoint/2010/main" val="72308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3035" y="609600"/>
            <a:ext cx="4607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Travelling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Salesman Problem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078070" y="609600"/>
            <a:ext cx="59361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Consider:</a:t>
            </a:r>
          </a:p>
          <a:p>
            <a:endParaRPr lang="en-US" altLang="zh-CN" sz="2400" dirty="0"/>
          </a:p>
          <a:p>
            <a:r>
              <a:rPr lang="en-US" sz="2400" dirty="0"/>
              <a:t>A set of cities </a:t>
            </a:r>
            <a:r>
              <a:rPr lang="en-US" sz="2400" b="1" dirty="0"/>
              <a:t>V </a:t>
            </a:r>
            <a:r>
              <a:rPr lang="en-US" sz="2400" dirty="0"/>
              <a:t>to visit in any order</a:t>
            </a:r>
          </a:p>
          <a:p>
            <a:r>
              <a:rPr lang="en-US" sz="2400" dirty="0"/>
              <a:t>A starting city location </a:t>
            </a:r>
            <a:r>
              <a:rPr lang="en-US" sz="2400" b="1" dirty="0" err="1"/>
              <a:t>v</a:t>
            </a:r>
            <a:r>
              <a:rPr lang="en-US" sz="2400" b="1" baseline="-25000" dirty="0" err="1"/>
              <a:t>start</a:t>
            </a:r>
            <a:endParaRPr lang="en-US" sz="2400" b="1" baseline="-25000" dirty="0"/>
          </a:p>
          <a:p>
            <a:r>
              <a:rPr lang="en-US" sz="2400" dirty="0"/>
              <a:t>A set of edges </a:t>
            </a:r>
            <a:r>
              <a:rPr lang="en-US" sz="2400" b="1" dirty="0"/>
              <a:t>E</a:t>
            </a:r>
            <a:r>
              <a:rPr lang="en-US" sz="2400" dirty="0"/>
              <a:t> specifying if there is an edge between two cities &lt;v, v’&gt;</a:t>
            </a:r>
          </a:p>
          <a:p>
            <a:r>
              <a:rPr lang="en-AU" sz="2400" dirty="0"/>
              <a:t>The goal for the salesman is to visit all the cities at least once and return to the starting city (where the salesman lives).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096000" y="4478141"/>
            <a:ext cx="5576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State space</a:t>
            </a:r>
          </a:p>
          <a:p>
            <a:r>
              <a:rPr lang="en-US" sz="2400" b="1" dirty="0"/>
              <a:t>{Current city, Visited cities}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25038"/>
            <a:ext cx="5365718" cy="5117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035" y="1747843"/>
            <a:ext cx="4178018" cy="343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0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3035" y="609600"/>
            <a:ext cx="4607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Travelling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Salesman Problem</a:t>
            </a:r>
            <a:endParaRPr 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078070" y="304803"/>
            <a:ext cx="5576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State space</a:t>
            </a:r>
          </a:p>
          <a:p>
            <a:r>
              <a:rPr lang="en-US" sz="2400" b="1" dirty="0"/>
              <a:t>{Current city, Visited cities}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070" y="1041541"/>
            <a:ext cx="5365718" cy="5117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8070" y="1669095"/>
            <a:ext cx="3926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Initial State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727" y="2053004"/>
            <a:ext cx="2743202" cy="4494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78070" y="2709959"/>
            <a:ext cx="4500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Applicable actions function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727" y="3169236"/>
            <a:ext cx="6133062" cy="36826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022" y="1553258"/>
            <a:ext cx="3874268" cy="31841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78069" y="4743395"/>
            <a:ext cx="3227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Transition function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7727" y="5228039"/>
            <a:ext cx="4889500" cy="3429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78069" y="3764899"/>
            <a:ext cx="3926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 of each action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7727" y="4164196"/>
            <a:ext cx="2482923" cy="3716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90788" y="5686267"/>
            <a:ext cx="1775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Goal State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289640-4CDA-5373-52AE-B5E79E1EB6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0939" y="6163172"/>
            <a:ext cx="1930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4" grpId="0"/>
      <p:bldP spid="26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96887-BEBA-965B-9DEB-2FF372CD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2D7ECC-70C9-32A3-5D01-5C00F1DE5608}"/>
              </a:ext>
            </a:extLst>
          </p:cNvPr>
          <p:cNvSpPr txBox="1"/>
          <p:nvPr/>
        </p:nvSpPr>
        <p:spPr>
          <a:xfrm>
            <a:off x="753035" y="609600"/>
            <a:ext cx="4607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Travelling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Salesman Problem</a:t>
            </a:r>
            <a:endParaRPr lang="en-US" sz="28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60DA35D-7EAA-0FEF-F19F-3160A8249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22" y="1680258"/>
            <a:ext cx="3874268" cy="31841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B763C6-E19D-0FF5-935D-2171629A35A2}"/>
              </a:ext>
            </a:extLst>
          </p:cNvPr>
          <p:cNvSpPr txBox="1"/>
          <p:nvPr/>
        </p:nvSpPr>
        <p:spPr>
          <a:xfrm>
            <a:off x="5461000" y="687661"/>
            <a:ext cx="5576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State space</a:t>
            </a:r>
          </a:p>
          <a:p>
            <a:r>
              <a:rPr lang="en-US" sz="2400" b="1" dirty="0"/>
              <a:t>{Current city, Visited cities}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645572-FF18-0B20-44AD-C798CD3BA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0" y="1424399"/>
            <a:ext cx="5365718" cy="5117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ABA4F1-C2CD-56EB-C44D-D3185504DC85}"/>
              </a:ext>
            </a:extLst>
          </p:cNvPr>
          <p:cNvSpPr txBox="1"/>
          <p:nvPr/>
        </p:nvSpPr>
        <p:spPr>
          <a:xfrm>
            <a:off x="5461000" y="21756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Q1:</a:t>
            </a:r>
            <a:r>
              <a:rPr lang="en-US" dirty="0"/>
              <a:t> </a:t>
            </a:r>
            <a:r>
              <a:rPr lang="en-AU" dirty="0"/>
              <a:t>Assuming the number of cities is 4, what is the size of the state space given the above state space model?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F78251-4079-0D45-9C8B-A254F34ABB9C}"/>
                  </a:ext>
                </a:extLst>
              </p:cNvPr>
              <p:cNvSpPr txBox="1"/>
              <p:nvPr/>
            </p:nvSpPr>
            <p:spPr>
              <a:xfrm>
                <a:off x="6078070" y="304696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en-AU" b="0" i="0">
                            <a:latin typeface="Cambria Math" panose="02040503050406030204" pitchFamily="18" charset="0"/>
                          </a:rPr>
                          <m:t>current</m:t>
                        </m:r>
                      </m:sub>
                    </m:sSub>
                  </m:oMath>
                </a14:m>
                <a:r>
                  <a:rPr lang="en-US" dirty="0"/>
                  <a:t> =4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F78251-4079-0D45-9C8B-A254F34AB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070" y="3046968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A0692E1-4A35-36C6-9F1C-77BB5ABAF9D8}"/>
              </a:ext>
            </a:extLst>
          </p:cNvPr>
          <p:cNvSpPr txBox="1"/>
          <p:nvPr/>
        </p:nvSpPr>
        <p:spPr>
          <a:xfrm>
            <a:off x="6096000" y="367725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V’ =2</a:t>
            </a:r>
            <a:r>
              <a:rPr lang="en-AU" baseline="30000" dirty="0"/>
              <a:t>4.         </a:t>
            </a:r>
            <a:r>
              <a:rPr lang="en-AU" dirty="0"/>
              <a:t>∅,{A},{B},…,{A,B},…,{A,B,C,D}.</a:t>
            </a:r>
          </a:p>
          <a:p>
            <a:endParaRPr lang="en-AU" dirty="0"/>
          </a:p>
          <a:p>
            <a:r>
              <a:rPr lang="en-AU" dirty="0"/>
              <a:t>∣S∣=4×16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809538-B4F8-7736-466E-10C5F8F274BC}"/>
              </a:ext>
            </a:extLst>
          </p:cNvPr>
          <p:cNvSpPr txBox="1"/>
          <p:nvPr/>
        </p:nvSpPr>
        <p:spPr>
          <a:xfrm>
            <a:off x="7537781" y="3095094"/>
            <a:ext cx="1081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{A,B,C,D},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43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1C70B-A34D-1534-CB77-B7CFF6EC6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CAD0E3-052F-1AC6-081F-0356AA4505F8}"/>
              </a:ext>
            </a:extLst>
          </p:cNvPr>
          <p:cNvSpPr txBox="1"/>
          <p:nvPr/>
        </p:nvSpPr>
        <p:spPr>
          <a:xfrm>
            <a:off x="753035" y="609600"/>
            <a:ext cx="4607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Travelling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Salesman Problem</a:t>
            </a:r>
            <a:endParaRPr lang="en-US" sz="28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985B763-706B-8D14-DC07-92CD8B837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22" y="1680258"/>
            <a:ext cx="3874268" cy="31841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50CE5E4-A6DF-8A0F-F77C-4FB5B0972EA5}"/>
              </a:ext>
            </a:extLst>
          </p:cNvPr>
          <p:cNvSpPr txBox="1"/>
          <p:nvPr/>
        </p:nvSpPr>
        <p:spPr>
          <a:xfrm>
            <a:off x="5461000" y="217569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Q2:</a:t>
            </a:r>
            <a:r>
              <a:rPr lang="en-US" dirty="0"/>
              <a:t> </a:t>
            </a:r>
            <a:r>
              <a:rPr lang="en-AU" dirty="0"/>
              <a:t>Assuming the number of cities is 4, how many states are considered as goal achieved?</a:t>
            </a:r>
          </a:p>
          <a:p>
            <a:endParaRPr lang="en-AU" dirty="0"/>
          </a:p>
          <a:p>
            <a:r>
              <a:rPr lang="en-AU" dirty="0"/>
              <a:t>SG​={⟨A,{A,B,C,D}⟩}.</a:t>
            </a:r>
          </a:p>
          <a:p>
            <a:endParaRPr lang="en-AU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15979-0763-D0A1-F8D2-F8FE99C0B6C9}"/>
              </a:ext>
            </a:extLst>
          </p:cNvPr>
          <p:cNvSpPr txBox="1"/>
          <p:nvPr/>
        </p:nvSpPr>
        <p:spPr>
          <a:xfrm>
            <a:off x="5461000" y="871210"/>
            <a:ext cx="1775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Goal State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431FBF-8C57-CDFA-4CBF-5981898E3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299" y="1502458"/>
            <a:ext cx="1930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4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B7CEA-22BD-94C7-AAE5-8EDCCCE0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246BB8-DDC8-9331-BB48-1DC83AA8F3CE}"/>
              </a:ext>
            </a:extLst>
          </p:cNvPr>
          <p:cNvSpPr txBox="1"/>
          <p:nvPr/>
        </p:nvSpPr>
        <p:spPr>
          <a:xfrm>
            <a:off x="753035" y="609600"/>
            <a:ext cx="4607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Travelling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Salesman Problem</a:t>
            </a:r>
            <a:endParaRPr lang="en-US" sz="28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A737BB5-EAA5-C89C-6BEC-730AEF150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22" y="1680258"/>
            <a:ext cx="3874268" cy="31841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9B39B87-8C0A-AC4C-43DD-2EC6AF372BAF}"/>
              </a:ext>
            </a:extLst>
          </p:cNvPr>
          <p:cNvSpPr txBox="1"/>
          <p:nvPr/>
        </p:nvSpPr>
        <p:spPr>
          <a:xfrm>
            <a:off x="5461000" y="217569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Q3:</a:t>
            </a:r>
            <a:r>
              <a:rPr lang="en-US" dirty="0"/>
              <a:t> </a:t>
            </a:r>
            <a:r>
              <a:rPr lang="en-AU" dirty="0"/>
              <a:t>If the salesman does not need to return to the starting city, assuming the number of cities is 4, how many states are considered as goal achieved?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F2467-7E3A-D997-FE2E-45FF51384163}"/>
              </a:ext>
            </a:extLst>
          </p:cNvPr>
          <p:cNvSpPr txBox="1"/>
          <p:nvPr/>
        </p:nvSpPr>
        <p:spPr>
          <a:xfrm>
            <a:off x="5461000" y="871210"/>
            <a:ext cx="1775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Goal State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D2846-9763-C962-D308-4F7217DB0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562" y="1576485"/>
            <a:ext cx="2336800" cy="355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31D333-8A70-2307-141B-F67302330FA1}"/>
                  </a:ext>
                </a:extLst>
              </p:cNvPr>
              <p:cNvSpPr txBox="1"/>
              <p:nvPr/>
            </p:nvSpPr>
            <p:spPr>
              <a:xfrm>
                <a:off x="5563078" y="3283692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en-AU" b="0" i="0">
                            <a:latin typeface="Cambria Math" panose="02040503050406030204" pitchFamily="18" charset="0"/>
                          </a:rPr>
                          <m:t>current</m:t>
                        </m:r>
                      </m:sub>
                    </m:sSub>
                  </m:oMath>
                </a14:m>
                <a:r>
                  <a:rPr lang="en-US" dirty="0"/>
                  <a:t> =4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31D333-8A70-2307-141B-F67302330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078" y="3283692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3942271-655B-63C4-EC3C-81B4C5D50D48}"/>
              </a:ext>
            </a:extLst>
          </p:cNvPr>
          <p:cNvSpPr txBox="1"/>
          <p:nvPr/>
        </p:nvSpPr>
        <p:spPr>
          <a:xfrm>
            <a:off x="7152640" y="32836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{A,B,C,D},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AEC8D3-EEDC-C816-1224-9AB400D1B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118" y="4046265"/>
            <a:ext cx="952500" cy="495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B2B694-C527-9D50-4FE3-8AD7615EC7F4}"/>
                  </a:ext>
                </a:extLst>
              </p:cNvPr>
              <p:cNvSpPr txBox="1"/>
              <p:nvPr/>
            </p:nvSpPr>
            <p:spPr>
              <a:xfrm>
                <a:off x="3352802" y="3860665"/>
                <a:ext cx="662432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AU" dirty="0"/>
                  <a:t>                                                        ⟨A,V⟩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AU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AU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AU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B2B694-C527-9D50-4FE3-8AD7615EC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2" y="3860665"/>
                <a:ext cx="6624320" cy="1200329"/>
              </a:xfrm>
              <a:prstGeom prst="rect">
                <a:avLst/>
              </a:prstGeom>
              <a:blipFill>
                <a:blip r:embed="rId6"/>
                <a:stretch>
                  <a:fillRect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58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539E-026D-C0E2-6887-BEA3C2B5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1FD86-32BA-80DC-8CC1-C5106007A222}"/>
              </a:ext>
            </a:extLst>
          </p:cNvPr>
          <p:cNvSpPr txBox="1"/>
          <p:nvPr/>
        </p:nvSpPr>
        <p:spPr>
          <a:xfrm>
            <a:off x="753035" y="609600"/>
            <a:ext cx="4607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Travelling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Salesman Problem</a:t>
            </a:r>
            <a:endParaRPr lang="en-US" sz="28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C59A15-87AC-DB9C-E693-78EBED273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22" y="1680258"/>
            <a:ext cx="3874268" cy="31841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2D6CAD9-0F35-2545-ED2C-CD978CB84D9E}"/>
                  </a:ext>
                </a:extLst>
              </p:cNvPr>
              <p:cNvSpPr txBox="1"/>
              <p:nvPr/>
            </p:nvSpPr>
            <p:spPr>
              <a:xfrm>
                <a:off x="5461000" y="2175696"/>
                <a:ext cx="6096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Q4:</a:t>
                </a:r>
                <a:r>
                  <a:rPr lang="en-US" dirty="0"/>
                  <a:t> </a:t>
                </a:r>
                <a:r>
                  <a:rPr lang="en-AU" dirty="0"/>
                  <a:t>Assuming the number of cities is 4 and there is an edge between every pair of cities, how many states in the state space </a:t>
                </a:r>
                <a14:m>
                  <m:oMath xmlns:m="http://schemas.openxmlformats.org/officeDocument/2006/math">
                    <m:r>
                      <a:rPr lang="en-AU" i="1"/>
                      <m:t>𝑆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are valid?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2D6CAD9-0F35-2545-ED2C-CD978CB84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175696"/>
                <a:ext cx="6096000" cy="1477328"/>
              </a:xfrm>
              <a:prstGeom prst="rect">
                <a:avLst/>
              </a:prstGeom>
              <a:blipFill>
                <a:blip r:embed="rId3"/>
                <a:stretch>
                  <a:fillRect l="-1040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9FA3C3-7136-9857-D307-B978A883755C}"/>
                  </a:ext>
                </a:extLst>
              </p:cNvPr>
              <p:cNvSpPr txBox="1"/>
              <p:nvPr/>
            </p:nvSpPr>
            <p:spPr>
              <a:xfrm>
                <a:off x="5563078" y="3283692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en-AU" b="0" i="0">
                            <a:latin typeface="Cambria Math" panose="02040503050406030204" pitchFamily="18" charset="0"/>
                          </a:rPr>
                          <m:t>current</m:t>
                        </m:r>
                      </m:sub>
                    </m:sSub>
                  </m:oMath>
                </a14:m>
                <a:r>
                  <a:rPr lang="en-US" dirty="0"/>
                  <a:t> =4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9FA3C3-7136-9857-D307-B978A8837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078" y="3283692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C8D8F53-41F0-6967-E100-6E84DCFCE319}"/>
              </a:ext>
            </a:extLst>
          </p:cNvPr>
          <p:cNvSpPr txBox="1"/>
          <p:nvPr/>
        </p:nvSpPr>
        <p:spPr>
          <a:xfrm>
            <a:off x="7152640" y="32836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{A,B,C,D},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C0F8D-CB53-EBDB-B28C-8B7A45AC245C}"/>
              </a:ext>
            </a:extLst>
          </p:cNvPr>
          <p:cNvSpPr txBox="1"/>
          <p:nvPr/>
        </p:nvSpPr>
        <p:spPr>
          <a:xfrm>
            <a:off x="5360894" y="652688"/>
            <a:ext cx="5576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State space</a:t>
            </a:r>
          </a:p>
          <a:p>
            <a:r>
              <a:rPr lang="en-US" sz="2400" b="1" dirty="0"/>
              <a:t>{Current city, Visited cities}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47F52-C997-5544-B475-976A624B7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000" y="1424399"/>
            <a:ext cx="5365718" cy="511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D880F7-66CB-477B-01CD-837C9355C732}"/>
              </a:ext>
            </a:extLst>
          </p:cNvPr>
          <p:cNvSpPr txBox="1"/>
          <p:nvPr/>
        </p:nvSpPr>
        <p:spPr>
          <a:xfrm>
            <a:off x="5476718" y="3975703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73FC63-3BD0-2890-2666-4F3387A13EAA}"/>
                  </a:ext>
                </a:extLst>
              </p:cNvPr>
              <p:cNvSpPr txBox="1"/>
              <p:nvPr/>
            </p:nvSpPr>
            <p:spPr>
              <a:xfrm>
                <a:off x="6096000" y="398241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en-AU" b="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current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=A then V’ must include A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73FC63-3BD0-2890-2666-4F3387A13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982418"/>
                <a:ext cx="6096000" cy="369332"/>
              </a:xfrm>
              <a:prstGeom prst="rect">
                <a:avLst/>
              </a:prstGeom>
              <a:blipFill>
                <a:blip r:embed="rId6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E41F077-E3C3-BBF0-F856-7569E811663E}"/>
              </a:ext>
            </a:extLst>
          </p:cNvPr>
          <p:cNvSpPr txBox="1"/>
          <p:nvPr/>
        </p:nvSpPr>
        <p:spPr>
          <a:xfrm>
            <a:off x="5476718" y="4807673"/>
            <a:ext cx="569040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there are 2</a:t>
            </a:r>
            <a:r>
              <a:rPr lang="en-US" baseline="30000" dirty="0"/>
              <a:t>3</a:t>
            </a:r>
            <a:r>
              <a:rPr lang="en-US" dirty="0"/>
              <a:t>=8</a:t>
            </a:r>
          </a:p>
          <a:p>
            <a:endParaRPr lang="en-US" dirty="0"/>
          </a:p>
          <a:p>
            <a:r>
              <a:rPr lang="en-US" dirty="0"/>
              <a:t>Then for B we have 8, for C we have 8 and for D we have 8.</a:t>
            </a:r>
          </a:p>
          <a:p>
            <a:endParaRPr lang="en-US" dirty="0"/>
          </a:p>
          <a:p>
            <a:r>
              <a:rPr lang="en-US" dirty="0"/>
              <a:t>So |S|=4*8=32&lt; </a:t>
            </a:r>
            <a:r>
              <a:rPr lang="en-AU" dirty="0"/>
              <a:t>4×16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There are in</a:t>
            </a:r>
            <a:r>
              <a:rPr lang="en-AU" dirty="0">
                <a:solidFill>
                  <a:srgbClr val="FF0000"/>
                </a:solidFill>
              </a:rPr>
              <a:t>valid</a:t>
            </a:r>
            <a:r>
              <a:rPr lang="en-US" dirty="0">
                <a:solidFill>
                  <a:srgbClr val="FF0000"/>
                </a:solidFill>
              </a:rPr>
              <a:t> states such as &lt;A, {B,C}&gt;</a:t>
            </a:r>
          </a:p>
          <a:p>
            <a:r>
              <a:rPr lang="en-US" baseline="30000" dirty="0"/>
              <a:t>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1169C4-D216-A694-8499-D810AFCBC04B}"/>
              </a:ext>
            </a:extLst>
          </p:cNvPr>
          <p:cNvSpPr txBox="1"/>
          <p:nvPr/>
        </p:nvSpPr>
        <p:spPr>
          <a:xfrm>
            <a:off x="5461000" y="4377995"/>
            <a:ext cx="662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B C D, they can be visited or not visited</a:t>
            </a:r>
          </a:p>
        </p:txBody>
      </p:sp>
    </p:spTree>
    <p:extLst>
      <p:ext uri="{BB962C8B-B14F-4D97-AF65-F5344CB8AC3E}">
        <p14:creationId xmlns:p14="http://schemas.microsoft.com/office/powerpoint/2010/main" val="2316597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6C3A-271A-EFD2-7278-5FA819CC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571C92-4B1F-53C8-2BF9-DD43FEC56E19}"/>
              </a:ext>
            </a:extLst>
          </p:cNvPr>
          <p:cNvSpPr txBox="1"/>
          <p:nvPr/>
        </p:nvSpPr>
        <p:spPr>
          <a:xfrm>
            <a:off x="753035" y="609600"/>
            <a:ext cx="4607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Travelling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Salesman Problem</a:t>
            </a:r>
            <a:endParaRPr lang="en-US" sz="28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73B405-B00D-35C4-BCC5-244C98E47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22" y="1680258"/>
            <a:ext cx="3874268" cy="31841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5366CE4-1618-CE4B-C066-506373C003FE}"/>
                  </a:ext>
                </a:extLst>
              </p:cNvPr>
              <p:cNvSpPr txBox="1"/>
              <p:nvPr/>
            </p:nvSpPr>
            <p:spPr>
              <a:xfrm>
                <a:off x="5461000" y="2175696"/>
                <a:ext cx="6096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Q5:</a:t>
                </a:r>
                <a:r>
                  <a:rPr lang="en-US" dirty="0"/>
                  <a:t> </a:t>
                </a:r>
                <a:r>
                  <a:rPr lang="en-AU" dirty="0"/>
                  <a:t>Assume there is an edge between every pair of cities, how should we update </a:t>
                </a:r>
                <a14:m>
                  <m:oMath xmlns:m="http://schemas.openxmlformats.org/officeDocument/2006/math">
                    <m:r>
                      <a:rPr lang="en-AU" i="1"/>
                      <m:t>𝑆</m:t>
                    </m:r>
                  </m:oMath>
                </a14:m>
                <a:r>
                  <a:rPr lang="en-AU" dirty="0"/>
                  <a:t>in the given state space model to only generate valid states?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5366CE4-1618-CE4B-C066-506373C00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175696"/>
                <a:ext cx="6096000" cy="1477328"/>
              </a:xfrm>
              <a:prstGeom prst="rect">
                <a:avLst/>
              </a:prstGeom>
              <a:blipFill>
                <a:blip r:embed="rId3"/>
                <a:stretch>
                  <a:fillRect l="-1040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12457D9-E79B-4FA3-1B3D-89ADC1B11D71}"/>
              </a:ext>
            </a:extLst>
          </p:cNvPr>
          <p:cNvSpPr txBox="1"/>
          <p:nvPr/>
        </p:nvSpPr>
        <p:spPr>
          <a:xfrm>
            <a:off x="5360894" y="652688"/>
            <a:ext cx="5576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State space</a:t>
            </a:r>
          </a:p>
          <a:p>
            <a:r>
              <a:rPr lang="en-US" sz="2400" b="1" dirty="0"/>
              <a:t>{Current city, Visited cities}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67E9CA-3062-4E0D-7357-80F82F6D1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000" y="1424399"/>
            <a:ext cx="5365718" cy="5117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CFA5DD-A1F9-AD6A-C234-00DB359C4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1180" y="3429000"/>
            <a:ext cx="48133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10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40871"/>
            <a:ext cx="308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Question 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73628"/>
            <a:ext cx="11231720" cy="1331686"/>
          </a:xfrm>
          <a:prstGeom prst="rect">
            <a:avLst/>
          </a:prstGeom>
        </p:spPr>
      </p:pic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1721757" y="3413880"/>
          <a:ext cx="214811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8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1721757" y="3788229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151745" y="4544790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006274" y="3413880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5225142" y="2875947"/>
            <a:ext cx="5208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Manhattan Grid</a:t>
            </a:r>
          </a:p>
        </p:txBody>
      </p:sp>
      <p:cxnSp>
        <p:nvCxnSpPr>
          <p:cNvPr id="43" name="Straight Arrow Connector 42"/>
          <p:cNvCxnSpPr>
            <a:stCxn id="38" idx="0"/>
          </p:cNvCxnSpPr>
          <p:nvPr/>
        </p:nvCxnSpPr>
        <p:spPr>
          <a:xfrm flipH="1" flipV="1">
            <a:off x="2367643" y="4131129"/>
            <a:ext cx="909" cy="413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2367643" y="4776118"/>
            <a:ext cx="0" cy="481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585359" y="4716240"/>
            <a:ext cx="337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1721757" y="4716240"/>
            <a:ext cx="4299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78085" y="4107126"/>
            <a:ext cx="1894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state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space</a:t>
            </a:r>
            <a:endParaRPr lang="en-US" sz="2400" b="1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660" y="4142103"/>
            <a:ext cx="4394200" cy="4445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7760992" y="4465875"/>
            <a:ext cx="195942" cy="620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21817" y="5144873"/>
            <a:ext cx="277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Remaining coordinates </a:t>
            </a:r>
          </a:p>
        </p:txBody>
      </p:sp>
      <p:sp>
        <p:nvSpPr>
          <p:cNvPr id="4" name="Rectangle 3"/>
          <p:cNvSpPr/>
          <p:nvPr/>
        </p:nvSpPr>
        <p:spPr>
          <a:xfrm>
            <a:off x="8036439" y="4187513"/>
            <a:ext cx="2495489" cy="357277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0531928" y="4586603"/>
            <a:ext cx="440872" cy="499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25321" y="5161529"/>
            <a:ext cx="1092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domain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106CA5-5FB6-5A87-7FD6-2DB1393B8A29}"/>
                  </a:ext>
                </a:extLst>
              </p:cNvPr>
              <p:cNvSpPr txBox="1"/>
              <p:nvPr/>
            </p:nvSpPr>
            <p:spPr>
              <a:xfrm>
                <a:off x="6301660" y="5836930"/>
                <a:ext cx="23358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v={(</a:t>
                </a:r>
                <a:r>
                  <a:rPr lang="en-US" dirty="0" err="1"/>
                  <a:t>x,y</a:t>
                </a:r>
                <a:r>
                  <a:rPr lang="en-US" dirty="0"/>
                  <a:t>)|  x,y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{0….m}}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106CA5-5FB6-5A87-7FD6-2DB1393B8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660" y="5836930"/>
                <a:ext cx="2335896" cy="369332"/>
              </a:xfrm>
              <a:prstGeom prst="rect">
                <a:avLst/>
              </a:prstGeom>
              <a:blipFill>
                <a:blip r:embed="rId5"/>
                <a:stretch>
                  <a:fillRect l="-2162" t="-6667" r="-108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BF193A6-C99C-9D36-EAA2-596D938E4B45}"/>
              </a:ext>
            </a:extLst>
          </p:cNvPr>
          <p:cNvSpPr txBox="1"/>
          <p:nvPr/>
        </p:nvSpPr>
        <p:spPr>
          <a:xfrm>
            <a:off x="8770365" y="5836930"/>
            <a:ext cx="1561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Already visited</a:t>
            </a:r>
          </a:p>
        </p:txBody>
      </p:sp>
    </p:spTree>
    <p:extLst>
      <p:ext uri="{BB962C8B-B14F-4D97-AF65-F5344CB8AC3E}">
        <p14:creationId xmlns:p14="http://schemas.microsoft.com/office/powerpoint/2010/main" val="66409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4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0485" y="702129"/>
            <a:ext cx="1894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state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space</a:t>
            </a: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0" y="719294"/>
            <a:ext cx="4394200" cy="444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0485" y="1371599"/>
            <a:ext cx="2318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Applicable actions function</a:t>
            </a:r>
            <a:r>
              <a:rPr lang="zh-CN" altLang="en-US" sz="2000" b="1" dirty="0"/>
              <a:t> </a:t>
            </a:r>
            <a:r>
              <a:rPr lang="en-US" sz="2000" b="1" dirty="0"/>
              <a:t>A(s) for each state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s</a:t>
            </a:r>
            <a:endParaRPr lang="en-US" sz="20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500" y="1322614"/>
            <a:ext cx="4820557" cy="14732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500" y="3066726"/>
            <a:ext cx="7336972" cy="5011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6614" y="3106185"/>
            <a:ext cx="267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Transition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028" y="3912520"/>
            <a:ext cx="1045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cost</a:t>
            </a:r>
            <a:endParaRPr lang="en-US" sz="24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500" y="3912520"/>
            <a:ext cx="1397000" cy="355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59D804-509E-7EAF-7329-CE0452DC9F15}"/>
                  </a:ext>
                </a:extLst>
              </p:cNvPr>
              <p:cNvSpPr txBox="1"/>
              <p:nvPr/>
            </p:nvSpPr>
            <p:spPr>
              <a:xfrm>
                <a:off x="1792705" y="5269832"/>
                <a:ext cx="360457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</a:rPr>
                  <a:t>&lt;</a:t>
                </a:r>
                <a:r>
                  <a:rPr lang="en-US" sz="1800" b="1" dirty="0" err="1">
                    <a:solidFill>
                      <a:srgbClr val="FF0000"/>
                    </a:solidFill>
                  </a:rPr>
                  <a:t>x,y,V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’&gt; V’: remanning to be visited </a:t>
                </a:r>
                <a:endParaRPr lang="en-US" dirty="0"/>
              </a:p>
              <a:p>
                <a:r>
                  <a:rPr lang="en-US" dirty="0"/>
                  <a:t>s</a:t>
                </a:r>
                <a:r>
                  <a:rPr lang="en-US" baseline="-25000" dirty="0"/>
                  <a:t>0</a:t>
                </a:r>
                <a:r>
                  <a:rPr lang="en-US" dirty="0"/>
                  <a:t>=&lt;0,0,G\{0,0}&gt;</a:t>
                </a:r>
              </a:p>
              <a:p>
                <a:r>
                  <a:rPr lang="en-US" dirty="0"/>
                  <a:t>S</a:t>
                </a:r>
                <a:r>
                  <a:rPr lang="en-US" baseline="-25000" dirty="0"/>
                  <a:t>G</a:t>
                </a:r>
                <a:r>
                  <a:rPr lang="en-US" dirty="0"/>
                  <a:t>=&lt;</a:t>
                </a:r>
                <a:r>
                  <a:rPr lang="en-US" dirty="0" err="1"/>
                  <a:t>x,y</a:t>
                </a:r>
                <a:r>
                  <a:rPr lang="en-US" dirty="0"/>
                  <a:t>, {}| </a:t>
                </a:r>
                <a:r>
                  <a:rPr lang="en-US" dirty="0" err="1"/>
                  <a:t>x,y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{0….m}&gt;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59D804-509E-7EAF-7329-CE0452DC9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705" y="5269832"/>
                <a:ext cx="3604577" cy="923330"/>
              </a:xfrm>
              <a:prstGeom prst="rect">
                <a:avLst/>
              </a:prstGeom>
              <a:blipFill>
                <a:blip r:embed="rId6"/>
                <a:stretch>
                  <a:fillRect l="-1408" t="-2703" r="-704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0185C3-6FCE-9BBA-0044-394C61EDF6E4}"/>
                  </a:ext>
                </a:extLst>
              </p:cNvPr>
              <p:cNvSpPr txBox="1"/>
              <p:nvPr/>
            </p:nvSpPr>
            <p:spPr>
              <a:xfrm>
                <a:off x="5833486" y="5269832"/>
                <a:ext cx="255140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rgbClr val="FF0000"/>
                    </a:solidFill>
                  </a:rPr>
                  <a:t>&lt;</a:t>
                </a:r>
                <a:r>
                  <a:rPr lang="en-US" sz="1800" b="1" dirty="0" err="1">
                    <a:solidFill>
                      <a:srgbClr val="FF0000"/>
                    </a:solidFill>
                  </a:rPr>
                  <a:t>x,y,V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&gt; V: already visited</a:t>
                </a:r>
                <a:endParaRPr lang="en-US" dirty="0"/>
              </a:p>
              <a:p>
                <a:r>
                  <a:rPr lang="en-US" dirty="0"/>
                  <a:t>s</a:t>
                </a:r>
                <a:r>
                  <a:rPr lang="en-US" baseline="-25000" dirty="0"/>
                  <a:t>0</a:t>
                </a:r>
                <a:r>
                  <a:rPr lang="en-US" dirty="0"/>
                  <a:t>=&lt;0,0,{0,0}&gt;</a:t>
                </a:r>
              </a:p>
              <a:p>
                <a:r>
                  <a:rPr lang="en-US" dirty="0"/>
                  <a:t>S</a:t>
                </a:r>
                <a:r>
                  <a:rPr lang="en-US" baseline="-25000" dirty="0"/>
                  <a:t>G</a:t>
                </a:r>
                <a:r>
                  <a:rPr lang="en-US" dirty="0"/>
                  <a:t>=&lt;</a:t>
                </a:r>
                <a:r>
                  <a:rPr lang="en-US" dirty="0" err="1"/>
                  <a:t>x,y</a:t>
                </a:r>
                <a:r>
                  <a:rPr lang="en-US" dirty="0"/>
                  <a:t>, V| G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⊑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&gt;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0185C3-6FCE-9BBA-0044-394C61EDF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486" y="5269832"/>
                <a:ext cx="2551404" cy="923330"/>
              </a:xfrm>
              <a:prstGeom prst="rect">
                <a:avLst/>
              </a:prstGeom>
              <a:blipFill>
                <a:blip r:embed="rId7"/>
                <a:stretch>
                  <a:fillRect l="-1990" t="-2703" r="-149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64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29985"/>
            <a:ext cx="10325100" cy="449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6913" y="4925785"/>
            <a:ext cx="249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Approx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50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60" y="457200"/>
            <a:ext cx="9373625" cy="37582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60" y="4449536"/>
            <a:ext cx="6235700" cy="342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188028" y="5026479"/>
                <a:ext cx="4321056" cy="1241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</a:rPr>
                  <a:t>approx.   m</a:t>
                </a:r>
                <a:r>
                  <a:rPr lang="en-US" sz="2800" b="1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 · 2</a:t>
                </a:r>
                <a:r>
                  <a:rPr lang="en-US" sz="2800" b="1" baseline="30000" dirty="0">
                    <a:solidFill>
                      <a:srgbClr val="FF0000"/>
                    </a:solidFill>
                  </a:rPr>
                  <a:t>|G|</a:t>
                </a:r>
              </a:p>
              <a:p>
                <a:endParaRPr lang="en-US" sz="2800" b="1" baseline="30000" dirty="0">
                  <a:solidFill>
                    <a:srgbClr val="FF0000"/>
                  </a:solidFill>
                </a:endParaRP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&lt;</a:t>
                </a:r>
                <a:r>
                  <a:rPr lang="en-US" sz="2800" b="1" dirty="0" err="1">
                    <a:solidFill>
                      <a:srgbClr val="FF0000"/>
                    </a:solidFill>
                  </a:rPr>
                  <a:t>x,y,V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’&gt; x=m, y=m, </a:t>
                </a:r>
                <a:r>
                  <a:rPr lang="en-US" sz="2800" dirty="0">
                    <a:solidFill>
                      <a:srgbClr val="C00000"/>
                    </a:solidFill>
                  </a:rPr>
                  <a:t>V’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⊑</m:t>
                    </m:r>
                    <m:r>
                      <a:rPr lang="en-AU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028" y="5026479"/>
                <a:ext cx="4321056" cy="1241365"/>
              </a:xfrm>
              <a:prstGeom prst="rect">
                <a:avLst/>
              </a:prstGeom>
              <a:blipFill>
                <a:blip r:embed="rId5"/>
                <a:stretch>
                  <a:fillRect l="-2933" t="-6122"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6E66DD-1325-87D6-58A3-15F62CCE560B}"/>
                  </a:ext>
                </a:extLst>
              </p:cNvPr>
              <p:cNvSpPr txBox="1"/>
              <p:nvPr/>
            </p:nvSpPr>
            <p:spPr>
              <a:xfrm>
                <a:off x="6671796" y="4902153"/>
                <a:ext cx="4321056" cy="2103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</a:rPr>
                  <a:t>approx.   m</a:t>
                </a:r>
                <a:r>
                  <a:rPr lang="en-US" sz="2800" b="1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 · 2</a:t>
                </a:r>
                <a:r>
                  <a:rPr lang="en-US" sz="2800" b="1" baseline="30000" dirty="0">
                    <a:solidFill>
                      <a:srgbClr val="FF0000"/>
                    </a:solidFill>
                  </a:rPr>
                  <a:t>m*m</a:t>
                </a:r>
              </a:p>
              <a:p>
                <a:endParaRPr lang="en-US" sz="2800" b="1" baseline="30000" dirty="0">
                  <a:solidFill>
                    <a:srgbClr val="FF0000"/>
                  </a:solidFill>
                </a:endParaRP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&lt;</a:t>
                </a:r>
                <a:r>
                  <a:rPr lang="en-US" sz="2800" b="1" dirty="0" err="1">
                    <a:solidFill>
                      <a:srgbClr val="FF0000"/>
                    </a:solidFill>
                  </a:rPr>
                  <a:t>x,y,V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&gt; x=m, y=m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, </a:t>
                </a:r>
                <a:r>
                  <a:rPr lang="en-US" sz="2800" dirty="0">
                    <a:solidFill>
                      <a:srgbClr val="C00000"/>
                    </a:solidFill>
                  </a:rPr>
                  <a:t>V={(</a:t>
                </a:r>
                <a:r>
                  <a:rPr lang="en-US" sz="2800" dirty="0" err="1">
                    <a:solidFill>
                      <a:srgbClr val="C00000"/>
                    </a:solidFill>
                  </a:rPr>
                  <a:t>x,y</a:t>
                </a:r>
                <a:r>
                  <a:rPr lang="en-US" sz="2800" dirty="0">
                    <a:solidFill>
                      <a:srgbClr val="C00000"/>
                    </a:solidFill>
                  </a:rPr>
                  <a:t>)|  x,y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</a:rPr>
                  <a:t> {0….m}}</a:t>
                </a: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6E66DD-1325-87D6-58A3-15F62CCE5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796" y="4902153"/>
                <a:ext cx="4321056" cy="2103140"/>
              </a:xfrm>
              <a:prstGeom prst="rect">
                <a:avLst/>
              </a:prstGeom>
              <a:blipFill>
                <a:blip r:embed="rId6"/>
                <a:stretch>
                  <a:fillRect l="-2933" t="-2994" r="-3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52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4799</TotalTime>
  <Words>916</Words>
  <Application>Microsoft Macintosh PowerPoint</Application>
  <PresentationFormat>Widescreen</PresentationFormat>
  <Paragraphs>134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Roboto</vt:lpstr>
      <vt:lpstr>Office Theme</vt:lpstr>
      <vt:lpstr>COMP90054 AI Planning for Autonomy Workshop - 1</vt:lpstr>
      <vt:lpstr>Chao Lei</vt:lpstr>
      <vt:lpstr>Why Planning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COMP90054 AI Planning for Autonomy Workshop - 1</dc:title>
  <dc:creator>Name</dc:creator>
  <cp:lastModifiedBy>Chao Lei</cp:lastModifiedBy>
  <cp:revision>320</cp:revision>
  <dcterms:created xsi:type="dcterms:W3CDTF">2018-07-24T17:07:27Z</dcterms:created>
  <dcterms:modified xsi:type="dcterms:W3CDTF">2026-07-29T14:16:19Z</dcterms:modified>
</cp:coreProperties>
</file>