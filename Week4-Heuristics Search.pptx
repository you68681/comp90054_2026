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2" r:id="rId4"/>
    <p:sldId id="265" r:id="rId5"/>
    <p:sldId id="260" r:id="rId6"/>
    <p:sldId id="276" r:id="rId7"/>
    <p:sldId id="263" r:id="rId8"/>
    <p:sldId id="258" r:id="rId9"/>
    <p:sldId id="279" r:id="rId10"/>
    <p:sldId id="278" r:id="rId11"/>
    <p:sldId id="267" r:id="rId12"/>
    <p:sldId id="269" r:id="rId13"/>
    <p:sldId id="268" r:id="rId14"/>
    <p:sldId id="270" r:id="rId15"/>
    <p:sldId id="272" r:id="rId16"/>
    <p:sldId id="271" r:id="rId17"/>
    <p:sldId id="274" r:id="rId18"/>
    <p:sldId id="275" r:id="rId19"/>
    <p:sldId id="280" r:id="rId20"/>
    <p:sldId id="283" r:id="rId21"/>
    <p:sldId id="287" r:id="rId22"/>
    <p:sldId id="288" r:id="rId23"/>
    <p:sldId id="289" r:id="rId24"/>
    <p:sldId id="290" r:id="rId25"/>
    <p:sldId id="291" r:id="rId26"/>
    <p:sldId id="282" r:id="rId27"/>
    <p:sldId id="292" r:id="rId28"/>
    <p:sldId id="293" r:id="rId29"/>
    <p:sldId id="294" r:id="rId30"/>
    <p:sldId id="29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67"/>
    <p:restoredTop sz="67397"/>
  </p:normalViewPr>
  <p:slideViewPr>
    <p:cSldViewPr snapToGrid="0" snapToObjects="1">
      <p:cViewPr varScale="1">
        <p:scale>
          <a:sx n="83" d="100"/>
          <a:sy n="83" d="100"/>
        </p:scale>
        <p:origin x="2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92BDA-5E1A-5744-8C6F-2D348D5AE91A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503F9-38FC-0C4A-B872-73A4283C6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55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503F9-38FC-0C4A-B872-73A4283C67C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39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503F9-38FC-0C4A-B872-73A4283C67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98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503F9-38FC-0C4A-B872-73A4283C67C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99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48BDA-7E60-1A4D-95F9-F6534A22079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86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48BDA-7E60-1A4D-95F9-F6534A22079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84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48BDA-7E60-1A4D-95F9-F6534A22079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52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48BDA-7E60-1A4D-95F9-F6534A22079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31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5+3=8 &gt; 7</a:t>
            </a:r>
          </a:p>
          <a:p>
            <a:r>
              <a:rPr lang="en-US" dirty="0"/>
              <a:t>8 </a:t>
            </a:r>
            <a:r>
              <a:rPr lang="mr-IN" dirty="0"/>
              <a:t>–</a:t>
            </a:r>
            <a:r>
              <a:rPr lang="en-US" dirty="0"/>
              <a:t> 4 = 4 &gt; actual</a:t>
            </a:r>
            <a:r>
              <a:rPr lang="en-US" baseline="0" dirty="0"/>
              <a:t> cost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48BDA-7E60-1A4D-95F9-F6534A22079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428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48BDA-7E60-1A4D-95F9-F6534A22079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84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2907-F756-264C-A15F-D6A6FF5678C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CDF5-A6AF-4C49-9919-A765E22D5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4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2907-F756-264C-A15F-D6A6FF5678C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CDF5-A6AF-4C49-9919-A765E22D5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2907-F756-264C-A15F-D6A6FF5678C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CDF5-A6AF-4C49-9919-A765E22D5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2907-F756-264C-A15F-D6A6FF5678C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CDF5-A6AF-4C49-9919-A765E22D5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3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2907-F756-264C-A15F-D6A6FF5678C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CDF5-A6AF-4C49-9919-A765E22D5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9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2907-F756-264C-A15F-D6A6FF5678C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CDF5-A6AF-4C49-9919-A765E22D5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2907-F756-264C-A15F-D6A6FF5678C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CDF5-A6AF-4C49-9919-A765E22D5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0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2907-F756-264C-A15F-D6A6FF5678C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CDF5-A6AF-4C49-9919-A765E22D5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62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2907-F756-264C-A15F-D6A6FF5678C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CDF5-A6AF-4C49-9919-A765E22D5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64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2907-F756-264C-A15F-D6A6FF5678C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CDF5-A6AF-4C49-9919-A765E22D5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1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F2907-F756-264C-A15F-D6A6FF5678C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4CDF5-A6AF-4C49-9919-A765E22D5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0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F2907-F756-264C-A15F-D6A6FF5678C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4CDF5-A6AF-4C49-9919-A765E22D5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10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9029" y="1572067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COMP90054 AI Planning for Autonomy 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 Workshop</a:t>
            </a:r>
            <a:r>
              <a:rPr lang="en-US" altLang="zh-CN" sz="4400" dirty="0"/>
              <a:t>4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417973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8732" y="1259441"/>
            <a:ext cx="911402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Objectives:</a:t>
            </a:r>
          </a:p>
          <a:p>
            <a:endParaRPr lang="en-US" dirty="0"/>
          </a:p>
          <a:p>
            <a:r>
              <a:rPr lang="en-US" sz="2400" dirty="0"/>
              <a:t>1. Properties of Heuristic Functions </a:t>
            </a:r>
            <a:endParaRPr lang="en-US" sz="2400" dirty="0">
              <a:effectLst/>
            </a:endParaRPr>
          </a:p>
          <a:p>
            <a:r>
              <a:rPr lang="en-US" sz="2400" dirty="0"/>
              <a:t>2. Execution of Heuristic Search Algorithms</a:t>
            </a:r>
          </a:p>
        </p:txBody>
      </p:sp>
    </p:spTree>
    <p:extLst>
      <p:ext uri="{BB962C8B-B14F-4D97-AF65-F5344CB8AC3E}">
        <p14:creationId xmlns:p14="http://schemas.microsoft.com/office/powerpoint/2010/main" val="386359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1" y="201085"/>
            <a:ext cx="8915399" cy="623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74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68" y="1028700"/>
            <a:ext cx="9854911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53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5029" y="1077685"/>
            <a:ext cx="4461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Heuristic Function</a:t>
            </a:r>
            <a:endParaRPr lang="en-US" sz="3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45029" y="2269671"/>
            <a:ext cx="100910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Heuristic searches require a </a:t>
            </a:r>
            <a:r>
              <a:rPr lang="en-US" sz="2400" b="1" dirty="0">
                <a:solidFill>
                  <a:srgbClr val="FF0000"/>
                </a:solidFill>
              </a:rPr>
              <a:t>heuristic function </a:t>
            </a:r>
            <a:r>
              <a:rPr lang="en-US" sz="2400" dirty="0"/>
              <a:t>to </a:t>
            </a:r>
            <a:r>
              <a:rPr lang="en-US" sz="2400" b="1" dirty="0">
                <a:solidFill>
                  <a:srgbClr val="FF0000"/>
                </a:solidFill>
              </a:rPr>
              <a:t>estimate remaining cost</a:t>
            </a:r>
            <a:r>
              <a:rPr lang="en-US" sz="2400" dirty="0"/>
              <a:t>.</a:t>
            </a:r>
          </a:p>
          <a:p>
            <a:r>
              <a:rPr lang="en-US" sz="2400" dirty="0"/>
              <a:t>Its value </a:t>
            </a:r>
            <a:r>
              <a:rPr lang="en-US" sz="2400" b="1" dirty="0"/>
              <a:t>h(s)</a:t>
            </a:r>
            <a:r>
              <a:rPr lang="en-US" sz="2400" dirty="0"/>
              <a:t> for a state s is referred to as the state’s </a:t>
            </a:r>
            <a:r>
              <a:rPr lang="en-US" sz="2400" b="1" dirty="0"/>
              <a:t>heuristic</a:t>
            </a:r>
            <a:r>
              <a:rPr lang="en-US" sz="2400" dirty="0"/>
              <a:t> </a:t>
            </a:r>
            <a:r>
              <a:rPr lang="en-US" sz="2400" b="1" dirty="0"/>
              <a:t>value</a:t>
            </a:r>
            <a:r>
              <a:rPr lang="en-US" sz="2400" dirty="0"/>
              <a:t>, or </a:t>
            </a:r>
            <a:r>
              <a:rPr lang="en-US" sz="2400" b="1" dirty="0"/>
              <a:t>h-value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rgbClr val="FF0000"/>
                </a:solidFill>
              </a:rPr>
              <a:t>Remaining Cost (h∗)</a:t>
            </a:r>
            <a:r>
              <a:rPr lang="en-US" sz="2400" b="1" dirty="0"/>
              <a:t> </a:t>
            </a:r>
            <a:r>
              <a:rPr lang="en-US" sz="2400" dirty="0"/>
              <a:t>: is the cost of an </a:t>
            </a:r>
            <a:r>
              <a:rPr lang="en-US" sz="2400" b="1" dirty="0">
                <a:solidFill>
                  <a:srgbClr val="FF0000"/>
                </a:solidFill>
              </a:rPr>
              <a:t>optimal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b="1" dirty="0"/>
              <a:t>plan</a:t>
            </a:r>
            <a:r>
              <a:rPr lang="en-US" sz="2400" dirty="0"/>
              <a:t> for s, or ∞ if there exists no plan for s, it is the perfect heuristic for a planning task</a:t>
            </a:r>
          </a:p>
        </p:txBody>
      </p:sp>
    </p:spTree>
    <p:extLst>
      <p:ext uri="{BB962C8B-B14F-4D97-AF65-F5344CB8AC3E}">
        <p14:creationId xmlns:p14="http://schemas.microsoft.com/office/powerpoint/2010/main" val="502593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72" y="1052287"/>
            <a:ext cx="9372597" cy="96701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72" y="2598964"/>
            <a:ext cx="10782772" cy="16101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472" y="4919434"/>
            <a:ext cx="9389836" cy="8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290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2757" y="685800"/>
            <a:ext cx="105645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Properties of Heuristic Functions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57" y="1469571"/>
            <a:ext cx="7740091" cy="19394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75657" y="4229100"/>
            <a:ext cx="1518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consistent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657" y="5049199"/>
            <a:ext cx="1861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goal-aware</a:t>
            </a:r>
          </a:p>
        </p:txBody>
      </p:sp>
      <p:cxnSp>
        <p:nvCxnSpPr>
          <p:cNvPr id="10" name="Straight Arrow Connector 9"/>
          <p:cNvCxnSpPr>
            <a:stCxn id="7" idx="3"/>
          </p:cNvCxnSpPr>
          <p:nvPr/>
        </p:nvCxnSpPr>
        <p:spPr>
          <a:xfrm>
            <a:off x="2694214" y="4459933"/>
            <a:ext cx="947057" cy="454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2694214" y="4931229"/>
            <a:ext cx="963386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24942" y="4684067"/>
            <a:ext cx="1861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admissible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127170" y="4488123"/>
            <a:ext cx="963386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3214" y="4229100"/>
            <a:ext cx="1861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goal-aware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3214" y="5196157"/>
            <a:ext cx="1861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safe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5127170" y="4959420"/>
            <a:ext cx="947057" cy="4549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 flipH="1">
            <a:off x="10286999" y="2400300"/>
            <a:ext cx="130628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52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3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74980" y="1437799"/>
            <a:ext cx="101052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Dominate between two heuristics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35887" y="2390033"/>
                <a:ext cx="8424681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FF0000"/>
                    </a:solidFill>
                  </a:rPr>
                  <a:t>For h</a:t>
                </a:r>
                <a:r>
                  <a:rPr lang="en-US" sz="28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(s) and h</a:t>
                </a:r>
                <a:r>
                  <a:rPr lang="en-US" sz="2800" b="1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(s)</a:t>
                </a:r>
              </a:p>
              <a:p>
                <a:endParaRPr lang="en-US" sz="2800" b="1" dirty="0">
                  <a:solidFill>
                    <a:srgbClr val="FF0000"/>
                  </a:solidFill>
                </a:endParaRPr>
              </a:p>
              <a:p>
                <a:r>
                  <a:rPr lang="en-US" sz="2800" b="1" dirty="0">
                    <a:solidFill>
                      <a:srgbClr val="FF0000"/>
                    </a:solidFill>
                  </a:rPr>
                  <a:t>We know h*(s)</a:t>
                </a:r>
                <a:r>
                  <a:rPr lang="en-US" sz="28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h</a:t>
                </a:r>
                <a:r>
                  <a:rPr lang="en-US" sz="2800" b="1" baseline="-25000" dirty="0">
                    <a:solidFill>
                      <a:srgbClr val="FF0000"/>
                    </a:solidFill>
                  </a:rPr>
                  <a:t>1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(s)</a:t>
                </a:r>
                <a:r>
                  <a:rPr lang="en-US" sz="28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 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h</a:t>
                </a:r>
                <a:r>
                  <a:rPr lang="en-US" sz="2800" b="1" baseline="-25000" dirty="0">
                    <a:solidFill>
                      <a:srgbClr val="FF0000"/>
                    </a:solidFill>
                  </a:rPr>
                  <a:t>2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(s) for all s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S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87" y="2390033"/>
                <a:ext cx="8424681" cy="1384995"/>
              </a:xfrm>
              <a:prstGeom prst="rect">
                <a:avLst/>
              </a:prstGeom>
              <a:blipFill>
                <a:blip r:embed="rId3"/>
                <a:stretch>
                  <a:fillRect l="-1504" t="-5455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84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0099" y="1600200"/>
            <a:ext cx="63844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A*</a:t>
            </a:r>
          </a:p>
          <a:p>
            <a:endParaRPr lang="en-US" sz="2800" dirty="0"/>
          </a:p>
          <a:p>
            <a:r>
              <a:rPr lang="en-US" sz="2800" dirty="0"/>
              <a:t>Weighted A* (WA*)</a:t>
            </a:r>
          </a:p>
          <a:p>
            <a:endParaRPr lang="en-US" sz="2800" dirty="0"/>
          </a:p>
          <a:p>
            <a:r>
              <a:rPr lang="en-US" sz="2800" dirty="0"/>
              <a:t>Greedy Best-First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27372" y="571499"/>
            <a:ext cx="7527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 Structure: priority queue</a:t>
            </a:r>
          </a:p>
          <a:p>
            <a:r>
              <a:rPr lang="en-US" sz="2400" b="1" dirty="0"/>
              <a:t>ordered by f(s)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7372" y="1600200"/>
            <a:ext cx="4082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f (s)= g(n) + h(s)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7372" y="2428846"/>
            <a:ext cx="4082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f(s) = g(n) + w*h(s)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7372" y="3323749"/>
            <a:ext cx="4082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f(s) = h(s)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99" y="4914901"/>
            <a:ext cx="76417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f-value is used in priority queue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g-value is the accumulated cost from initial state to current state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h-value is the </a:t>
            </a:r>
            <a:r>
              <a:rPr lang="en-US" altLang="zh-CN" sz="2000" b="1" dirty="0">
                <a:solidFill>
                  <a:srgbClr val="FF0000"/>
                </a:solidFill>
              </a:rPr>
              <a:t>heuristic value of that state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02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60326" y="798702"/>
            <a:ext cx="101052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Heuristic Search Algorithms :</a:t>
            </a:r>
          </a:p>
          <a:p>
            <a:endParaRPr lang="en-US" dirty="0"/>
          </a:p>
          <a:p>
            <a:r>
              <a:rPr lang="en-US" sz="2000" dirty="0"/>
              <a:t>Additionally use heuristic functions which estimate the distance (or remaining cost) to the goal. </a:t>
            </a:r>
            <a:endParaRPr lang="en-US" sz="2000" dirty="0">
              <a:effectLst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95487" y="2574120"/>
            <a:ext cx="53879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A* </a:t>
            </a:r>
          </a:p>
          <a:p>
            <a:r>
              <a:rPr lang="en-US" sz="2000" i="1" dirty="0"/>
              <a:t>WA*</a:t>
            </a:r>
          </a:p>
          <a:p>
            <a:r>
              <a:rPr lang="en-US" sz="2000" dirty="0"/>
              <a:t>Enforced hill-climbing </a:t>
            </a:r>
          </a:p>
          <a:p>
            <a:r>
              <a:rPr lang="en-US" sz="2000" i="1" dirty="0"/>
              <a:t>Greedy Best First Search </a:t>
            </a:r>
            <a:endParaRPr lang="en-US" sz="2000" dirty="0">
              <a:effectLst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1861459" y="2759527"/>
            <a:ext cx="1191985" cy="163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282044" y="2574120"/>
            <a:ext cx="5502729" cy="381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Most popular algorithm in optimal planning</a:t>
            </a:r>
          </a:p>
        </p:txBody>
      </p:sp>
      <p:sp>
        <p:nvSpPr>
          <p:cNvPr id="5" name="Freeform 4"/>
          <p:cNvSpPr/>
          <p:nvPr/>
        </p:nvSpPr>
        <p:spPr>
          <a:xfrm>
            <a:off x="2106387" y="3086098"/>
            <a:ext cx="3454211" cy="620486"/>
          </a:xfrm>
          <a:custGeom>
            <a:avLst/>
            <a:gdLst>
              <a:gd name="connsiteX0" fmla="*/ 0 w 3454211"/>
              <a:gd name="connsiteY0" fmla="*/ 0 h 620486"/>
              <a:gd name="connsiteX1" fmla="*/ 3412672 w 3454211"/>
              <a:gd name="connsiteY1" fmla="*/ 163286 h 620486"/>
              <a:gd name="connsiteX2" fmla="*/ 1877786 w 3454211"/>
              <a:gd name="connsiteY2" fmla="*/ 620486 h 62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54211" h="620486">
                <a:moveTo>
                  <a:pt x="0" y="0"/>
                </a:moveTo>
                <a:cubicBezTo>
                  <a:pt x="1549854" y="29936"/>
                  <a:pt x="3099708" y="59872"/>
                  <a:pt x="3412672" y="163286"/>
                </a:cubicBezTo>
                <a:cubicBezTo>
                  <a:pt x="3725636" y="266700"/>
                  <a:pt x="2177143" y="519793"/>
                  <a:pt x="1877786" y="620486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812973" y="3200398"/>
            <a:ext cx="537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 most popular algorithms in satisficing planning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1886" y="4564981"/>
            <a:ext cx="12246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If</a:t>
            </a:r>
            <a:r>
              <a:rPr lang="zh-CN" altLang="en-US" b="1" dirty="0"/>
              <a:t> </a:t>
            </a:r>
            <a:r>
              <a:rPr lang="en-US" altLang="zh-CN" b="1" dirty="0"/>
              <a:t>h is admissible, then we can guarantee the solution found by A* (that includes reopen in algorithm) is optimal </a:t>
            </a:r>
          </a:p>
          <a:p>
            <a:endParaRPr lang="en-US" altLang="zh-CN" b="1" dirty="0"/>
          </a:p>
          <a:p>
            <a:r>
              <a:rPr lang="en-US" altLang="zh-CN" b="1" dirty="0"/>
              <a:t>If</a:t>
            </a:r>
            <a:r>
              <a:rPr lang="zh-CN" altLang="en-US" b="1" dirty="0"/>
              <a:t> </a:t>
            </a:r>
            <a:r>
              <a:rPr lang="en-US" altLang="zh-CN" b="1" dirty="0"/>
              <a:t>h is admissible and consistent, then we can guarantee the solution found by A* (that didn’t include reopen) is optimal 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2035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49" y="1047754"/>
            <a:ext cx="8835473" cy="206600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93" y="448752"/>
            <a:ext cx="6188764" cy="4572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091" y="3401786"/>
            <a:ext cx="5843251" cy="254181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865" y="1162050"/>
            <a:ext cx="2755899" cy="36402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5415" y="1706217"/>
            <a:ext cx="21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2401" y="1795905"/>
            <a:ext cx="21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8266" y="1706217"/>
            <a:ext cx="29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101" y="2841171"/>
            <a:ext cx="31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8537" y="3025837"/>
            <a:ext cx="430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6609" y="2841171"/>
            <a:ext cx="19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687" y="3853543"/>
            <a:ext cx="344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0788" y="3853543"/>
            <a:ext cx="26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81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50" y="1240683"/>
            <a:ext cx="5762622" cy="79484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471" y="2467350"/>
            <a:ext cx="5802500" cy="576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15527"/>
            <a:ext cx="238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Question 1</a:t>
            </a:r>
          </a:p>
        </p:txBody>
      </p:sp>
      <p:sp>
        <p:nvSpPr>
          <p:cNvPr id="5" name="Oval 4"/>
          <p:cNvSpPr/>
          <p:nvPr/>
        </p:nvSpPr>
        <p:spPr>
          <a:xfrm>
            <a:off x="6057900" y="2372873"/>
            <a:ext cx="881743" cy="765707"/>
          </a:xfrm>
          <a:prstGeom prst="ellipse">
            <a:avLst/>
          </a:prstGeom>
          <a:solidFill>
            <a:srgbClr val="FF0000">
              <a:alpha val="48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49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35" y="1730827"/>
            <a:ext cx="2759607" cy="36122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3771" y="718457"/>
            <a:ext cx="388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Calculate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h*</a:t>
            </a:r>
            <a:endParaRPr lang="en-US" sz="2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0820" y="2390040"/>
            <a:ext cx="1140279" cy="29530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056" y="2390040"/>
            <a:ext cx="679197" cy="29530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65607" y="1866820"/>
            <a:ext cx="562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2744" y="1933738"/>
            <a:ext cx="816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h*(s)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718457"/>
            <a:ext cx="77724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18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96" y="1689817"/>
            <a:ext cx="5802500" cy="5767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50" y="977192"/>
            <a:ext cx="5762622" cy="7948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15527"/>
            <a:ext cx="238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Question 1-1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21" y="2792184"/>
            <a:ext cx="1778000" cy="30750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5418" y="2831853"/>
            <a:ext cx="1045029" cy="29957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34982" y="3184071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423" y="3516088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0424" y="3891639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0423" y="4267194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0424" y="4642752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0422" y="5001987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422" y="5377547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071" y="6201699"/>
            <a:ext cx="3035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So, h1 is admissible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8950" y="2792184"/>
            <a:ext cx="787827" cy="307506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6143" y="2775855"/>
            <a:ext cx="957376" cy="305724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8197" y="2792184"/>
            <a:ext cx="1045029" cy="299572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67400" y="3140523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2841" y="3472540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2842" y="3848091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2841" y="4223646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2842" y="4599204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2840" y="4958439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2840" y="5333999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8950" y="6204004"/>
            <a:ext cx="3035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So</a:t>
            </a:r>
            <a:r>
              <a:rPr lang="en-US" sz="2400" b="1">
                <a:solidFill>
                  <a:srgbClr val="00B050"/>
                </a:solidFill>
              </a:rPr>
              <a:t>, h2 </a:t>
            </a:r>
            <a:r>
              <a:rPr lang="en-US" sz="2400" b="1" dirty="0">
                <a:solidFill>
                  <a:srgbClr val="00B050"/>
                </a:solidFill>
              </a:rPr>
              <a:t>is admissible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3860" y="2715201"/>
            <a:ext cx="1037347" cy="312871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2827" y="2766943"/>
            <a:ext cx="787827" cy="307506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5355" y="2806611"/>
            <a:ext cx="1045029" cy="29957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57036" y="3162294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2477" y="3494311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62478" y="3869862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62477" y="4245417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2478" y="4620975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62476" y="4980210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62476" y="5355770"/>
            <a:ext cx="4408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&lt;=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273" y="6208128"/>
            <a:ext cx="3035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So, h</a:t>
            </a:r>
            <a:r>
              <a:rPr lang="en-US" altLang="zh-CN" sz="2400" b="1" dirty="0">
                <a:solidFill>
                  <a:srgbClr val="00B050"/>
                </a:solidFill>
              </a:rPr>
              <a:t>3</a:t>
            </a:r>
            <a:r>
              <a:rPr lang="en-US" sz="2400" b="1" dirty="0">
                <a:solidFill>
                  <a:srgbClr val="00B050"/>
                </a:solidFill>
              </a:rPr>
              <a:t> is admissible</a:t>
            </a:r>
          </a:p>
        </p:txBody>
      </p:sp>
    </p:spTree>
    <p:extLst>
      <p:ext uri="{BB962C8B-B14F-4D97-AF65-F5344CB8AC3E}">
        <p14:creationId xmlns:p14="http://schemas.microsoft.com/office/powerpoint/2010/main" val="23953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15527"/>
            <a:ext cx="23839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Question 1-</a:t>
            </a:r>
            <a:r>
              <a:rPr lang="en-US" altLang="zh-CN" sz="3200" b="1" dirty="0"/>
              <a:t>2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71500" y="1273629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Which</a:t>
            </a:r>
            <a:r>
              <a:rPr lang="zh-CN" altLang="en-US" sz="2800" dirty="0"/>
              <a:t> </a:t>
            </a:r>
            <a:r>
              <a:rPr lang="en-US" altLang="zh-CN" sz="2800" dirty="0"/>
              <a:t>heuristics</a:t>
            </a:r>
            <a:r>
              <a:rPr lang="zh-CN" altLang="en-US" sz="2800" dirty="0"/>
              <a:t> </a:t>
            </a:r>
            <a:r>
              <a:rPr lang="en-US" altLang="zh-CN" sz="2800" dirty="0"/>
              <a:t>are</a:t>
            </a:r>
            <a:r>
              <a:rPr lang="zh-CN" altLang="en-US" sz="2800" dirty="0"/>
              <a:t> </a:t>
            </a:r>
            <a:r>
              <a:rPr lang="en-US" altLang="zh-CN" sz="2800" dirty="0"/>
              <a:t>consistent?</a:t>
            </a:r>
            <a:r>
              <a:rPr lang="zh-CN" altLang="en-US" sz="2800" dirty="0"/>
              <a:t> </a:t>
            </a: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859" y="1796849"/>
            <a:ext cx="8002291" cy="4717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535" y="2791783"/>
            <a:ext cx="1778000" cy="30750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506" y="83041"/>
            <a:ext cx="4469494" cy="17793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5" y="2354037"/>
            <a:ext cx="2755899" cy="36402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795" y="2898204"/>
            <a:ext cx="21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2781" y="2987892"/>
            <a:ext cx="21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8646" y="2898204"/>
            <a:ext cx="29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481" y="4033158"/>
            <a:ext cx="31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8917" y="4217824"/>
            <a:ext cx="430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6989" y="4033158"/>
            <a:ext cx="19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067" y="5045530"/>
            <a:ext cx="344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1168" y="5045530"/>
            <a:ext cx="26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1636" y="2546569"/>
            <a:ext cx="21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453" y="3522122"/>
            <a:ext cx="15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779" y="3522122"/>
            <a:ext cx="21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5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10915" y="3522122"/>
            <a:ext cx="250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6138" y="4537637"/>
            <a:ext cx="26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07930" y="4543080"/>
            <a:ext cx="21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59779" y="5414862"/>
            <a:ext cx="21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14999" y="2731235"/>
            <a:ext cx="3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h(s1)        h(s2) + c(</a:t>
            </a:r>
            <a:r>
              <a:rPr lang="en-US" altLang="zh-CN" sz="2000" b="1" dirty="0">
                <a:solidFill>
                  <a:srgbClr val="00B050"/>
                </a:solidFill>
              </a:rPr>
              <a:t>s1,</a:t>
            </a:r>
            <a:r>
              <a:rPr lang="zh-CN" altLang="en-US" sz="2000" b="1" dirty="0">
                <a:solidFill>
                  <a:srgbClr val="00B050"/>
                </a:solidFill>
              </a:rPr>
              <a:t> </a:t>
            </a:r>
            <a:r>
              <a:rPr lang="en-US" altLang="zh-CN" sz="2000" b="1" dirty="0">
                <a:solidFill>
                  <a:srgbClr val="00B050"/>
                </a:solidFill>
              </a:rPr>
              <a:t>s2</a:t>
            </a:r>
            <a:r>
              <a:rPr lang="en-US" sz="2000" b="1" dirty="0">
                <a:solidFill>
                  <a:srgbClr val="00B050"/>
                </a:solidFill>
              </a:rPr>
              <a:t>)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5894614" y="3082870"/>
            <a:ext cx="163286" cy="62391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715000" y="3625143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6879778" y="3120969"/>
            <a:ext cx="163286" cy="62391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700164" y="3663242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3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7581906" y="3120968"/>
            <a:ext cx="163286" cy="62391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02292" y="3663241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9033" y="2762013"/>
            <a:ext cx="462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&lt;=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0439" y="4353229"/>
            <a:ext cx="2901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h(s1)        h(s3) + c(</a:t>
            </a:r>
            <a:r>
              <a:rPr lang="en-US" altLang="zh-CN" sz="2000" b="1" dirty="0">
                <a:solidFill>
                  <a:srgbClr val="00B050"/>
                </a:solidFill>
              </a:rPr>
              <a:t>s1,</a:t>
            </a:r>
            <a:r>
              <a:rPr lang="zh-CN" altLang="en-US" sz="2000" b="1" dirty="0">
                <a:solidFill>
                  <a:srgbClr val="00B050"/>
                </a:solidFill>
              </a:rPr>
              <a:t> </a:t>
            </a:r>
            <a:r>
              <a:rPr lang="en-US" altLang="zh-CN" sz="2000" b="1" dirty="0">
                <a:solidFill>
                  <a:srgbClr val="00B050"/>
                </a:solidFill>
              </a:rPr>
              <a:t>s3</a:t>
            </a:r>
            <a:r>
              <a:rPr lang="en-US" sz="2000" b="1" dirty="0">
                <a:solidFill>
                  <a:srgbClr val="00B050"/>
                </a:solidFill>
              </a:rPr>
              <a:t>)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5900053" y="4704864"/>
            <a:ext cx="163286" cy="62391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720439" y="5247137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4</a:t>
            </a:r>
          </a:p>
        </p:txBody>
      </p:sp>
      <p:cxnSp>
        <p:nvCxnSpPr>
          <p:cNvPr id="52" name="Straight Arrow Connector 51"/>
          <p:cNvCxnSpPr/>
          <p:nvPr/>
        </p:nvCxnSpPr>
        <p:spPr>
          <a:xfrm flipH="1">
            <a:off x="6885217" y="4742963"/>
            <a:ext cx="163286" cy="62391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705603" y="5285236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5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7587345" y="4742962"/>
            <a:ext cx="163286" cy="62391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407731" y="5285235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84472" y="4384007"/>
            <a:ext cx="462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&lt;=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49511" y="6017186"/>
            <a:ext cx="3788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 </a:t>
            </a:r>
            <a:r>
              <a:rPr lang="en-US" sz="2800" b="1"/>
              <a:t>h1 is </a:t>
            </a:r>
            <a:r>
              <a:rPr lang="en-US" sz="2800" b="1" dirty="0"/>
              <a:t>consistent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90855" y="5216359"/>
            <a:ext cx="2245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and so on</a:t>
            </a:r>
            <a:r>
              <a:rPr lang="mr-IN" sz="2800" b="1" dirty="0">
                <a:solidFill>
                  <a:srgbClr val="00B050"/>
                </a:solidFill>
              </a:rPr>
              <a:t>…</a:t>
            </a:r>
            <a:r>
              <a:rPr lang="en-US" sz="2800" b="1" dirty="0">
                <a:solidFill>
                  <a:srgbClr val="00B050"/>
                </a:solidFill>
              </a:rPr>
              <a:t> </a:t>
            </a:r>
            <a:r>
              <a:rPr lang="mr-IN" sz="2800" b="1" dirty="0">
                <a:solidFill>
                  <a:srgbClr val="00B050"/>
                </a:solidFill>
              </a:rPr>
              <a:t>…</a:t>
            </a:r>
            <a:endParaRPr lang="en-US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3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7" grpId="0"/>
      <p:bldP spid="29" grpId="0"/>
      <p:bldP spid="31" grpId="0"/>
      <p:bldP spid="32" grpId="0"/>
      <p:bldP spid="49" grpId="0"/>
      <p:bldP spid="51" grpId="0"/>
      <p:bldP spid="53" grpId="0"/>
      <p:bldP spid="55" grpId="0"/>
      <p:bldP spid="56" grpId="0"/>
      <p:bldP spid="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33" y="1306284"/>
            <a:ext cx="787827" cy="307506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326" y="1289955"/>
            <a:ext cx="1078090" cy="305724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628825" y="3823978"/>
            <a:ext cx="3788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</a:t>
            </a:r>
            <a:r>
              <a:rPr lang="en-US" altLang="zh-CN" sz="2800" b="1" dirty="0"/>
              <a:t>2</a:t>
            </a:r>
            <a:r>
              <a:rPr lang="en-US" sz="2800" b="1" dirty="0"/>
              <a:t> is </a:t>
            </a:r>
            <a:r>
              <a:rPr lang="en-US" altLang="zh-CN" sz="2800" b="1" dirty="0"/>
              <a:t>also</a:t>
            </a:r>
            <a:r>
              <a:rPr lang="zh-CN" altLang="en-US" sz="2800" b="1" dirty="0"/>
              <a:t> </a:t>
            </a:r>
            <a:r>
              <a:rPr lang="en-US" sz="2800" b="1" dirty="0"/>
              <a:t>consistent</a:t>
            </a:r>
          </a:p>
        </p:txBody>
      </p:sp>
    </p:spTree>
    <p:extLst>
      <p:ext uri="{BB962C8B-B14F-4D97-AF65-F5344CB8AC3E}">
        <p14:creationId xmlns:p14="http://schemas.microsoft.com/office/powerpoint/2010/main" val="2054861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004" y="772093"/>
            <a:ext cx="1037347" cy="31287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71" y="823835"/>
            <a:ext cx="787827" cy="307506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6077" y="824364"/>
            <a:ext cx="8002291" cy="4717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59930" y="2012771"/>
            <a:ext cx="3184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h(s1)        h(s2) + c(</a:t>
            </a:r>
            <a:r>
              <a:rPr lang="en-US" altLang="zh-CN" sz="2000" b="1" dirty="0">
                <a:solidFill>
                  <a:srgbClr val="00B050"/>
                </a:solidFill>
              </a:rPr>
              <a:t>s1,</a:t>
            </a:r>
            <a:r>
              <a:rPr lang="zh-CN" altLang="en-US" sz="2000" b="1" dirty="0">
                <a:solidFill>
                  <a:srgbClr val="00B050"/>
                </a:solidFill>
              </a:rPr>
              <a:t> </a:t>
            </a:r>
            <a:r>
              <a:rPr lang="en-US" altLang="zh-CN" sz="2000" b="1" dirty="0">
                <a:solidFill>
                  <a:srgbClr val="00B050"/>
                </a:solidFill>
              </a:rPr>
              <a:t>s2</a:t>
            </a:r>
            <a:r>
              <a:rPr lang="en-US" sz="2000" b="1" dirty="0">
                <a:solidFill>
                  <a:srgbClr val="00B050"/>
                </a:solidFill>
              </a:rPr>
              <a:t>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>
            <a:off x="6139545" y="2364406"/>
            <a:ext cx="163286" cy="62391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59931" y="2906679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</a:rPr>
              <a:t>6</a:t>
            </a:r>
            <a:endParaRPr lang="en-US" sz="2400" b="1" dirty="0">
              <a:solidFill>
                <a:srgbClr val="00B05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7124709" y="2402505"/>
            <a:ext cx="163286" cy="62391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5095" y="2944778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</a:rPr>
              <a:t>1</a:t>
            </a:r>
            <a:endParaRPr lang="en-US" sz="2400" b="1" dirty="0">
              <a:solidFill>
                <a:srgbClr val="00B05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7826837" y="2402504"/>
            <a:ext cx="163286" cy="62391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47223" y="2944777"/>
            <a:ext cx="34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3964" y="2043549"/>
            <a:ext cx="462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7600" y="4351672"/>
            <a:ext cx="3788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 h3 is not consistent</a:t>
            </a:r>
          </a:p>
        </p:txBody>
      </p:sp>
    </p:spTree>
    <p:extLst>
      <p:ext uri="{BB962C8B-B14F-4D97-AF65-F5344CB8AC3E}">
        <p14:creationId xmlns:p14="http://schemas.microsoft.com/office/powerpoint/2010/main" val="195181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05132"/>
            <a:ext cx="4165600" cy="3276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42569" y="2266186"/>
            <a:ext cx="6106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h* dominates all other admissible heuristics 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398255" y="3197188"/>
            <a:ext cx="47955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h2 = h* and therefore dominates all other admissible heuristics.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h1(s1) &lt; h3(s1) and h3(s2) &lt; h1(s2) and therefore neither of h1 and h3 dominate each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15527"/>
            <a:ext cx="23839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Question 1-3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73629"/>
            <a:ext cx="6337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Does any</a:t>
            </a:r>
            <a:r>
              <a:rPr lang="zh-CN" altLang="en-US" sz="2800" dirty="0"/>
              <a:t> </a:t>
            </a:r>
            <a:r>
              <a:rPr lang="en-US" altLang="zh-CN" sz="2800" dirty="0"/>
              <a:t>heuristic</a:t>
            </a:r>
            <a:r>
              <a:rPr lang="zh-CN" altLang="en-US" sz="2800" dirty="0"/>
              <a:t> </a:t>
            </a:r>
            <a:r>
              <a:rPr lang="en-US" altLang="zh-CN" sz="2800" dirty="0"/>
              <a:t>dominate any other?</a:t>
            </a:r>
            <a:r>
              <a:rPr lang="zh-CN" altLang="en-US" sz="2800" dirty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5569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604157"/>
            <a:ext cx="179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en-US" sz="4000" b="1" dirty="0"/>
              <a:t>A*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793" y="697422"/>
            <a:ext cx="2299607" cy="36339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958" y="1555356"/>
            <a:ext cx="3338730" cy="4582571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682264"/>
              </p:ext>
            </p:extLst>
          </p:nvPr>
        </p:nvGraphicFramePr>
        <p:xfrm>
          <a:off x="3178772" y="2805451"/>
          <a:ext cx="6485021" cy="2082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3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2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10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9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Iteration1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Iteration2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Iteration3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116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n0=&lt;S1,0,4,null&gt;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n1=&lt;s2,2,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dirty="0"/>
                        <a:t>,n0&gt;</a:t>
                      </a:r>
                    </a:p>
                    <a:p>
                      <a:pPr algn="ctr"/>
                      <a:r>
                        <a:rPr lang="en-US" dirty="0"/>
                        <a:t>n2=&lt;s3,2,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7</a:t>
                      </a:r>
                      <a:r>
                        <a:rPr lang="en-US" dirty="0"/>
                        <a:t>,n0,&gt;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n3=&lt;s4,1,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4</a:t>
                      </a:r>
                      <a:r>
                        <a:rPr lang="en-US" dirty="0"/>
                        <a:t>,n0,&gt;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n5=&lt;s6,2,4,n3&gt;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n1=&lt;s2,2,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dirty="0"/>
                        <a:t>,n0&gt;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n2=&lt;s3,2,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7</a:t>
                      </a:r>
                      <a:r>
                        <a:rPr lang="en-US" dirty="0"/>
                        <a:t>,n0,&gt;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9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n0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n0 n3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E9FD265-FB6B-F457-3496-302F8C64F0BE}"/>
              </a:ext>
            </a:extLst>
          </p:cNvPr>
          <p:cNvSpPr txBox="1"/>
          <p:nvPr/>
        </p:nvSpPr>
        <p:spPr>
          <a:xfrm>
            <a:off x="3416968" y="890337"/>
            <a:ext cx="4175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Priority Queue </a:t>
            </a:r>
            <a:r>
              <a:rPr lang="en-US" sz="1800" dirty="0"/>
              <a:t>ordered by </a:t>
            </a:r>
            <a:r>
              <a:rPr lang="en-US" sz="1800" b="1" dirty="0">
                <a:solidFill>
                  <a:srgbClr val="00B050"/>
                </a:solidFill>
              </a:rPr>
              <a:t>f (s)= g(s) + h(s)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02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604157"/>
            <a:ext cx="1796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1.</a:t>
            </a:r>
            <a:r>
              <a:rPr lang="en-US" sz="4000" b="1" dirty="0"/>
              <a:t>A*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6972"/>
            <a:ext cx="3338730" cy="45825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12870" y="834989"/>
            <a:ext cx="67437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Priority Queue </a:t>
            </a:r>
            <a:r>
              <a:rPr lang="en-US" sz="2800" dirty="0"/>
              <a:t>ordered by </a:t>
            </a:r>
            <a:r>
              <a:rPr lang="en-US" sz="2800" b="1" dirty="0">
                <a:solidFill>
                  <a:srgbClr val="00B050"/>
                </a:solidFill>
              </a:rPr>
              <a:t>f (s)= g(s) + h(s)</a:t>
            </a:r>
          </a:p>
          <a:p>
            <a:endParaRPr lang="en-US" sz="28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453743" y="4490357"/>
            <a:ext cx="6302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Solution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found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by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A* is : s1 </a:t>
            </a:r>
            <a:r>
              <a:rPr lang="en-US" altLang="zh-CN" sz="2400" b="1" dirty="0">
                <a:sym typeface="Wingdings"/>
              </a:rPr>
              <a:t></a:t>
            </a:r>
            <a:r>
              <a:rPr lang="en-US" altLang="zh-CN" sz="2400" b="1" dirty="0"/>
              <a:t> s4</a:t>
            </a:r>
            <a:r>
              <a:rPr lang="en-US" altLang="zh-CN" sz="2400" b="1" dirty="0">
                <a:sym typeface="Wingdings"/>
              </a:rPr>
              <a:t> s6 s7 </a:t>
            </a:r>
            <a:endParaRPr 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453743" y="5078186"/>
            <a:ext cx="39515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This solution is optimal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5812971"/>
            <a:ext cx="8392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Since n6 is at a goal state and has the lowest admissible cost of any node in the open list</a:t>
            </a:r>
          </a:p>
          <a:p>
            <a:r>
              <a:rPr lang="en-US" dirty="0"/>
              <a:t>All other paths from any other open node must be longer.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51A236A-3A86-1BC7-6E4D-2D8C47BCC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621960"/>
              </p:ext>
            </p:extLst>
          </p:nvPr>
        </p:nvGraphicFramePr>
        <p:xfrm>
          <a:off x="3337560" y="1718653"/>
          <a:ext cx="5226127" cy="2703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0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1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3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431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Iteration4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Iteration5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9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n6=&lt;s7,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6</a:t>
                      </a:r>
                      <a:r>
                        <a:rPr lang="en-US" dirty="0"/>
                        <a:t>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6</a:t>
                      </a:r>
                      <a:r>
                        <a:rPr lang="en-US" dirty="0"/>
                        <a:t>,n4&gt;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n1=&lt;s2,2,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dirty="0"/>
                        <a:t>,n0&gt;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n2=&lt;s3,2,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7</a:t>
                      </a:r>
                      <a:r>
                        <a:rPr lang="en-US" dirty="0"/>
                        <a:t>,n0,&gt;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n6=&lt;s7,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6</a:t>
                      </a:r>
                      <a:r>
                        <a:rPr lang="en-US" dirty="0"/>
                        <a:t>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6</a:t>
                      </a:r>
                      <a:r>
                        <a:rPr lang="en-US" dirty="0"/>
                        <a:t>,n4&gt;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n2=&lt;s3,2,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7</a:t>
                      </a:r>
                      <a:r>
                        <a:rPr lang="en-US" dirty="0"/>
                        <a:t>,n0,&gt;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n4=&lt;s5,4,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6</a:t>
                      </a:r>
                      <a:r>
                        <a:rPr lang="en-US" dirty="0"/>
                        <a:t>,n1,&gt;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5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CLOSED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n0 n3 n5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n0 n3 n5 n1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02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93" y="1326576"/>
            <a:ext cx="6188764" cy="45729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5" y="2039874"/>
            <a:ext cx="2755899" cy="36402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5415" y="2584041"/>
            <a:ext cx="21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2401" y="2673729"/>
            <a:ext cx="212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78266" y="2584041"/>
            <a:ext cx="29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101" y="3718995"/>
            <a:ext cx="31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8537" y="3903661"/>
            <a:ext cx="430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6609" y="3718995"/>
            <a:ext cx="195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687" y="4731367"/>
            <a:ext cx="344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0788" y="4731367"/>
            <a:ext cx="265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6120" y="536974"/>
            <a:ext cx="2352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070C0"/>
                </a:solidFill>
              </a:rPr>
              <a:t>A*    h1</a:t>
            </a:r>
            <a:endParaRPr lang="en-US" sz="3600" b="1" dirty="0">
              <a:solidFill>
                <a:srgbClr val="0070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322" y="1779071"/>
            <a:ext cx="6697513" cy="273481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23888" y="5792615"/>
            <a:ext cx="4359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h1 is admissible and consistent</a:t>
            </a:r>
            <a:endParaRPr lang="en-US" sz="2400" b="1" dirty="0"/>
          </a:p>
        </p:txBody>
      </p:sp>
      <p:sp>
        <p:nvSpPr>
          <p:cNvPr id="18" name="Right Arrow 17"/>
          <p:cNvSpPr/>
          <p:nvPr/>
        </p:nvSpPr>
        <p:spPr>
          <a:xfrm>
            <a:off x="7858677" y="5813134"/>
            <a:ext cx="767443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8795608" y="5792614"/>
            <a:ext cx="231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no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reopen</a:t>
            </a:r>
            <a:endParaRPr lang="en-US" sz="2400" b="1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509164" y="4534408"/>
          <a:ext cx="756375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1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Iteration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Iteration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Iteration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Iteration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OPEN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CLOSED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9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4459" y="704538"/>
            <a:ext cx="3597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Reopen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in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*</a:t>
            </a:r>
            <a:endParaRPr lang="en-US" sz="3200" b="1" dirty="0"/>
          </a:p>
        </p:txBody>
      </p:sp>
      <p:sp>
        <p:nvSpPr>
          <p:cNvPr id="3" name="Oval 2"/>
          <p:cNvSpPr/>
          <p:nvPr/>
        </p:nvSpPr>
        <p:spPr>
          <a:xfrm>
            <a:off x="1567542" y="1828801"/>
            <a:ext cx="604157" cy="5225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s1</a:t>
            </a:r>
          </a:p>
        </p:txBody>
      </p:sp>
      <p:sp>
        <p:nvSpPr>
          <p:cNvPr id="4" name="Oval 3"/>
          <p:cNvSpPr/>
          <p:nvPr/>
        </p:nvSpPr>
        <p:spPr>
          <a:xfrm>
            <a:off x="840787" y="2944587"/>
            <a:ext cx="604157" cy="5225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</a:t>
            </a:r>
            <a:r>
              <a:rPr lang="en-US" altLang="zh-CN" sz="2000" dirty="0"/>
              <a:t>2</a:t>
            </a:r>
            <a:endParaRPr lang="en-US" sz="2000" dirty="0"/>
          </a:p>
        </p:txBody>
      </p:sp>
      <p:sp>
        <p:nvSpPr>
          <p:cNvPr id="5" name="Oval 4"/>
          <p:cNvSpPr/>
          <p:nvPr/>
        </p:nvSpPr>
        <p:spPr>
          <a:xfrm>
            <a:off x="2240753" y="2944587"/>
            <a:ext cx="604157" cy="5225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</a:t>
            </a:r>
            <a:r>
              <a:rPr lang="en-US" altLang="zh-CN" sz="2000" dirty="0"/>
              <a:t>3</a:t>
            </a:r>
            <a:endParaRPr lang="en-US" sz="2000" dirty="0"/>
          </a:p>
        </p:txBody>
      </p:sp>
      <p:cxnSp>
        <p:nvCxnSpPr>
          <p:cNvPr id="7" name="Straight Arrow Connector 6"/>
          <p:cNvCxnSpPr>
            <a:stCxn id="3" idx="3"/>
            <a:endCxn id="4" idx="0"/>
          </p:cNvCxnSpPr>
          <p:nvPr/>
        </p:nvCxnSpPr>
        <p:spPr>
          <a:xfrm flipH="1">
            <a:off x="1142866" y="2274795"/>
            <a:ext cx="513153" cy="669792"/>
          </a:xfrm>
          <a:prstGeom prst="straightConnector1">
            <a:avLst/>
          </a:prstGeom>
          <a:ln w="38100" cmpd="sng">
            <a:solidFill>
              <a:schemeClr val="dk1"/>
            </a:solidFill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3" idx="5"/>
            <a:endCxn id="5" idx="0"/>
          </p:cNvCxnSpPr>
          <p:nvPr/>
        </p:nvCxnSpPr>
        <p:spPr>
          <a:xfrm>
            <a:off x="2083222" y="2274795"/>
            <a:ext cx="459610" cy="669792"/>
          </a:xfrm>
          <a:prstGeom prst="straightConnector1">
            <a:avLst/>
          </a:prstGeom>
          <a:ln w="38100" cmpd="sng">
            <a:solidFill>
              <a:schemeClr val="dk1"/>
            </a:solidFill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4" idx="6"/>
            <a:endCxn id="5" idx="2"/>
          </p:cNvCxnSpPr>
          <p:nvPr/>
        </p:nvCxnSpPr>
        <p:spPr>
          <a:xfrm>
            <a:off x="1444944" y="3205844"/>
            <a:ext cx="795809" cy="0"/>
          </a:xfrm>
          <a:prstGeom prst="straightConnector1">
            <a:avLst/>
          </a:prstGeom>
          <a:ln w="38100" cmpd="sng">
            <a:solidFill>
              <a:schemeClr val="dk1"/>
            </a:solidFill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42866" y="2317268"/>
            <a:ext cx="302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B050"/>
                </a:solidFill>
              </a:rPr>
              <a:t>1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01641" y="2321480"/>
            <a:ext cx="302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B050"/>
                </a:solidFill>
              </a:rPr>
              <a:t>3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56019" y="2890803"/>
            <a:ext cx="427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B050"/>
                </a:solidFill>
              </a:rPr>
              <a:t>1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2240752" y="4376864"/>
            <a:ext cx="604157" cy="52251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</a:t>
            </a:r>
            <a:r>
              <a:rPr lang="en-US" altLang="zh-CN" sz="2000" dirty="0"/>
              <a:t>4</a:t>
            </a:r>
            <a:endParaRPr lang="en-US" sz="2000" dirty="0"/>
          </a:p>
        </p:txBody>
      </p:sp>
      <p:cxnSp>
        <p:nvCxnSpPr>
          <p:cNvPr id="26" name="Straight Arrow Connector 25"/>
          <p:cNvCxnSpPr>
            <a:stCxn id="5" idx="4"/>
            <a:endCxn id="22" idx="0"/>
          </p:cNvCxnSpPr>
          <p:nvPr/>
        </p:nvCxnSpPr>
        <p:spPr>
          <a:xfrm flipH="1">
            <a:off x="2542831" y="3467101"/>
            <a:ext cx="1" cy="909763"/>
          </a:xfrm>
          <a:prstGeom prst="straightConnector1">
            <a:avLst/>
          </a:prstGeom>
          <a:ln w="38100" cmpd="sng">
            <a:solidFill>
              <a:schemeClr val="dk1"/>
            </a:solidFill>
            <a:tailEnd type="stealt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542830" y="3753757"/>
            <a:ext cx="543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050"/>
                </a:solidFill>
              </a:rPr>
              <a:t>10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567542" y="1844329"/>
            <a:ext cx="4272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4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4998" y="3014659"/>
            <a:ext cx="302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7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13282" y="3005789"/>
            <a:ext cx="271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3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213282" y="4453711"/>
            <a:ext cx="362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0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8669" y="1440968"/>
            <a:ext cx="6108700" cy="876300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574157" y="2839133"/>
            <a:ext cx="2579915" cy="718457"/>
          </a:xfrm>
          <a:prstGeom prst="ellipse">
            <a:avLst/>
          </a:prstGeom>
          <a:solidFill>
            <a:schemeClr val="accent1">
              <a:alpha val="4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275142" y="3661424"/>
            <a:ext cx="400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admissible </a:t>
            </a:r>
            <a:r>
              <a:rPr lang="en-US" altLang="zh-CN" sz="2400" b="1" dirty="0"/>
              <a:t>but not consistent</a:t>
            </a:r>
            <a:endParaRPr lang="en-US" sz="2400" b="1" dirty="0"/>
          </a:p>
        </p:txBody>
      </p:sp>
      <p:sp>
        <p:nvSpPr>
          <p:cNvPr id="40" name="Right Arrow 39"/>
          <p:cNvSpPr/>
          <p:nvPr/>
        </p:nvSpPr>
        <p:spPr>
          <a:xfrm>
            <a:off x="8489387" y="3661423"/>
            <a:ext cx="767443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9467630" y="3661422"/>
            <a:ext cx="231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reopen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5532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40" grpId="0" animBg="1"/>
      <p:bldP spid="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7746" y="822446"/>
            <a:ext cx="6766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WA</a:t>
            </a:r>
            <a:r>
              <a:rPr lang="zh-CN" altLang="en-US" sz="3200" b="1" dirty="0"/>
              <a:t>*， </a:t>
            </a:r>
            <a:r>
              <a:rPr lang="en-US" altLang="zh-CN" sz="3200" b="1" dirty="0"/>
              <a:t>A</a:t>
            </a:r>
            <a:r>
              <a:rPr lang="zh-CN" altLang="en-US" sz="3200" b="1" dirty="0"/>
              <a:t>*  </a:t>
            </a:r>
            <a:r>
              <a:rPr lang="en-US" altLang="zh-CN" sz="3200" b="1" dirty="0"/>
              <a:t>may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have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reopen</a:t>
            </a:r>
          </a:p>
          <a:p>
            <a:r>
              <a:rPr lang="en-US" altLang="zh-CN" sz="3200" b="1" dirty="0"/>
              <a:t>Greedy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Best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First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Search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doesn‘t</a:t>
            </a:r>
            <a:r>
              <a:rPr lang="zh-CN" altLang="en-US" sz="3200" b="1" dirty="0"/>
              <a:t> </a:t>
            </a:r>
            <a:r>
              <a:rPr lang="en-US" altLang="zh-CN" sz="3200" b="1" dirty="0"/>
              <a:t>have</a:t>
            </a:r>
            <a:endParaRPr lang="en-US" sz="32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146" y="2657348"/>
            <a:ext cx="6007100" cy="26543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" y="2511298"/>
            <a:ext cx="58928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58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7462" y="934613"/>
            <a:ext cx="7657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Solution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1: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Find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the distance to closest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unvisited goal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565977" y="4445915"/>
            <a:ext cx="5388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Admissible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consistent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07162" y="2244653"/>
          <a:ext cx="214811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8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07162" y="2619002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37150" y="3375563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91679" y="2244653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537150" y="3375563"/>
            <a:ext cx="433614" cy="3429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565977" y="5029200"/>
            <a:ext cx="3828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Complexity of computing h:  O(g)</a:t>
            </a:r>
          </a:p>
        </p:txBody>
      </p:sp>
    </p:spTree>
    <p:extLst>
      <p:ext uri="{BB962C8B-B14F-4D97-AF65-F5344CB8AC3E}">
        <p14:creationId xmlns:p14="http://schemas.microsoft.com/office/powerpoint/2010/main" val="16736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0.00046 C -0.0138 0.00486 -0.02747 0.01042 -0.03307 -0.00046 C -0.03815 -0.01157 -0.03281 -0.04769 -0.03307 -0.06667 C -0.03307 -0.08588 -0.03411 -0.11482 -0.03411 -0.11458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-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82433" y="929658"/>
            <a:ext cx="7657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Solution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2: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Find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the distance to farthest unvisited goal</a:t>
            </a:r>
            <a:endParaRPr lang="en-US" sz="24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07162" y="2244653"/>
          <a:ext cx="214811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8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07162" y="2619002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37150" y="3375563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91679" y="2244653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65977" y="4445915"/>
            <a:ext cx="5388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Admissible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consistent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37150" y="3358927"/>
            <a:ext cx="433614" cy="3429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565977" y="5029200"/>
            <a:ext cx="3828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Complexity of computing h:  O(g)</a:t>
            </a:r>
          </a:p>
        </p:txBody>
      </p:sp>
    </p:spTree>
    <p:extLst>
      <p:ext uri="{BB962C8B-B14F-4D97-AF65-F5344CB8AC3E}">
        <p14:creationId xmlns:p14="http://schemas.microsoft.com/office/powerpoint/2010/main" val="1430651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0.00024 L 0.03242 0.00024 C 0.04401 0.00024 0.06315 0.00903 0.06914 0.00024 C 0.07539 -0.00856 0.06901 -0.03472 0.06914 -0.05208 C 0.0694 -0.06967 0.07057 -0.08611 0.07057 -0.10486 C 0.07057 -0.12337 0.06914 -0.16412 0.06914 -0.16388 " pathEditMode="relative" rAng="0" ptsTypes="AAAA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94" y="-8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7442" y="734786"/>
            <a:ext cx="8742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Solution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3: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sum of distance to each unvisited goal</a:t>
            </a:r>
            <a:endParaRPr lang="en-US" sz="24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107162" y="2244653"/>
          <a:ext cx="2148114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8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107162" y="2619002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37150" y="3375563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91679" y="2244653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37150" y="3358927"/>
            <a:ext cx="433614" cy="3429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65977" y="4445915"/>
            <a:ext cx="5388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Not Admissible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Not consistent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5977" y="5210156"/>
            <a:ext cx="3828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Complexity of computing h:  O(g)</a:t>
            </a:r>
          </a:p>
        </p:txBody>
      </p:sp>
    </p:spTree>
    <p:extLst>
      <p:ext uri="{BB962C8B-B14F-4D97-AF65-F5344CB8AC3E}">
        <p14:creationId xmlns:p14="http://schemas.microsoft.com/office/powerpoint/2010/main" val="195772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3728" y="2237014"/>
            <a:ext cx="45393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h(s) = 0 for all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443" y="734786"/>
            <a:ext cx="6302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Solution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4: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all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zero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073728" y="3314700"/>
            <a:ext cx="53884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Admissible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consistent</a:t>
            </a:r>
          </a:p>
          <a:p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provide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information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all</a:t>
            </a:r>
          </a:p>
          <a:p>
            <a:r>
              <a:rPr lang="en-US" altLang="zh-CN" dirty="0"/>
              <a:t>Bad</a:t>
            </a:r>
            <a:r>
              <a:rPr lang="zh-CN" altLang="en-US" dirty="0"/>
              <a:t> </a:t>
            </a:r>
            <a:r>
              <a:rPr lang="en-US" altLang="zh-CN" dirty="0"/>
              <a:t>heuristic</a:t>
            </a:r>
            <a:r>
              <a:rPr lang="zh-CN" altLang="en-US" dirty="0"/>
              <a:t> </a:t>
            </a:r>
            <a:r>
              <a:rPr lang="en-US" altLang="zh-CN" dirty="0"/>
              <a:t>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4599" y="4878483"/>
            <a:ext cx="3828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Complexity of computing h</a:t>
            </a:r>
            <a:r>
              <a:rPr lang="en-US"/>
              <a:t>:  O(1)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52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DBA41-AA72-2D10-1592-D8EDF0288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82248A-0551-3F34-E9FB-86462021D856}"/>
              </a:ext>
            </a:extLst>
          </p:cNvPr>
          <p:cNvSpPr txBox="1"/>
          <p:nvPr/>
        </p:nvSpPr>
        <p:spPr>
          <a:xfrm>
            <a:off x="2004599" y="2286588"/>
            <a:ext cx="9565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h(s) = </a:t>
            </a:r>
            <a:r>
              <a:rPr lang="en-US" altLang="zh-CN" sz="4000" b="1" dirty="0"/>
              <a:t>goal</a:t>
            </a:r>
            <a:r>
              <a:rPr lang="zh-CN" altLang="en-US" sz="4000" b="1" dirty="0"/>
              <a:t> </a:t>
            </a:r>
            <a:r>
              <a:rPr lang="en-US" altLang="zh-CN" sz="4000" b="1" dirty="0"/>
              <a:t>counting</a:t>
            </a:r>
            <a:endParaRPr lang="en-US" sz="4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A0FE10-A426-D0EC-16B4-81DCADABAC80}"/>
              </a:ext>
            </a:extLst>
          </p:cNvPr>
          <p:cNvSpPr txBox="1"/>
          <p:nvPr/>
        </p:nvSpPr>
        <p:spPr>
          <a:xfrm>
            <a:off x="779635" y="832322"/>
            <a:ext cx="6302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Solution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5:</a:t>
            </a:r>
            <a:r>
              <a:rPr lang="zh-CN" altLang="en-US" sz="2400" b="1" dirty="0"/>
              <a:t> 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E8663E-45DB-7581-C293-D638F973C8FA}"/>
              </a:ext>
            </a:extLst>
          </p:cNvPr>
          <p:cNvSpPr txBox="1"/>
          <p:nvPr/>
        </p:nvSpPr>
        <p:spPr>
          <a:xfrm>
            <a:off x="2004599" y="4051083"/>
            <a:ext cx="5388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Goal</a:t>
            </a:r>
            <a:r>
              <a:rPr lang="zh-CN" altLang="en-US" b="1" dirty="0"/>
              <a:t> </a:t>
            </a:r>
            <a:r>
              <a:rPr lang="en-US" altLang="zh-CN" b="1" dirty="0"/>
              <a:t>counting</a:t>
            </a:r>
            <a:r>
              <a:rPr lang="zh-CN" altLang="en-US" b="1" dirty="0"/>
              <a:t> </a:t>
            </a:r>
            <a:r>
              <a:rPr lang="en-US" altLang="zh-CN" b="1" dirty="0"/>
              <a:t>is</a:t>
            </a:r>
            <a:r>
              <a:rPr lang="zh-CN" altLang="en-US" b="1" dirty="0"/>
              <a:t> </a:t>
            </a:r>
            <a:r>
              <a:rPr lang="en-US" altLang="zh-CN" b="1" dirty="0"/>
              <a:t>not</a:t>
            </a:r>
            <a:r>
              <a:rPr lang="zh-CN" altLang="en-US" b="1" dirty="0"/>
              <a:t> </a:t>
            </a:r>
            <a:r>
              <a:rPr lang="en-US" altLang="zh-CN" b="1" dirty="0"/>
              <a:t>admissible, not</a:t>
            </a:r>
            <a:r>
              <a:rPr lang="zh-CN" altLang="en-US" b="1" dirty="0"/>
              <a:t> </a:t>
            </a:r>
            <a:r>
              <a:rPr lang="en-US" altLang="zh-CN" b="1" dirty="0"/>
              <a:t>consistent</a:t>
            </a:r>
            <a:r>
              <a:rPr lang="zh-CN" altLang="en-US" b="1" dirty="0"/>
              <a:t> 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9AF2A-075A-560B-682A-6F4FFDF3C448}"/>
              </a:ext>
            </a:extLst>
          </p:cNvPr>
          <p:cNvSpPr txBox="1"/>
          <p:nvPr/>
        </p:nvSpPr>
        <p:spPr>
          <a:xfrm>
            <a:off x="2004599" y="4878483"/>
            <a:ext cx="3828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Complexity of computing h:  O(g)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759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7443" y="734786"/>
            <a:ext cx="6302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Solution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7: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 Minimum Spanning Tree</a:t>
            </a:r>
            <a:endParaRPr lang="en-US" sz="24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72576" y="2322666"/>
          <a:ext cx="2148114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8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406189" y="3449156"/>
            <a:ext cx="433614" cy="3429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273422" y="4565956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273422" y="2338995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2850687" y="3572001"/>
            <a:ext cx="650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511998" y="2665566"/>
            <a:ext cx="1" cy="896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06190" y="5292698"/>
            <a:ext cx="1300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h</a:t>
            </a:r>
            <a:r>
              <a:rPr lang="en-US" dirty="0" err="1"/>
              <a:t>MST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10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7466915" y="5192040"/>
            <a:ext cx="1094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h*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11</a:t>
            </a:r>
            <a:endParaRPr lang="en-US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2839803" y="3659085"/>
            <a:ext cx="6721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511998" y="3659085"/>
            <a:ext cx="0" cy="9068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6713304" y="2325150"/>
          <a:ext cx="2148114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8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7146917" y="3451640"/>
            <a:ext cx="433614" cy="3429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8014150" y="4568440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8014150" y="2341479"/>
            <a:ext cx="433614" cy="34290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Connector 59"/>
          <p:cNvCxnSpPr/>
          <p:nvPr/>
        </p:nvCxnSpPr>
        <p:spPr>
          <a:xfrm>
            <a:off x="7591415" y="3574485"/>
            <a:ext cx="650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8252726" y="2668050"/>
            <a:ext cx="1" cy="896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8350700" y="2665566"/>
            <a:ext cx="0" cy="1902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230908" y="5985699"/>
            <a:ext cx="3360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Admissible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consistent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35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2371" y="734786"/>
            <a:ext cx="28248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Dominate?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9814" y="2024743"/>
            <a:ext cx="6743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</a:t>
            </a:r>
            <a:r>
              <a:rPr lang="en-US" sz="2400" baseline="-25000" dirty="0" err="1"/>
              <a:t>mst</a:t>
            </a:r>
            <a:r>
              <a:rPr lang="en-US" sz="2400" dirty="0"/>
              <a:t> dominates </a:t>
            </a:r>
            <a:r>
              <a:rPr lang="en-US" sz="2400" dirty="0" err="1"/>
              <a:t>h</a:t>
            </a:r>
            <a:r>
              <a:rPr lang="en-US" sz="2400" baseline="-25000" dirty="0" err="1"/>
              <a:t>farthest</a:t>
            </a:r>
            <a:r>
              <a:rPr lang="en-US" sz="2400" dirty="0"/>
              <a:t> dominates </a:t>
            </a:r>
            <a:r>
              <a:rPr lang="en-US" sz="2400" dirty="0" err="1"/>
              <a:t>h</a:t>
            </a:r>
            <a:r>
              <a:rPr lang="en-US" sz="2400" baseline="-25000" dirty="0" err="1"/>
              <a:t>closest</a:t>
            </a:r>
            <a:r>
              <a:rPr lang="en-US" sz="2400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9814" y="2853035"/>
            <a:ext cx="44413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</a:t>
            </a:r>
            <a:r>
              <a:rPr lang="en-US" sz="2400" baseline="-25000" dirty="0" err="1"/>
              <a:t>mst</a:t>
            </a:r>
            <a:r>
              <a:rPr lang="en-US" sz="2400" dirty="0"/>
              <a:t> dominates </a:t>
            </a:r>
            <a:r>
              <a:rPr lang="en-US" sz="2400" dirty="0" err="1"/>
              <a:t>h</a:t>
            </a:r>
            <a:r>
              <a:rPr lang="en-US" sz="2400" baseline="-25000" dirty="0" err="1"/>
              <a:t>goal</a:t>
            </a:r>
            <a:r>
              <a:rPr lang="en-US" sz="2400" baseline="-25000" dirty="0"/>
              <a:t>-counting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890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7794</TotalTime>
  <Words>960</Words>
  <Application>Microsoft Macintosh PowerPoint</Application>
  <PresentationFormat>Widescreen</PresentationFormat>
  <Paragraphs>233</Paragraphs>
  <Slides>30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Wingdings</vt:lpstr>
      <vt:lpstr>Office Theme</vt:lpstr>
      <vt:lpstr>COMP90054 AI Planning for Autonomy    Workshop4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COMP90054 AI Planning for Autonomy    Workshop2</dc:title>
  <dc:creator>Name</dc:creator>
  <cp:lastModifiedBy>Chao Lei</cp:lastModifiedBy>
  <cp:revision>186</cp:revision>
  <dcterms:created xsi:type="dcterms:W3CDTF">2018-07-31T11:53:33Z</dcterms:created>
  <dcterms:modified xsi:type="dcterms:W3CDTF">2026-08-20T11:51:19Z</dcterms:modified>
</cp:coreProperties>
</file>