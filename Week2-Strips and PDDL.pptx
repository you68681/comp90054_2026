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8"/>
  </p:notesMasterIdLst>
  <p:sldIdLst>
    <p:sldId id="257" r:id="rId2"/>
    <p:sldId id="276" r:id="rId3"/>
    <p:sldId id="278" r:id="rId4"/>
    <p:sldId id="280" r:id="rId5"/>
    <p:sldId id="281" r:id="rId6"/>
    <p:sldId id="282" r:id="rId7"/>
    <p:sldId id="283" r:id="rId8"/>
    <p:sldId id="284" r:id="rId9"/>
    <p:sldId id="285" r:id="rId10"/>
    <p:sldId id="259" r:id="rId11"/>
    <p:sldId id="261" r:id="rId12"/>
    <p:sldId id="262" r:id="rId13"/>
    <p:sldId id="264" r:id="rId14"/>
    <p:sldId id="266" r:id="rId15"/>
    <p:sldId id="265" r:id="rId16"/>
    <p:sldId id="268" r:id="rId17"/>
    <p:sldId id="269" r:id="rId18"/>
    <p:sldId id="270" r:id="rId19"/>
    <p:sldId id="267" r:id="rId20"/>
    <p:sldId id="277" r:id="rId21"/>
    <p:sldId id="272" r:id="rId22"/>
    <p:sldId id="273" r:id="rId23"/>
    <p:sldId id="274" r:id="rId24"/>
    <p:sldId id="279" r:id="rId25"/>
    <p:sldId id="271" r:id="rId26"/>
    <p:sldId id="263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978"/>
    <p:restoredTop sz="80685"/>
  </p:normalViewPr>
  <p:slideViewPr>
    <p:cSldViewPr snapToGrid="0" snapToObjects="1">
      <p:cViewPr varScale="1">
        <p:scale>
          <a:sx n="101" d="100"/>
          <a:sy n="101" d="100"/>
        </p:scale>
        <p:origin x="171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B7CA93-D973-6647-B74A-86F5895BDE75}" type="datetimeFigureOut">
              <a:rPr lang="en-US" smtClean="0"/>
              <a:t>8/5/26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AA9A21F-BAA6-4845-A19D-4A279AF07B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02735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CD3872-3305-76C3-B9F1-BE977C48D1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E12C131-6ABF-47B3-76DD-50F183F769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E6B60E-B635-EBF2-A106-491F80F6C0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B865C0-9C82-867F-C0D9-687303B52FE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AA9A21F-BAA6-4845-A19D-4A279AF07B9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26645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1933C0-18AC-3778-4ED0-111053C4AB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90C2301-5B2D-6F10-03D3-91E19334C0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C0ED5A5-02D0-BFBB-A683-8CAD33FEEA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13D354-3BBA-1CF3-B31B-F201419043A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AA9A21F-BAA6-4845-A19D-4A279AF07B9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88089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57EEDD-2D04-5639-D22F-6D7CF210ED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36C8728-F9D5-1E77-1BC7-1BCB88D315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188A730-6D18-EDFC-AD68-B73B2F443C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E05BEB-AAFF-0CC0-BF2E-59E512851A6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AA9A21F-BAA6-4845-A19D-4A279AF07B9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592813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14DB31-BD81-DF9E-81E7-7445DA0611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B25D826-DA4F-E4C0-433A-01D83C5824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0785AF3-E013-A9FA-1333-4ED55CC0C1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9DBE88-10BB-CD7A-4C4E-1711AB1D31B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AA9A21F-BAA6-4845-A19D-4A279AF07B9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25679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869107-4E1F-94CE-5297-95495D536E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76D8D11-D47A-CD39-7111-FE37C369B2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4500747-6534-5914-20C2-201C60D1AB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DB6D5-3C5D-5150-E9CF-8FF88F395A9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AA9A21F-BAA6-4845-A19D-4A279AF07B9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483979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C18D16-F750-B594-3F3D-3E7F546505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CCAB1A-33FE-A9AA-FDD3-ED6ECC1F34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4B80869-BE26-6F54-CEC3-07A312AF42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86E412-9C7B-E653-D836-A9D4FB64887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AA9A21F-BAA6-4845-A19D-4A279AF07B9C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128214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C77BE1-4415-E4E7-7AAC-520AA6D0D3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86264D6-DDE6-BF21-1F9C-295A0703A1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4AA1CCD-A97B-801B-A5BD-1DBF5A2BF3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4012F5-2A58-C614-1DBD-D5635965B89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AA9A21F-BAA6-4845-A19D-4A279AF07B9C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62623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AA9A21F-BAA6-4845-A19D-4A279AF07B9C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304257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b="1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AA9A21F-BAA6-4845-A19D-4A279AF07B9C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063665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pickup(pick up from table)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AA9A21F-BAA6-4845-A19D-4A279AF07B9C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703444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pickup(pick up from table)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AA9A21F-BAA6-4845-A19D-4A279AF07B9C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366908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AA9A21F-BAA6-4845-A19D-4A279AF07B9C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393780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AA9A21F-BAA6-4845-A19D-4A279AF07B9C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534915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AA9A21F-BAA6-4845-A19D-4A279AF07B9C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416208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AA9A21F-BAA6-4845-A19D-4A279AF07B9C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323726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b="1" baseline="0" dirty="0"/>
              <a:t>4 operators here, we can also define this problem using just 2 operators.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AA9A21F-BAA6-4845-A19D-4A279AF07B9C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604932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AA9A21F-BAA6-4845-A19D-4A279AF07B9C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633412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AA9A21F-BAA6-4845-A19D-4A279AF07B9C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980930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AA9A21F-BAA6-4845-A19D-4A279AF07B9C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37707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AA9A21F-BAA6-4845-A19D-4A279AF07B9C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272970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base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AA9A21F-BAA6-4845-A19D-4A279AF07B9C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79938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FE3F44-EABA-2C4D-A5F3-929427B9ECE4}" type="datetimeFigureOut">
              <a:rPr lang="en-US" smtClean="0"/>
              <a:t>8/5/26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CD9D8-5547-EE40-A73D-20BA87BB69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57018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FE3F44-EABA-2C4D-A5F3-929427B9ECE4}" type="datetimeFigureOut">
              <a:rPr lang="en-US" smtClean="0"/>
              <a:t>8/5/26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CD9D8-5547-EE40-A73D-20BA87BB69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99252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FE3F44-EABA-2C4D-A5F3-929427B9ECE4}" type="datetimeFigureOut">
              <a:rPr lang="en-US" smtClean="0"/>
              <a:t>8/5/26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CD9D8-5547-EE40-A73D-20BA87BB69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63410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FE3F44-EABA-2C4D-A5F3-929427B9ECE4}" type="datetimeFigureOut">
              <a:rPr lang="en-US" smtClean="0"/>
              <a:t>8/5/26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CD9D8-5547-EE40-A73D-20BA87BB69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61551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FE3F44-EABA-2C4D-A5F3-929427B9ECE4}" type="datetimeFigureOut">
              <a:rPr lang="en-US" smtClean="0"/>
              <a:t>8/5/26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CD9D8-5547-EE40-A73D-20BA87BB69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94197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FE3F44-EABA-2C4D-A5F3-929427B9ECE4}" type="datetimeFigureOut">
              <a:rPr lang="en-US" smtClean="0"/>
              <a:t>8/5/26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CD9D8-5547-EE40-A73D-20BA87BB69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91070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FE3F44-EABA-2C4D-A5F3-929427B9ECE4}" type="datetimeFigureOut">
              <a:rPr lang="en-US" smtClean="0"/>
              <a:t>8/5/26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CD9D8-5547-EE40-A73D-20BA87BB69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75481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FE3F44-EABA-2C4D-A5F3-929427B9ECE4}" type="datetimeFigureOut">
              <a:rPr lang="en-US" smtClean="0"/>
              <a:t>8/5/26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CD9D8-5547-EE40-A73D-20BA87BB69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9847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FE3F44-EABA-2C4D-A5F3-929427B9ECE4}" type="datetimeFigureOut">
              <a:rPr lang="en-US" smtClean="0"/>
              <a:t>8/5/26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CD9D8-5547-EE40-A73D-20BA87BB69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25957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FE3F44-EABA-2C4D-A5F3-929427B9ECE4}" type="datetimeFigureOut">
              <a:rPr lang="en-US" smtClean="0"/>
              <a:t>8/5/26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CD9D8-5547-EE40-A73D-20BA87BB69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26725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FE3F44-EABA-2C4D-A5F3-929427B9ECE4}" type="datetimeFigureOut">
              <a:rPr lang="en-US" smtClean="0"/>
              <a:t>8/5/26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CD9D8-5547-EE40-A73D-20BA87BB69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1782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FE3F44-EABA-2C4D-A5F3-929427B9ECE4}" type="datetimeFigureOut">
              <a:rPr lang="en-US" smtClean="0"/>
              <a:t>8/5/26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FCD9D8-5547-EE40-A73D-20BA87BB69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97990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5" Type="http://schemas.microsoft.com/office/2007/relationships/hdphoto" Target="../media/hdphoto2.wdp"/><Relationship Id="rId4" Type="http://schemas.microsoft.com/office/2007/relationships/hdphoto" Target="../media/hdphoto1.wdp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2.png"/><Relationship Id="rId4" Type="http://schemas.microsoft.com/office/2007/relationships/hdphoto" Target="../media/hdphoto3.wdp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microsoft.com/office/2007/relationships/hdphoto" Target="../media/hdphoto4.wdp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0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microsoft.com/office/2007/relationships/hdphoto" Target="../media/hdphoto5.wdp"/><Relationship Id="rId9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microsoft.com/office/2007/relationships/hdphoto" Target="../media/hdphoto6.wdp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10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microsoft.com/office/2007/relationships/hdphoto" Target="../media/hdphoto5.wdp"/><Relationship Id="rId9" Type="http://schemas.openxmlformats.org/officeDocument/2006/relationships/image" Target="../media/image18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0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microsoft.com/office/2007/relationships/hdphoto" Target="../media/hdphoto6.wdp"/><Relationship Id="rId9" Type="http://schemas.openxmlformats.org/officeDocument/2006/relationships/image" Target="../media/image21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0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microsoft.com/office/2007/relationships/hdphoto" Target="../media/hdphoto5.wdp"/><Relationship Id="rId9" Type="http://schemas.openxmlformats.org/officeDocument/2006/relationships/image" Target="../media/image24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10.png"/><Relationship Id="rId7" Type="http://schemas.openxmlformats.org/officeDocument/2006/relationships/image" Target="../media/image27.png"/><Relationship Id="rId12" Type="http://schemas.openxmlformats.org/officeDocument/2006/relationships/image" Target="../media/image3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png"/><Relationship Id="rId11" Type="http://schemas.openxmlformats.org/officeDocument/2006/relationships/image" Target="../media/image31.png"/><Relationship Id="rId5" Type="http://schemas.openxmlformats.org/officeDocument/2006/relationships/image" Target="../media/image25.png"/><Relationship Id="rId10" Type="http://schemas.openxmlformats.org/officeDocument/2006/relationships/image" Target="../media/image30.png"/><Relationship Id="rId4" Type="http://schemas.microsoft.com/office/2007/relationships/hdphoto" Target="../media/hdphoto7.wdp"/><Relationship Id="rId9" Type="http://schemas.openxmlformats.org/officeDocument/2006/relationships/image" Target="../media/image29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Planning_Domain_Definition_Language" TargetMode="Externa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7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79029" y="1691988"/>
            <a:ext cx="9144000" cy="2387600"/>
          </a:xfrm>
        </p:spPr>
        <p:txBody>
          <a:bodyPr>
            <a:normAutofit/>
          </a:bodyPr>
          <a:lstStyle/>
          <a:p>
            <a:r>
              <a:rPr lang="en-US" sz="4400" dirty="0"/>
              <a:t>COMP90054 AI Planning for Autonomy </a:t>
            </a:r>
            <a:br>
              <a:rPr lang="en-US" sz="4400" dirty="0"/>
            </a:br>
            <a:br>
              <a:rPr lang="en-US" sz="4400" dirty="0"/>
            </a:br>
            <a:r>
              <a:rPr lang="en-US" sz="4400" dirty="0"/>
              <a:t> Workshop Week2</a:t>
            </a:r>
          </a:p>
        </p:txBody>
      </p:sp>
    </p:spTree>
    <p:extLst>
      <p:ext uri="{BB962C8B-B14F-4D97-AF65-F5344CB8AC3E}">
        <p14:creationId xmlns:p14="http://schemas.microsoft.com/office/powerpoint/2010/main" val="11255355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949602" y="2868258"/>
            <a:ext cx="924893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sz="2400" dirty="0"/>
              <a:t>Strips</a:t>
            </a:r>
          </a:p>
          <a:p>
            <a:pPr marL="342900" indent="-342900">
              <a:buAutoNum type="arabicPeriod"/>
            </a:pPr>
            <a:r>
              <a:rPr lang="en-US" sz="2400" dirty="0"/>
              <a:t>PDDL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0445" y="1597547"/>
            <a:ext cx="26082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/>
              <a:t>Objectives</a:t>
            </a:r>
            <a:endParaRPr lang="en-US" sz="2800" b="1" dirty="0"/>
          </a:p>
        </p:txBody>
      </p:sp>
      <p:sp>
        <p:nvSpPr>
          <p:cNvPr id="5" name="TextBox 4"/>
          <p:cNvSpPr txBox="1"/>
          <p:nvPr/>
        </p:nvSpPr>
        <p:spPr>
          <a:xfrm>
            <a:off x="1504994" y="2425314"/>
            <a:ext cx="19019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This week</a:t>
            </a:r>
          </a:p>
        </p:txBody>
      </p:sp>
    </p:spTree>
    <p:extLst>
      <p:ext uri="{BB962C8B-B14F-4D97-AF65-F5344CB8AC3E}">
        <p14:creationId xmlns:p14="http://schemas.microsoft.com/office/powerpoint/2010/main" val="318567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D2B479-3B87-5865-9DE0-F466BA5A01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663FA84-B199-AB2A-91CF-6B59F677F2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3100" y="519953"/>
            <a:ext cx="9137323" cy="5827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31285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393635-78B8-7A2C-3CA4-D724F6E747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BE32314-5CCB-DA67-F980-31465B516B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5439" y="231968"/>
            <a:ext cx="6890721" cy="6213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51574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EE6AE7-A59C-947A-FEF2-A5269AAD4C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91202CB-AC69-BD13-B074-9002C36742D2}"/>
                  </a:ext>
                </a:extLst>
              </p:cNvPr>
              <p:cNvSpPr txBox="1"/>
              <p:nvPr/>
            </p:nvSpPr>
            <p:spPr>
              <a:xfrm>
                <a:off x="304800" y="1450221"/>
                <a:ext cx="12052300" cy="395755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342900" lvl="0" indent="-342900" algn="l">
                  <a:buFont typeface="Arial" panose="020B0604020202020204" pitchFamily="34" charset="0"/>
                  <a:buChar char="•"/>
                </a:pPr>
                <a:r>
                  <a:rPr lang="en-AU" sz="2000" b="0" i="0" dirty="0">
                    <a:solidFill>
                      <a:srgbClr val="222222"/>
                    </a:solidFill>
                    <a:effectLst/>
                    <a:latin typeface="Open Sans" panose="020B0606030504020204" pitchFamily="34" charset="0"/>
                  </a:rPr>
                  <a:t>The set of all propositions (facts): </a:t>
                </a:r>
                <a14:m>
                  <m:oMath xmlns:m="http://schemas.openxmlformats.org/officeDocument/2006/math">
                    <m:r>
                      <a:rPr lang="en-AU" sz="3600" i="1"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endParaRPr lang="en-AU" sz="2000" b="0" i="0" dirty="0">
                  <a:solidFill>
                    <a:srgbClr val="222222"/>
                  </a:solidFill>
                  <a:effectLst/>
                  <a:latin typeface="Open Sans" panose="020B0606030504020204" pitchFamily="34" charset="0"/>
                </a:endParaRPr>
              </a:p>
              <a:p>
                <a:pPr marL="342900" lvl="0" indent="-342900" algn="l">
                  <a:buFont typeface="Arial" panose="020B0604020202020204" pitchFamily="34" charset="0"/>
                  <a:buChar char="•"/>
                </a:pPr>
                <a:r>
                  <a:rPr lang="en-AU" sz="2000" b="0" i="0" dirty="0">
                    <a:solidFill>
                      <a:srgbClr val="222222"/>
                    </a:solidFill>
                    <a:effectLst/>
                    <a:latin typeface="Open Sans" panose="020B0606030504020204" pitchFamily="34" charset="0"/>
                  </a:rPr>
                  <a:t>The set of all propositions that are initially true: </a:t>
                </a:r>
                <a14:m>
                  <m:oMath xmlns:m="http://schemas.openxmlformats.org/officeDocument/2006/math">
                    <m:r>
                      <a:rPr lang="en-AU" sz="3600" i="1"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endParaRPr lang="en-AU" sz="2000" b="0" i="0" dirty="0">
                  <a:solidFill>
                    <a:srgbClr val="222222"/>
                  </a:solidFill>
                  <a:effectLst/>
                  <a:latin typeface="Open Sans" panose="020B0606030504020204" pitchFamily="34" charset="0"/>
                </a:endParaRPr>
              </a:p>
              <a:p>
                <a:pPr marL="342900" lvl="0" indent="-342900" algn="l">
                  <a:buFont typeface="Arial" panose="020B0604020202020204" pitchFamily="34" charset="0"/>
                  <a:buChar char="•"/>
                </a:pPr>
                <a:r>
                  <a:rPr lang="en-AU" sz="2000" b="0" i="0" dirty="0">
                    <a:solidFill>
                      <a:srgbClr val="222222"/>
                    </a:solidFill>
                    <a:effectLst/>
                    <a:latin typeface="Open Sans" panose="020B0606030504020204" pitchFamily="34" charset="0"/>
                  </a:rPr>
                  <a:t>The set of all propositions that need to be true (at goal): </a:t>
                </a:r>
                <a14:m>
                  <m:oMath xmlns:m="http://schemas.openxmlformats.org/officeDocument/2006/math">
                    <m:r>
                      <a:rPr lang="en-AU" sz="3600" i="1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endParaRPr lang="en-AU" sz="2000" b="0" i="0" dirty="0">
                  <a:solidFill>
                    <a:srgbClr val="222222"/>
                  </a:solidFill>
                  <a:effectLst/>
                  <a:latin typeface="Open Sans" panose="020B0606030504020204" pitchFamily="34" charset="0"/>
                </a:endParaRPr>
              </a:p>
              <a:p>
                <a:pPr marL="342900" lvl="0" indent="-342900" algn="l">
                  <a:buFont typeface="Arial" panose="020B0604020202020204" pitchFamily="34" charset="0"/>
                  <a:buChar char="•"/>
                </a:pPr>
                <a:r>
                  <a:rPr lang="en-AU" sz="2000" b="0" i="0" dirty="0">
                    <a:solidFill>
                      <a:srgbClr val="222222"/>
                    </a:solidFill>
                    <a:effectLst/>
                    <a:latin typeface="Open Sans" panose="020B0606030504020204" pitchFamily="34" charset="0"/>
                  </a:rPr>
                  <a:t>The set of all operators </a:t>
                </a:r>
                <a14:m>
                  <m:oMath xmlns:m="http://schemas.openxmlformats.org/officeDocument/2006/math">
                    <m:r>
                      <a:rPr lang="en-AU" sz="3600" i="1"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lang="en-AU" sz="2000" b="0" i="0" dirty="0">
                    <a:solidFill>
                      <a:srgbClr val="222222"/>
                    </a:solidFill>
                    <a:effectLst/>
                    <a:latin typeface="Open Sans" panose="020B0606030504020204" pitchFamily="34" charset="0"/>
                  </a:rPr>
                  <a:t>, for each operator;</a:t>
                </a:r>
              </a:p>
              <a:p>
                <a:pPr marL="742950" lvl="1" indent="-285750" algn="l">
                  <a:buFont typeface="Arial" panose="020B0604020202020204" pitchFamily="34" charset="0"/>
                  <a:buChar char="•"/>
                </a:pPr>
                <a:r>
                  <a:rPr lang="en-AU" sz="2000" b="0" i="0" dirty="0">
                    <a:solidFill>
                      <a:srgbClr val="222222"/>
                    </a:solidFill>
                    <a:effectLst/>
                    <a:latin typeface="Open Sans" panose="020B0606030504020204" pitchFamily="34" charset="0"/>
                  </a:rPr>
                  <a:t>The set of all propositions needed to be true to perform this operator: </a:t>
                </a:r>
                <a14:m>
                  <m:oMath xmlns:m="http://schemas.openxmlformats.org/officeDocument/2006/math">
                    <m:r>
                      <a:rPr lang="en-AU" sz="3600" i="1">
                        <a:latin typeface="Cambria Math" panose="02040503050406030204" pitchFamily="18" charset="0"/>
                      </a:rPr>
                      <m:t>𝑝𝑟𝑒</m:t>
                    </m:r>
                    <m:d>
                      <m:dPr>
                        <m:ctrlPr>
                          <a:rPr lang="en-AU" sz="3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sz="3600" i="1">
                            <a:latin typeface="Cambria Math" panose="02040503050406030204" pitchFamily="18" charset="0"/>
                          </a:rPr>
                          <m:t>𝑜</m:t>
                        </m:r>
                      </m:e>
                    </m:d>
                  </m:oMath>
                </a14:m>
                <a:endParaRPr lang="en-AU" sz="2000" b="0" i="0" dirty="0">
                  <a:solidFill>
                    <a:srgbClr val="222222"/>
                  </a:solidFill>
                  <a:effectLst/>
                  <a:latin typeface="Open Sans" panose="020B0606030504020204" pitchFamily="34" charset="0"/>
                </a:endParaRPr>
              </a:p>
              <a:p>
                <a:pPr marL="742950" lvl="1" indent="-285750" algn="l">
                  <a:buFont typeface="Arial" panose="020B0604020202020204" pitchFamily="34" charset="0"/>
                  <a:buChar char="•"/>
                </a:pPr>
                <a:r>
                  <a:rPr lang="en-AU" sz="2000" b="0" i="0" dirty="0">
                    <a:solidFill>
                      <a:srgbClr val="222222"/>
                    </a:solidFill>
                    <a:effectLst/>
                    <a:latin typeface="Open Sans" panose="020B0606030504020204" pitchFamily="34" charset="0"/>
                  </a:rPr>
                  <a:t>The set of all propositions that become true after performing this operator: </a:t>
                </a:r>
                <a14:m>
                  <m:oMath xmlns:m="http://schemas.openxmlformats.org/officeDocument/2006/math">
                    <m:r>
                      <a:rPr lang="en-AU" sz="3600" i="1">
                        <a:latin typeface="Cambria Math" panose="02040503050406030204" pitchFamily="18" charset="0"/>
                      </a:rPr>
                      <m:t>𝑎𝑑𝑑</m:t>
                    </m:r>
                    <m:d>
                      <m:dPr>
                        <m:ctrlPr>
                          <a:rPr lang="en-AU" sz="3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sz="3600" i="1">
                            <a:latin typeface="Cambria Math" panose="02040503050406030204" pitchFamily="18" charset="0"/>
                          </a:rPr>
                          <m:t>𝑜</m:t>
                        </m:r>
                      </m:e>
                    </m:d>
                  </m:oMath>
                </a14:m>
                <a:endParaRPr lang="en-AU" sz="2000" b="0" i="0" dirty="0">
                  <a:solidFill>
                    <a:srgbClr val="222222"/>
                  </a:solidFill>
                  <a:effectLst/>
                  <a:latin typeface="Open Sans" panose="020B0606030504020204" pitchFamily="34" charset="0"/>
                </a:endParaRPr>
              </a:p>
              <a:p>
                <a:pPr marL="742950" lvl="1" indent="-285750" algn="l">
                  <a:buFont typeface="Arial" panose="020B0604020202020204" pitchFamily="34" charset="0"/>
                  <a:buChar char="•"/>
                </a:pPr>
                <a:r>
                  <a:rPr lang="en-AU" sz="2000" b="0" i="0" dirty="0">
                    <a:solidFill>
                      <a:srgbClr val="222222"/>
                    </a:solidFill>
                    <a:effectLst/>
                    <a:latin typeface="Open Sans" panose="020B0606030504020204" pitchFamily="34" charset="0"/>
                  </a:rPr>
                  <a:t>The set of all propositions that become false after performing this operator: </a:t>
                </a:r>
                <a14:m>
                  <m:oMath xmlns:m="http://schemas.openxmlformats.org/officeDocument/2006/math">
                    <m:r>
                      <a:rPr lang="en-AU" sz="3600" i="1">
                        <a:latin typeface="Cambria Math" panose="02040503050406030204" pitchFamily="18" charset="0"/>
                      </a:rPr>
                      <m:t>𝑑𝑒𝑙</m:t>
                    </m:r>
                    <m:d>
                      <m:dPr>
                        <m:ctrlPr>
                          <a:rPr lang="en-AU" sz="3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sz="3600" i="1">
                            <a:latin typeface="Cambria Math" panose="02040503050406030204" pitchFamily="18" charset="0"/>
                          </a:rPr>
                          <m:t>𝑜</m:t>
                        </m:r>
                      </m:e>
                    </m:d>
                  </m:oMath>
                </a14:m>
                <a:endParaRPr lang="en-AU" sz="2000" b="0" i="0" dirty="0">
                  <a:solidFill>
                    <a:srgbClr val="222222"/>
                  </a:solidFill>
                  <a:effectLst/>
                  <a:latin typeface="Open Sans" panose="020B0606030504020204" pitchFamily="34" charset="0"/>
                </a:endParaRP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91202CB-AC69-BD13-B074-9002C36742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800" y="1450221"/>
                <a:ext cx="12052300" cy="3957558"/>
              </a:xfrm>
              <a:prstGeom prst="rect">
                <a:avLst/>
              </a:prstGeom>
              <a:blipFill>
                <a:blip r:embed="rId3"/>
                <a:stretch>
                  <a:fillRect l="-421" b="-6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0E924241-3848-15D4-7EF9-18558A5D901B}"/>
              </a:ext>
            </a:extLst>
          </p:cNvPr>
          <p:cNvSpPr txBox="1"/>
          <p:nvPr/>
        </p:nvSpPr>
        <p:spPr>
          <a:xfrm>
            <a:off x="304800" y="803890"/>
            <a:ext cx="617855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3600" b="0" i="0" dirty="0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STRIPS</a:t>
            </a:r>
            <a:endParaRPr lang="en-US" sz="5400" dirty="0"/>
          </a:p>
        </p:txBody>
      </p:sp>
    </p:spTree>
    <p:extLst>
      <p:ext uri="{BB962C8B-B14F-4D97-AF65-F5344CB8AC3E}">
        <p14:creationId xmlns:p14="http://schemas.microsoft.com/office/powerpoint/2010/main" val="10550375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FC98F1-490E-32E9-47D0-0E436CD1BD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13970A2-7F8A-DC23-CC3B-C8092358FA17}"/>
                  </a:ext>
                </a:extLst>
              </p:cNvPr>
              <p:cNvSpPr txBox="1"/>
              <p:nvPr/>
            </p:nvSpPr>
            <p:spPr>
              <a:xfrm>
                <a:off x="241300" y="174897"/>
                <a:ext cx="11531600" cy="209384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indent="0" algn="l">
                  <a:buNone/>
                </a:pPr>
                <a:r>
                  <a:rPr lang="en-AU" sz="1600" b="0" i="0" dirty="0">
                    <a:solidFill>
                      <a:srgbClr val="222222"/>
                    </a:solidFill>
                    <a:effectLst/>
                    <a:latin typeface="Open Sans" panose="020B0606030504020204" pitchFamily="34" charset="0"/>
                  </a:rPr>
                  <a:t>Your task is to define the Travelling Salesman Problem (TSP) using the STRIPS formalism. </a:t>
                </a:r>
              </a:p>
              <a:p>
                <a:pPr indent="0" algn="l">
                  <a:buNone/>
                </a:pPr>
                <a:r>
                  <a:rPr lang="en-AU" sz="1600" b="0" i="0" dirty="0">
                    <a:solidFill>
                      <a:srgbClr val="222222"/>
                    </a:solidFill>
                    <a:effectLst/>
                    <a:latin typeface="Open Sans" panose="020B0606030504020204" pitchFamily="34" charset="0"/>
                  </a:rPr>
                  <a:t>Consider a set of cities </a:t>
                </a:r>
                <a14:m>
                  <m:oMath xmlns:m="http://schemas.openxmlformats.org/officeDocument/2006/math">
                    <m:r>
                      <a:rPr lang="en-AU" sz="2800" i="1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AU" sz="1600" b="0" i="0" dirty="0">
                    <a:solidFill>
                      <a:srgbClr val="222222"/>
                    </a:solidFill>
                    <a:effectLst/>
                    <a:latin typeface="Open Sans" panose="020B0606030504020204" pitchFamily="34" charset="0"/>
                  </a:rPr>
                  <a:t>for the salesman to visit in any order, a starting city location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8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AU" sz="2800" i="1">
                            <a:latin typeface="Cambria Math" panose="02040503050406030204" pitchFamily="18" charset="0"/>
                          </a:rPr>
                          <m:t>𝑠𝑡𝑎𝑟𝑡</m:t>
                        </m:r>
                      </m:sub>
                    </m:sSub>
                  </m:oMath>
                </a14:m>
                <a:r>
                  <a:rPr lang="en-AU" sz="1600" b="0" i="0" dirty="0">
                    <a:solidFill>
                      <a:srgbClr val="222222"/>
                    </a:solidFill>
                    <a:effectLst/>
                    <a:latin typeface="Open Sans" panose="020B0606030504020204" pitchFamily="34" charset="0"/>
                  </a:rPr>
                  <a:t>, and a set of edges </a:t>
                </a:r>
                <a14:m>
                  <m:oMath xmlns:m="http://schemas.openxmlformats.org/officeDocument/2006/math">
                    <m:r>
                      <a:rPr lang="en-AU" sz="2800" i="1"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en-AU" sz="1600" b="0" i="0" dirty="0">
                    <a:solidFill>
                      <a:srgbClr val="222222"/>
                    </a:solidFill>
                    <a:effectLst/>
                    <a:latin typeface="Open Sans" panose="020B0606030504020204" pitchFamily="34" charset="0"/>
                  </a:rPr>
                  <a:t>specifying if there's an edge from two cities 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sepChr m:val=","/>
                        <m:ctrlPr>
                          <a:rPr lang="en-AU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AU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AU" sz="2800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AU" sz="2800" i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en-AU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AU" sz="2800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AU" sz="2800" i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r>
                  <a:rPr lang="en-AU" sz="1600" b="0" i="0" dirty="0">
                    <a:solidFill>
                      <a:srgbClr val="222222"/>
                    </a:solidFill>
                    <a:effectLst/>
                    <a:latin typeface="Open Sans" panose="020B0606030504020204" pitchFamily="34" charset="0"/>
                  </a:rPr>
                  <a:t>. The goal for the salesman is visiting all the cities at least once and return to the starting city (where the salesman lives in).</a:t>
                </a:r>
              </a:p>
              <a:p>
                <a:pPr indent="0" algn="l">
                  <a:buNone/>
                </a:pPr>
                <a:r>
                  <a:rPr lang="en-AU" sz="1600" b="0" i="0" dirty="0">
                    <a:solidFill>
                      <a:srgbClr val="222222"/>
                    </a:solidFill>
                    <a:effectLst/>
                    <a:latin typeface="Open Sans" panose="020B0606030504020204" pitchFamily="34" charset="0"/>
                  </a:rPr>
                  <a:t>Provide a brief, clear, and compact definition (compact means using mathematical notation to define sets, for example, </a:t>
                </a:r>
                <a14:m>
                  <m:oMath xmlns:m="http://schemas.openxmlformats.org/officeDocument/2006/math">
                    <m:r>
                      <a:rPr lang="en-AU" sz="2800" i="1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AU" sz="2800" i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AU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sz="28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AU" sz="2800" i="0">
                            <a:latin typeface="Cambria Math" panose="02040503050406030204" pitchFamily="18" charset="0"/>
                          </a:rPr>
                          <m:t>∣</m:t>
                        </m:r>
                        <m:r>
                          <a:rPr lang="en-AU" sz="28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AU" sz="2800" i="0"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AU" sz="2800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</m:d>
                  </m:oMath>
                </a14:m>
                <a:r>
                  <a:rPr lang="en-AU" sz="1600" b="0" i="0" dirty="0">
                    <a:solidFill>
                      <a:srgbClr val="222222"/>
                    </a:solidFill>
                    <a:effectLst/>
                    <a:latin typeface="Open Sans" panose="020B0606030504020204" pitchFamily="34" charset="0"/>
                  </a:rPr>
                  <a:t>to define that there are as many facts as elements in the set </a:t>
                </a:r>
                <a14:m>
                  <m:oMath xmlns:m="http://schemas.openxmlformats.org/officeDocument/2006/math">
                    <m:r>
                      <a:rPr lang="en-AU" sz="2800" i="1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AU" sz="1600" b="0" i="0" dirty="0">
                    <a:solidFill>
                      <a:srgbClr val="222222"/>
                    </a:solidFill>
                    <a:effectLst/>
                    <a:latin typeface="Open Sans" panose="020B0606030504020204" pitchFamily="34" charset="0"/>
                  </a:rPr>
                  <a:t>).</a:t>
                </a: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13970A2-7F8A-DC23-CC3B-C8092358FA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300" y="174897"/>
                <a:ext cx="11531600" cy="2093843"/>
              </a:xfrm>
              <a:prstGeom prst="rect">
                <a:avLst/>
              </a:prstGeom>
              <a:blipFill>
                <a:blip r:embed="rId3"/>
                <a:stretch>
                  <a:fillRect l="-330" t="-602" r="-441" b="-18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0B1D7AC-BABD-242C-4C77-E67DE9495204}"/>
                  </a:ext>
                </a:extLst>
              </p:cNvPr>
              <p:cNvSpPr txBox="1"/>
              <p:nvPr/>
            </p:nvSpPr>
            <p:spPr>
              <a:xfrm>
                <a:off x="6443448" y="2400328"/>
                <a:ext cx="5981700" cy="41910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Solution: </a:t>
                </a:r>
              </a:p>
              <a:p>
                <a:r>
                  <a:rPr lang="en-AU" dirty="0"/>
                  <a:t>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sz="2800"/>
                        </m:ctrlPr>
                      </m:sSubPr>
                      <m:e>
                        <m:r>
                          <a:rPr lang="en-AU" sz="2800" i="1"/>
                          <m:t>𝑉</m:t>
                        </m:r>
                      </m:e>
                      <m:sub>
                        <m:r>
                          <a:rPr lang="en-AU" sz="2800" i="1"/>
                          <m:t>𝑣𝑖𝑠𝑖𝑡𝑒𝑑</m:t>
                        </m:r>
                      </m:sub>
                    </m:sSub>
                  </m:oMath>
                </a14:m>
                <a:r>
                  <a:rPr lang="en-AU" dirty="0"/>
                  <a:t>be the set contain visited cities:</a:t>
                </a:r>
              </a:p>
              <a:p>
                <a:endParaRPr lang="en-AU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i="1"/>
                        <m:t>𝐹</m:t>
                      </m:r>
                      <m:r>
                        <a:rPr lang="en-AU"/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AU" i="1"/>
                          </m:ctrlPr>
                        </m:dPr>
                        <m:e>
                          <m:r>
                            <a:rPr lang="en-AU" i="1"/>
                            <m:t>𝑎𝑡</m:t>
                          </m:r>
                          <m:d>
                            <m:dPr>
                              <m:ctrlPr>
                                <a:rPr lang="en-AU" i="1"/>
                              </m:ctrlPr>
                            </m:dPr>
                            <m:e>
                              <m:r>
                                <a:rPr lang="en-AU" i="1"/>
                                <m:t>𝑥</m:t>
                              </m:r>
                            </m:e>
                          </m:d>
                          <m:r>
                            <a:rPr lang="en-AU"/>
                            <m:t>∣</m:t>
                          </m:r>
                          <m:r>
                            <a:rPr lang="en-AU" i="1"/>
                            <m:t>𝑥</m:t>
                          </m:r>
                          <m:r>
                            <a:rPr lang="en-AU"/>
                            <m:t>∈</m:t>
                          </m:r>
                          <m:r>
                            <a:rPr lang="en-AU" i="1"/>
                            <m:t>𝑉</m:t>
                          </m:r>
                        </m:e>
                      </m:d>
                      <m:r>
                        <a:rPr lang="en-AU"/>
                        <m:t>∪</m:t>
                      </m:r>
                      <m:d>
                        <m:dPr>
                          <m:begChr m:val="{"/>
                          <m:endChr m:val="}"/>
                          <m:ctrlPr>
                            <a:rPr lang="en-AU" i="1"/>
                          </m:ctrlPr>
                        </m:dPr>
                        <m:e>
                          <m:r>
                            <a:rPr lang="en-AU" i="1"/>
                            <m:t>𝑣𝑖𝑠𝑖𝑡𝑒𝑑</m:t>
                          </m:r>
                          <m:d>
                            <m:dPr>
                              <m:ctrlPr>
                                <a:rPr lang="en-AU" i="1"/>
                              </m:ctrlPr>
                            </m:dPr>
                            <m:e>
                              <m:r>
                                <a:rPr lang="en-AU" i="1"/>
                                <m:t>𝑥</m:t>
                              </m:r>
                            </m:e>
                          </m:d>
                          <m:r>
                            <a:rPr lang="en-AU"/>
                            <m:t>∣</m:t>
                          </m:r>
                          <m:r>
                            <a:rPr lang="en-AU" i="1"/>
                            <m:t>𝑥</m:t>
                          </m:r>
                          <m:r>
                            <a:rPr lang="en-AU"/>
                            <m:t>∈</m:t>
                          </m:r>
                          <m:r>
                            <a:rPr lang="en-AU" i="1"/>
                            <m:t>𝑉</m:t>
                          </m:r>
                        </m:e>
                      </m:d>
                    </m:oMath>
                  </m:oMathPara>
                </a14:m>
                <a:endParaRPr lang="en-AU" sz="1125" dirty="0"/>
              </a:p>
              <a:p>
                <a:pPr/>
                <a:endParaRPr lang="en-AU" sz="1125" dirty="0"/>
              </a:p>
              <a:p>
                <a:pPr lvl="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i="1"/>
                        <m:t>𝐼</m:t>
                      </m:r>
                      <m:r>
                        <a:rPr lang="en-AU"/>
                        <m:t>=</m:t>
                      </m:r>
                      <m:d>
                        <m:dPr>
                          <m:begChr m:val="{"/>
                          <m:endChr m:val="}"/>
                          <m:sepChr m:val=","/>
                          <m:ctrlPr>
                            <a:rPr lang="en-AU" i="1" smtClean="0"/>
                          </m:ctrlPr>
                        </m:dPr>
                        <m:e>
                          <m:r>
                            <a:rPr lang="en-AU" i="1"/>
                            <m:t>𝑎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e>
                          <m:d>
                            <m:dPr>
                              <m:ctrlPr>
                                <a:rPr lang="en-AU" i="1"/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AU" i="1"/>
                                  </m:ctrlPr>
                                </m:sSubPr>
                                <m:e>
                                  <m:r>
                                    <a:rPr lang="en-AU" i="1"/>
                                    <m:t>𝑣</m:t>
                                  </m:r>
                                </m:e>
                                <m:sub>
                                  <m:r>
                                    <a:rPr lang="en-AU" i="1"/>
                                    <m:t>𝑠𝑡𝑎𝑟𝑡</m:t>
                                  </m:r>
                                </m:sub>
                              </m:sSub>
                            </m:e>
                          </m:d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AU" i="1"/>
                            <m:t>𝑣𝑖𝑠𝑖𝑡𝑒𝑑</m:t>
                          </m:r>
                          <m:d>
                            <m:dPr>
                              <m:ctrlPr>
                                <a:rPr lang="en-AU" i="1"/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AU" i="1"/>
                                  </m:ctrlPr>
                                </m:sSubPr>
                                <m:e>
                                  <m:r>
                                    <a:rPr lang="en-AU" i="1"/>
                                    <m:t>𝑣</m:t>
                                  </m:r>
                                </m:e>
                                <m:sub>
                                  <m:r>
                                    <a:rPr lang="en-AU" i="1"/>
                                    <m:t>𝑠𝑡𝑎𝑟𝑡</m:t>
                                  </m:r>
                                </m:sub>
                              </m:sSub>
                            </m:e>
                          </m:d>
                        </m:e>
                      </m:d>
                    </m:oMath>
                  </m:oMathPara>
                </a14:m>
                <a:endParaRPr lang="en-AU" sz="1125" dirty="0"/>
              </a:p>
              <a:p>
                <a:pPr lvl="0"/>
                <a:endParaRPr lang="en-AU" sz="1125" dirty="0"/>
              </a:p>
              <a:p>
                <a:pPr lvl="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i="1"/>
                        <m:t>𝐺</m:t>
                      </m:r>
                      <m:r>
                        <a:rPr lang="en-AU"/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AU" i="1"/>
                          </m:ctrlPr>
                        </m:dPr>
                        <m:e>
                          <m:r>
                            <a:rPr lang="en-AU" i="1"/>
                            <m:t>𝑎𝑡</m:t>
                          </m:r>
                          <m:d>
                            <m:dPr>
                              <m:ctrlPr>
                                <a:rPr lang="en-AU" i="1"/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AU" i="1"/>
                                  </m:ctrlPr>
                                </m:sSubPr>
                                <m:e>
                                  <m:r>
                                    <a:rPr lang="en-AU" i="1"/>
                                    <m:t>𝑣</m:t>
                                  </m:r>
                                </m:e>
                                <m:sub>
                                  <m:r>
                                    <a:rPr lang="en-AU" i="1"/>
                                    <m:t>𝑠𝑡𝑎𝑟𝑡</m:t>
                                  </m:r>
                                </m:sub>
                              </m:sSub>
                            </m:e>
                          </m:d>
                        </m:e>
                      </m:d>
                      <m:r>
                        <a:rPr lang="en-AU"/>
                        <m:t>∪</m:t>
                      </m:r>
                      <m:d>
                        <m:dPr>
                          <m:begChr m:val="{"/>
                          <m:endChr m:val="}"/>
                          <m:ctrlPr>
                            <a:rPr lang="en-AU" i="1"/>
                          </m:ctrlPr>
                        </m:dPr>
                        <m:e>
                          <m:r>
                            <a:rPr lang="en-AU" i="1"/>
                            <m:t>𝑣𝑖𝑠𝑖𝑡𝑒𝑑</m:t>
                          </m:r>
                          <m:d>
                            <m:dPr>
                              <m:ctrlPr>
                                <a:rPr lang="en-AU" i="1"/>
                              </m:ctrlPr>
                            </m:dPr>
                            <m:e>
                              <m:r>
                                <a:rPr lang="en-AU" i="1"/>
                                <m:t>𝑥</m:t>
                              </m:r>
                            </m:e>
                          </m:d>
                          <m:r>
                            <a:rPr lang="en-AU"/>
                            <m:t>∣</m:t>
                          </m:r>
                          <m:r>
                            <a:rPr lang="en-AU" i="1"/>
                            <m:t>𝑥</m:t>
                          </m:r>
                          <m:r>
                            <a:rPr lang="en-AU"/>
                            <m:t>∈</m:t>
                          </m:r>
                          <m:r>
                            <a:rPr lang="en-AU" i="1"/>
                            <m:t>𝑉</m:t>
                          </m:r>
                        </m:e>
                      </m:d>
                    </m:oMath>
                  </m:oMathPara>
                </a14:m>
                <a:endParaRPr lang="en-AU" sz="1125" dirty="0"/>
              </a:p>
              <a:p>
                <a:pPr lvl="0"/>
                <a:endParaRPr lang="en-AU" sz="1125" dirty="0"/>
              </a:p>
              <a:p>
                <a:pPr lvl="0"/>
                <a14:m>
                  <m:oMath xmlns:m="http://schemas.openxmlformats.org/officeDocument/2006/math">
                    <m:r>
                      <a:rPr lang="en-AU" i="1"/>
                      <m:t>𝑂</m:t>
                    </m:r>
                    <m:r>
                      <a:rPr lang="en-AU"/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AU" i="1"/>
                        </m:ctrlPr>
                      </m:dPr>
                      <m:e>
                        <m:r>
                          <a:rPr lang="en-AU" i="1"/>
                          <m:t>𝑚𝑜𝑣𝑒</m:t>
                        </m:r>
                        <m:d>
                          <m:dPr>
                            <m:sepChr m:val=","/>
                            <m:ctrlPr>
                              <a:rPr lang="en-AU" i="1"/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AU" i="1"/>
                                </m:ctrlPr>
                              </m:sSubPr>
                              <m:e>
                                <m:r>
                                  <a:rPr lang="en-AU" i="1"/>
                                  <m:t>𝑣</m:t>
                                </m:r>
                              </m:e>
                              <m:sub>
                                <m:r>
                                  <a:rPr lang="en-AU" i="1"/>
                                  <m:t>𝑐𝑢𝑟𝑟𝑒𝑛𝑡</m:t>
                                </m:r>
                              </m:sub>
                            </m:sSub>
                          </m:e>
                          <m:e>
                            <m:sSub>
                              <m:sSubPr>
                                <m:ctrlPr>
                                  <a:rPr lang="en-AU" i="1"/>
                                </m:ctrlPr>
                              </m:sSubPr>
                              <m:e>
                                <m:r>
                                  <a:rPr lang="en-AU" i="1"/>
                                  <m:t>𝑣</m:t>
                                </m:r>
                              </m:e>
                              <m:sub>
                                <m:r>
                                  <a:rPr lang="en-AU" i="1"/>
                                  <m:t>𝑛𝑒𝑥𝑡</m:t>
                                </m:r>
                              </m:sub>
                            </m:sSub>
                          </m:e>
                        </m:d>
                        <m:r>
                          <a:rPr lang="en-AU"/>
                          <m:t>∣</m:t>
                        </m:r>
                        <m:d>
                          <m:dPr>
                            <m:sepChr m:val=","/>
                            <m:ctrlPr>
                              <a:rPr lang="en-AU" i="1"/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AU" i="1"/>
                                </m:ctrlPr>
                              </m:sSubPr>
                              <m:e>
                                <m:r>
                                  <a:rPr lang="en-AU" i="1"/>
                                  <m:t>𝑣</m:t>
                                </m:r>
                              </m:e>
                              <m:sub>
                                <m:r>
                                  <a:rPr lang="en-AU" i="1"/>
                                  <m:t>𝑐𝑢𝑟𝑟𝑒𝑛𝑡</m:t>
                                </m:r>
                              </m:sub>
                            </m:sSub>
                          </m:e>
                          <m:e>
                            <m:sSub>
                              <m:sSubPr>
                                <m:ctrlPr>
                                  <a:rPr lang="en-AU" i="1"/>
                                </m:ctrlPr>
                              </m:sSubPr>
                              <m:e>
                                <m:r>
                                  <a:rPr lang="en-AU" i="1"/>
                                  <m:t>𝑣</m:t>
                                </m:r>
                              </m:e>
                              <m:sub>
                                <m:r>
                                  <a:rPr lang="en-AU" i="1"/>
                                  <m:t>𝑛𝑒𝑥𝑡</m:t>
                                </m:r>
                              </m:sub>
                            </m:sSub>
                          </m:e>
                        </m:d>
                        <m:r>
                          <a:rPr lang="en-AU"/>
                          <m:t>∈</m:t>
                        </m:r>
                        <m:r>
                          <a:rPr lang="en-AU" i="1"/>
                          <m:t>𝐸</m:t>
                        </m:r>
                      </m:e>
                    </m:d>
                  </m:oMath>
                </a14:m>
                <a:r>
                  <a:rPr lang="en-AU" sz="1125" dirty="0"/>
                  <a:t>, where: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AU" i="1"/>
                      <m:t>𝑝𝑟𝑒</m:t>
                    </m:r>
                    <m:d>
                      <m:dPr>
                        <m:ctrlPr>
                          <a:rPr lang="en-AU" i="1"/>
                        </m:ctrlPr>
                      </m:dPr>
                      <m:e>
                        <m:r>
                          <a:rPr lang="en-AU" i="1"/>
                          <m:t>𝑚𝑜𝑣𝑒</m:t>
                        </m:r>
                        <m:d>
                          <m:dPr>
                            <m:sepChr m:val=","/>
                            <m:ctrlPr>
                              <a:rPr lang="en-AU" i="1"/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AU" i="1"/>
                                </m:ctrlPr>
                              </m:sSubPr>
                              <m:e>
                                <m:r>
                                  <a:rPr lang="en-AU" i="1"/>
                                  <m:t>𝑣</m:t>
                                </m:r>
                              </m:e>
                              <m:sub>
                                <m:r>
                                  <a:rPr lang="en-AU" i="1"/>
                                  <m:t>𝑐𝑢𝑟𝑟𝑒𝑛𝑡</m:t>
                                </m:r>
                              </m:sub>
                            </m:sSub>
                          </m:e>
                          <m:e>
                            <m:sSub>
                              <m:sSubPr>
                                <m:ctrlPr>
                                  <a:rPr lang="en-AU" i="1"/>
                                </m:ctrlPr>
                              </m:sSubPr>
                              <m:e>
                                <m:r>
                                  <a:rPr lang="en-AU" i="1"/>
                                  <m:t>𝑣</m:t>
                                </m:r>
                              </m:e>
                              <m:sub>
                                <m:r>
                                  <a:rPr lang="en-AU" i="1"/>
                                  <m:t>𝑛𝑒𝑥𝑡</m:t>
                                </m:r>
                              </m:sub>
                            </m:sSub>
                          </m:e>
                        </m:d>
                      </m:e>
                    </m:d>
                  </m:oMath>
                </a14:m>
                <a:r>
                  <a:rPr lang="en-AU" sz="1125" dirty="0"/>
                  <a:t>: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AU"/>
                        </m:ctrlPr>
                      </m:dPr>
                      <m:e>
                        <m:r>
                          <a:rPr lang="en-AU" i="1"/>
                          <m:t>𝑎𝑡</m:t>
                        </m:r>
                        <m:d>
                          <m:dPr>
                            <m:ctrlPr>
                              <a:rPr lang="en-AU" i="1"/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AU" i="1"/>
                                </m:ctrlPr>
                              </m:sSubPr>
                              <m:e>
                                <m:r>
                                  <a:rPr lang="en-AU" i="1"/>
                                  <m:t>𝑣</m:t>
                                </m:r>
                              </m:e>
                              <m:sub>
                                <m:r>
                                  <a:rPr lang="en-AU" i="1"/>
                                  <m:t>𝑐𝑢𝑟𝑟𝑒𝑛𝑡</m:t>
                                </m:r>
                              </m:sub>
                            </m:sSub>
                          </m:e>
                        </m:d>
                      </m:e>
                    </m:d>
                  </m:oMath>
                </a14:m>
                <a:endParaRPr lang="en-AU" sz="1125" dirty="0"/>
              </a:p>
              <a:p>
                <a:pPr lvl="1"/>
                <a14:m>
                  <m:oMath xmlns:m="http://schemas.openxmlformats.org/officeDocument/2006/math">
                    <m:r>
                      <a:rPr lang="en-AU" i="1"/>
                      <m:t>𝑎𝑑𝑑</m:t>
                    </m:r>
                    <m:d>
                      <m:dPr>
                        <m:ctrlPr>
                          <a:rPr lang="en-AU" i="1"/>
                        </m:ctrlPr>
                      </m:dPr>
                      <m:e>
                        <m:r>
                          <a:rPr lang="en-AU" i="1"/>
                          <m:t>𝑚𝑜𝑣𝑒</m:t>
                        </m:r>
                        <m:d>
                          <m:dPr>
                            <m:sepChr m:val=","/>
                            <m:ctrlPr>
                              <a:rPr lang="en-AU" i="1"/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AU" i="1"/>
                                </m:ctrlPr>
                              </m:sSubPr>
                              <m:e>
                                <m:r>
                                  <a:rPr lang="en-AU" i="1"/>
                                  <m:t>𝑣</m:t>
                                </m:r>
                              </m:e>
                              <m:sub>
                                <m:r>
                                  <a:rPr lang="en-AU" i="1"/>
                                  <m:t>𝑐𝑢𝑟𝑟𝑒𝑛𝑡</m:t>
                                </m:r>
                              </m:sub>
                            </m:sSub>
                          </m:e>
                          <m:e>
                            <m:sSub>
                              <m:sSubPr>
                                <m:ctrlPr>
                                  <a:rPr lang="en-AU" i="1"/>
                                </m:ctrlPr>
                              </m:sSubPr>
                              <m:e>
                                <m:r>
                                  <a:rPr lang="en-AU" i="1"/>
                                  <m:t>𝑣</m:t>
                                </m:r>
                              </m:e>
                              <m:sub>
                                <m:r>
                                  <a:rPr lang="en-AU" i="1"/>
                                  <m:t>𝑛𝑒𝑥𝑡</m:t>
                                </m:r>
                              </m:sub>
                            </m:sSub>
                          </m:e>
                        </m:d>
                      </m:e>
                    </m:d>
                  </m:oMath>
                </a14:m>
                <a:r>
                  <a:rPr lang="en-AU" sz="1125" dirty="0"/>
                  <a:t>: </a:t>
                </a:r>
                <a14:m>
                  <m:oMath xmlns:m="http://schemas.openxmlformats.org/officeDocument/2006/math">
                    <m:d>
                      <m:dPr>
                        <m:begChr m:val=""/>
                        <m:endChr m:val="}"/>
                        <m:ctrlPr>
                          <a:rPr lang="en-AU"/>
                        </m:ctrlPr>
                      </m:dPr>
                      <m:e>
                        <m:d>
                          <m:dPr>
                            <m:begChr m:val="{"/>
                            <m:ctrlPr>
                              <a:rPr lang="en-AU"/>
                            </m:ctrlPr>
                          </m:dPr>
                          <m:e>
                            <m:r>
                              <a:rPr lang="en-AU" i="1"/>
                              <m:t>𝑎</m:t>
                            </m:r>
                            <m:sSub>
                              <m:sSubPr>
                                <m:ctrlPr>
                                  <a:rPr lang="en-AU" i="1"/>
                                </m:ctrlPr>
                              </m:sSubPr>
                              <m:e>
                                <m:r>
                                  <a:rPr lang="en-AU" i="1"/>
                                  <m:t>𝑡</m:t>
                                </m:r>
                              </m:e>
                              <m:sub>
                                <m:d>
                                  <m:dPr>
                                    <m:begChr m:val=""/>
                                    <m:endChr m:val=""/>
                                    <m:ctrlPr>
                                      <a:rPr lang="en-AU" i="1"/>
                                    </m:ctrlPr>
                                  </m:dPr>
                                  <m:e>
                                    <m:r>
                                      <a:rPr lang="en-AU"/>
                                      <m:t>(</m:t>
                                    </m:r>
                                  </m:e>
                                </m:d>
                              </m:sub>
                            </m:sSub>
                            <m:sSub>
                              <m:sSubPr>
                                <m:ctrlPr>
                                  <a:rPr lang="en-AU" i="1"/>
                                </m:ctrlPr>
                              </m:sSubPr>
                              <m:e>
                                <m:r>
                                  <a:rPr lang="en-AU" i="1"/>
                                  <m:t>𝑣</m:t>
                                </m:r>
                              </m:e>
                              <m:sub>
                                <m:r>
                                  <a:rPr lang="en-AU" i="1"/>
                                  <m:t>𝑛𝑒𝑥𝑡</m:t>
                                </m:r>
                              </m:sub>
                            </m:sSub>
                          </m:e>
                        </m:d>
                        <m:r>
                          <a:rPr lang="en-AU"/>
                          <m:t>,</m:t>
                        </m:r>
                        <m:r>
                          <a:rPr lang="en-AU" i="1"/>
                          <m:t>𝑣𝑖𝑠𝑖𝑡𝑒𝑑</m:t>
                        </m:r>
                        <m:d>
                          <m:dPr>
                            <m:ctrlPr>
                              <a:rPr lang="en-AU" i="1"/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AU" i="1"/>
                                </m:ctrlPr>
                              </m:sSubPr>
                              <m:e>
                                <m:r>
                                  <a:rPr lang="en-AU" i="1"/>
                                  <m:t>𝑣</m:t>
                                </m:r>
                              </m:e>
                              <m:sub>
                                <m:r>
                                  <a:rPr lang="en-AU" i="1"/>
                                  <m:t>𝑛𝑒𝑥𝑡</m:t>
                                </m:r>
                              </m:sub>
                            </m:sSub>
                          </m:e>
                        </m:d>
                      </m:e>
                    </m:d>
                  </m:oMath>
                </a14:m>
                <a:endParaRPr lang="en-AU" sz="1125" dirty="0"/>
              </a:p>
              <a:p>
                <a:pPr lvl="1"/>
                <a14:m>
                  <m:oMath xmlns:m="http://schemas.openxmlformats.org/officeDocument/2006/math">
                    <m:r>
                      <a:rPr lang="en-AU" i="1"/>
                      <m:t>𝑑𝑒𝑙</m:t>
                    </m:r>
                    <m:d>
                      <m:dPr>
                        <m:ctrlPr>
                          <a:rPr lang="en-AU" i="1"/>
                        </m:ctrlPr>
                      </m:dPr>
                      <m:e>
                        <m:r>
                          <a:rPr lang="en-AU" i="1"/>
                          <m:t>𝑚𝑜𝑣𝑒</m:t>
                        </m:r>
                        <m:d>
                          <m:dPr>
                            <m:sepChr m:val=","/>
                            <m:ctrlPr>
                              <a:rPr lang="en-AU" i="1"/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AU" i="1"/>
                                </m:ctrlPr>
                              </m:sSubPr>
                              <m:e>
                                <m:r>
                                  <a:rPr lang="en-AU" i="1"/>
                                  <m:t>𝑣</m:t>
                                </m:r>
                              </m:e>
                              <m:sub>
                                <m:r>
                                  <a:rPr lang="en-AU" i="1"/>
                                  <m:t>𝑐𝑢𝑟𝑟𝑒𝑛𝑡</m:t>
                                </m:r>
                              </m:sub>
                            </m:sSub>
                          </m:e>
                          <m:e>
                            <m:sSub>
                              <m:sSubPr>
                                <m:ctrlPr>
                                  <a:rPr lang="en-AU" i="1"/>
                                </m:ctrlPr>
                              </m:sSubPr>
                              <m:e>
                                <m:r>
                                  <a:rPr lang="en-AU" i="1"/>
                                  <m:t>𝑣</m:t>
                                </m:r>
                              </m:e>
                              <m:sub>
                                <m:r>
                                  <a:rPr lang="en-AU" i="1"/>
                                  <m:t>𝑛𝑒𝑥𝑡</m:t>
                                </m:r>
                              </m:sub>
                            </m:sSub>
                          </m:e>
                        </m:d>
                      </m:e>
                    </m:d>
                  </m:oMath>
                </a14:m>
                <a:r>
                  <a:rPr lang="en-AU" sz="1125" dirty="0"/>
                  <a:t>: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AU"/>
                        </m:ctrlPr>
                      </m:dPr>
                      <m:e>
                        <m:r>
                          <a:rPr lang="en-AU" i="1"/>
                          <m:t>𝑎𝑡</m:t>
                        </m:r>
                        <m:d>
                          <m:dPr>
                            <m:ctrlPr>
                              <a:rPr lang="en-AU" i="1"/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AU" i="1"/>
                                </m:ctrlPr>
                              </m:sSubPr>
                              <m:e>
                                <m:r>
                                  <a:rPr lang="en-AU" i="1"/>
                                  <m:t>𝑣</m:t>
                                </m:r>
                              </m:e>
                              <m:sub>
                                <m:r>
                                  <a:rPr lang="en-AU" i="1"/>
                                  <m:t>𝑐𝑢𝑟𝑟𝑒𝑛𝑡</m:t>
                                </m:r>
                              </m:sub>
                            </m:sSub>
                          </m:e>
                        </m:d>
                      </m:e>
                    </m:d>
                  </m:oMath>
                </a14:m>
                <a:endParaRPr lang="en-AU" sz="1125" dirty="0"/>
              </a:p>
              <a:p>
                <a:br>
                  <a:rPr lang="en-AU" dirty="0"/>
                </a:br>
                <a:endParaRPr lang="en-US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0B1D7AC-BABD-242C-4C77-E67DE94952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43448" y="2400328"/>
                <a:ext cx="5981700" cy="4191019"/>
              </a:xfrm>
              <a:prstGeom prst="rect">
                <a:avLst/>
              </a:prstGeom>
              <a:blipFill>
                <a:blip r:embed="rId4"/>
                <a:stretch>
                  <a:fillRect l="-847" t="-909" r="-3814" b="-6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Picture 9">
            <a:extLst>
              <a:ext uri="{FF2B5EF4-FFF2-40B4-BE49-F238E27FC236}">
                <a16:creationId xmlns:a16="http://schemas.microsoft.com/office/drawing/2014/main" id="{C03FF963-1839-6854-6C0A-0CBE64D40A4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14300" y="3149600"/>
            <a:ext cx="6443448" cy="2336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52939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566109-6F45-7C97-362E-9947E62C14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236D392-D2BA-DE9B-DEFA-FEA01FE0882B}"/>
                  </a:ext>
                </a:extLst>
              </p:cNvPr>
              <p:cNvSpPr txBox="1"/>
              <p:nvPr/>
            </p:nvSpPr>
            <p:spPr>
              <a:xfrm>
                <a:off x="231774" y="100296"/>
                <a:ext cx="10817225" cy="254268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indent="0" algn="l">
                  <a:buNone/>
                </a:pPr>
                <a:r>
                  <a:rPr lang="en-AU" sz="1400" b="0" i="0" dirty="0">
                    <a:solidFill>
                      <a:srgbClr val="222222"/>
                    </a:solidFill>
                    <a:effectLst/>
                    <a:latin typeface="Open Sans" panose="020B0606030504020204" pitchFamily="34" charset="0"/>
                  </a:rPr>
                  <a:t>Your task is to represent a grid-based version of the Travelling Salesman Problem using STRIPS notation. Here are the specific instructions:</a:t>
                </a:r>
              </a:p>
              <a:p>
                <a:pPr marL="342900" lvl="0" indent="-342900" algn="l">
                  <a:buFont typeface="Arial" panose="020B0604020202020204" pitchFamily="34" charset="0"/>
                  <a:buChar char="•"/>
                </a:pPr>
                <a:r>
                  <a:rPr lang="en-AU" sz="1400" b="0" i="0" dirty="0">
                    <a:solidFill>
                      <a:srgbClr val="222222"/>
                    </a:solidFill>
                    <a:effectLst/>
                    <a:latin typeface="Open Sans" panose="020B0606030504020204" pitchFamily="34" charset="0"/>
                  </a:rPr>
                  <a:t>Consider an </a:t>
                </a:r>
                <a14:m>
                  <m:oMath xmlns:m="http://schemas.openxmlformats.org/officeDocument/2006/math">
                    <m:r>
                      <a:rPr lang="en-AU" sz="2400" i="1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AU" sz="2400" i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AU" sz="2400" i="1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AU" sz="1400" b="0" i="0" dirty="0">
                    <a:solidFill>
                      <a:srgbClr val="222222"/>
                    </a:solidFill>
                    <a:effectLst/>
                    <a:latin typeface="Open Sans" panose="020B0606030504020204" pitchFamily="34" charset="0"/>
                  </a:rPr>
                  <a:t>Manhattan grid.</a:t>
                </a:r>
              </a:p>
              <a:p>
                <a:pPr marL="342900" lvl="0" indent="-342900" algn="l">
                  <a:buFont typeface="Arial" panose="020B0604020202020204" pitchFamily="34" charset="0"/>
                  <a:buChar char="•"/>
                </a:pPr>
                <a:r>
                  <a:rPr lang="en-AU" sz="1400" b="0" i="0" dirty="0">
                    <a:solidFill>
                      <a:srgbClr val="222222"/>
                    </a:solidFill>
                    <a:effectLst/>
                    <a:latin typeface="Open Sans" panose="020B0606030504020204" pitchFamily="34" charset="0"/>
                  </a:rPr>
                  <a:t>There are walls (inaccessible coordinates) represented by set </a:t>
                </a:r>
                <a14:m>
                  <m:oMath xmlns:m="http://schemas.openxmlformats.org/officeDocument/2006/math">
                    <m:r>
                      <a:rPr lang="en-AU" sz="2400" i="1">
                        <a:latin typeface="Cambria Math" panose="02040503050406030204" pitchFamily="18" charset="0"/>
                      </a:rPr>
                      <m:t>𝑊</m:t>
                    </m:r>
                  </m:oMath>
                </a14:m>
                <a:r>
                  <a:rPr lang="en-AU" sz="1400" b="0" i="0" dirty="0">
                    <a:solidFill>
                      <a:srgbClr val="222222"/>
                    </a:solidFill>
                    <a:effectLst/>
                    <a:latin typeface="Open Sans" panose="020B0606030504020204" pitchFamily="34" charset="0"/>
                  </a:rPr>
                  <a:t>.</a:t>
                </a:r>
              </a:p>
              <a:p>
                <a:pPr marL="342900" lvl="0" indent="-342900" algn="l">
                  <a:buFont typeface="Arial" panose="020B0604020202020204" pitchFamily="34" charset="0"/>
                  <a:buChar char="•"/>
                </a:pPr>
                <a:r>
                  <a:rPr lang="en-AU" sz="1400" b="0" i="0" dirty="0">
                    <a:solidFill>
                      <a:srgbClr val="222222"/>
                    </a:solidFill>
                    <a:effectLst/>
                    <a:latin typeface="Open Sans" panose="020B0606030504020204" pitchFamily="34" charset="0"/>
                  </a:rPr>
                  <a:t>There's a set of coordinates </a:t>
                </a:r>
                <a14:m>
                  <m:oMath xmlns:m="http://schemas.openxmlformats.org/officeDocument/2006/math">
                    <m:r>
                      <a:rPr lang="en-AU" sz="2400" i="1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AU" sz="1400" b="0" i="0" dirty="0">
                    <a:solidFill>
                      <a:srgbClr val="222222"/>
                    </a:solidFill>
                    <a:effectLst/>
                    <a:latin typeface="Open Sans" panose="020B0606030504020204" pitchFamily="34" charset="0"/>
                  </a:rPr>
                  <a:t>that must be visited in any order.</a:t>
                </a:r>
              </a:p>
              <a:p>
                <a:pPr marL="342900" lvl="0" indent="-342900" algn="l">
                  <a:buFont typeface="Arial" panose="020B0604020202020204" pitchFamily="34" charset="0"/>
                  <a:buChar char="•"/>
                </a:pPr>
                <a:r>
                  <a:rPr lang="en-AU" sz="1400" b="0" i="0" dirty="0">
                    <a:solidFill>
                      <a:srgbClr val="222222"/>
                    </a:solidFill>
                    <a:effectLst/>
                    <a:latin typeface="Open Sans" panose="020B0606030504020204" pitchFamily="34" charset="0"/>
                  </a:rPr>
                  <a:t>The agent starts at </a:t>
                </a:r>
                <a14:m>
                  <m:oMath xmlns:m="http://schemas.openxmlformats.org/officeDocument/2006/math">
                    <m:d>
                      <m:dPr>
                        <m:sepChr m:val=","/>
                        <m:ctrlPr>
                          <a:rPr lang="en-AU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sz="2400" i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e>
                        <m:r>
                          <a:rPr lang="en-AU" sz="2400" i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r>
                  <a:rPr lang="en-AU" sz="1400" b="0" i="0" dirty="0">
                    <a:solidFill>
                      <a:srgbClr val="222222"/>
                    </a:solidFill>
                    <a:effectLst/>
                    <a:latin typeface="Open Sans" panose="020B0606030504020204" pitchFamily="34" charset="0"/>
                  </a:rPr>
                  <a:t>.</a:t>
                </a:r>
              </a:p>
              <a:p>
                <a:pPr indent="0" algn="l">
                  <a:buNone/>
                </a:pPr>
                <a:r>
                  <a:rPr lang="en-AU" sz="1400" b="0" i="0" dirty="0">
                    <a:solidFill>
                      <a:srgbClr val="222222"/>
                    </a:solidFill>
                    <a:effectLst/>
                    <a:latin typeface="Open Sans" panose="020B0606030504020204" pitchFamily="34" charset="0"/>
                  </a:rPr>
                  <a:t>You need to define the STRIPS model using the tuple </a:t>
                </a:r>
                <a14:m>
                  <m:oMath xmlns:m="http://schemas.openxmlformats.org/officeDocument/2006/math">
                    <m:r>
                      <a:rPr lang="en-AU" sz="2400" i="1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AU" sz="2400" i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⟨"/>
                        <m:endChr m:val="⟩"/>
                        <m:sepChr m:val=","/>
                        <m:ctrlPr>
                          <a:rPr lang="en-AU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sz="2400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e>
                        <m:r>
                          <a:rPr lang="en-AU" sz="2400" i="1"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  <m:e>
                        <m:r>
                          <a:rPr lang="en-AU" sz="2400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e>
                        <m:r>
                          <a:rPr lang="en-AU" sz="2400" i="1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</m:d>
                  </m:oMath>
                </a14:m>
                <a:r>
                  <a:rPr lang="en-AU" sz="1400" b="0" i="0" dirty="0">
                    <a:solidFill>
                      <a:srgbClr val="222222"/>
                    </a:solidFill>
                    <a:effectLst/>
                    <a:latin typeface="Open Sans" panose="020B0606030504020204" pitchFamily="34" charset="0"/>
                  </a:rPr>
                  <a:t>. For each component, provide a clear, concise definition using mathematical notation where appropriate.</a:t>
                </a: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236D392-D2BA-DE9B-DEFA-FEA01FE088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1774" y="100296"/>
                <a:ext cx="10817225" cy="2542684"/>
              </a:xfrm>
              <a:prstGeom prst="rect">
                <a:avLst/>
              </a:prstGeom>
              <a:blipFill>
                <a:blip r:embed="rId3"/>
                <a:stretch>
                  <a:fillRect l="-235" b="-14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EE8B46E-8103-BEC2-7171-5169B832E92E}"/>
                  </a:ext>
                </a:extLst>
              </p:cNvPr>
              <p:cNvSpPr txBox="1"/>
              <p:nvPr/>
            </p:nvSpPr>
            <p:spPr>
              <a:xfrm>
                <a:off x="736600" y="2826513"/>
                <a:ext cx="10210800" cy="368697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AU" dirty="0"/>
                  <a:t>Q1</a:t>
                </a:r>
                <a:r>
                  <a:rPr lang="zh-CN" altLang="en-US" dirty="0"/>
                  <a:t> </a:t>
                </a:r>
                <a:r>
                  <a:rPr lang="en-AU" dirty="0"/>
                  <a:t>Model this problem using a set of propositions that represent whether each coordinate has been visited or not. Define </a:t>
                </a:r>
                <a14:m>
                  <m:oMath xmlns:m="http://schemas.openxmlformats.org/officeDocument/2006/math">
                    <m:r>
                      <a:rPr lang="en-AU" i="1"/>
                      <m:t>𝐹</m:t>
                    </m:r>
                  </m:oMath>
                </a14:m>
                <a:r>
                  <a:rPr lang="en-AU" dirty="0"/>
                  <a:t>, </a:t>
                </a:r>
                <a14:m>
                  <m:oMath xmlns:m="http://schemas.openxmlformats.org/officeDocument/2006/math">
                    <m:r>
                      <a:rPr lang="en-AU" i="1"/>
                      <m:t>𝐼</m:t>
                    </m:r>
                  </m:oMath>
                </a14:m>
                <a:r>
                  <a:rPr lang="en-AU" dirty="0"/>
                  <a:t>, </a:t>
                </a:r>
                <a14:m>
                  <m:oMath xmlns:m="http://schemas.openxmlformats.org/officeDocument/2006/math">
                    <m:r>
                      <a:rPr lang="en-AU" i="1"/>
                      <m:t>𝐺</m:t>
                    </m:r>
                  </m:oMath>
                </a14:m>
                <a:r>
                  <a:rPr lang="en-AU" dirty="0"/>
                  <a:t>, and </a:t>
                </a:r>
                <a14:m>
                  <m:oMath xmlns:m="http://schemas.openxmlformats.org/officeDocument/2006/math">
                    <m:r>
                      <a:rPr lang="en-AU" i="1"/>
                      <m:t>𝑂</m:t>
                    </m:r>
                  </m:oMath>
                </a14:m>
                <a:r>
                  <a:rPr lang="en-AU" dirty="0"/>
                  <a:t>(including </a:t>
                </a:r>
                <a14:m>
                  <m:oMath xmlns:m="http://schemas.openxmlformats.org/officeDocument/2006/math">
                    <m:r>
                      <a:rPr lang="en-AU" i="1"/>
                      <m:t>𝑝𝑟𝑒</m:t>
                    </m:r>
                    <m:d>
                      <m:dPr>
                        <m:ctrlPr>
                          <a:rPr lang="en-AU" i="1"/>
                        </m:ctrlPr>
                      </m:dPr>
                      <m:e>
                        <m:r>
                          <a:rPr lang="en-AU" i="1"/>
                          <m:t>𝑜</m:t>
                        </m:r>
                      </m:e>
                    </m:d>
                  </m:oMath>
                </a14:m>
                <a:r>
                  <a:rPr lang="en-AU" dirty="0"/>
                  <a:t>, </a:t>
                </a:r>
                <a14:m>
                  <m:oMath xmlns:m="http://schemas.openxmlformats.org/officeDocument/2006/math">
                    <m:r>
                      <a:rPr lang="en-AU" i="1"/>
                      <m:t>𝑎𝑑𝑑</m:t>
                    </m:r>
                    <m:d>
                      <m:dPr>
                        <m:ctrlPr>
                          <a:rPr lang="en-AU" i="1"/>
                        </m:ctrlPr>
                      </m:dPr>
                      <m:e>
                        <m:r>
                          <a:rPr lang="en-AU" i="1"/>
                          <m:t>𝑜</m:t>
                        </m:r>
                      </m:e>
                    </m:d>
                  </m:oMath>
                </a14:m>
                <a:r>
                  <a:rPr lang="en-AU" dirty="0"/>
                  <a:t>, and </a:t>
                </a:r>
                <a14:m>
                  <m:oMath xmlns:m="http://schemas.openxmlformats.org/officeDocument/2006/math">
                    <m:r>
                      <a:rPr lang="en-AU" i="1"/>
                      <m:t>𝑑𝑒𝑙</m:t>
                    </m:r>
                    <m:d>
                      <m:dPr>
                        <m:ctrlPr>
                          <a:rPr lang="en-AU" i="1"/>
                        </m:ctrlPr>
                      </m:dPr>
                      <m:e>
                        <m:r>
                          <a:rPr lang="en-AU" i="1"/>
                          <m:t>𝑜</m:t>
                        </m:r>
                      </m:e>
                    </m:d>
                  </m:oMath>
                </a14:m>
                <a:r>
                  <a:rPr lang="en-AU" dirty="0"/>
                  <a:t>for each operator).</a:t>
                </a:r>
              </a:p>
              <a:p>
                <a:endParaRPr lang="en-AU" dirty="0"/>
              </a:p>
              <a:p>
                <a:r>
                  <a:rPr lang="en-AU" dirty="0"/>
                  <a:t>F = {at(x, y) | 0 ≤ x, y &lt; m} ∪ {visited(x, y) | (x, y) ∈ V}</a:t>
                </a:r>
              </a:p>
              <a:p>
                <a:endParaRPr lang="en-AU" dirty="0"/>
              </a:p>
              <a:p>
                <a:r>
                  <a:rPr lang="en-AU" dirty="0"/>
                  <a:t>I = {at(0, 0)} ∪ {visited(0, 0) | (0, 0) ∈ V}</a:t>
                </a:r>
              </a:p>
              <a:p>
                <a:endParaRPr lang="en-AU" dirty="0"/>
              </a:p>
              <a:p>
                <a:r>
                  <a:rPr lang="en-AU" dirty="0"/>
                  <a:t>G = {visited(x, y) | (x, y) ∈ V} ∪ {at(0, 0)}</a:t>
                </a:r>
              </a:p>
              <a:p>
                <a:endParaRPr lang="en-AU" dirty="0"/>
              </a:p>
              <a:p>
                <a:r>
                  <a:rPr lang="en-AU" dirty="0"/>
                  <a:t>O = {move(x, y, x′, y′) | 0 ≤ x, y, x′, y′ &lt; m, |x − x′| + |y − y′| = 1, (x′, y′) ∉ W}</a:t>
                </a:r>
              </a:p>
              <a:p>
                <a:r>
                  <a:rPr lang="en-AU" dirty="0"/>
                  <a:t>      pre(o) = {at(x, y)}</a:t>
                </a:r>
              </a:p>
              <a:p>
                <a:r>
                  <a:rPr lang="en-AU" dirty="0"/>
                  <a:t>      add(o) = {at(x′, y′)} ∪ {visited(x′, y′) | (x′, y′) ∈ V}</a:t>
                </a:r>
              </a:p>
              <a:p>
                <a:r>
                  <a:rPr lang="en-AU" dirty="0"/>
                  <a:t>       del(o) = {at(x, y)}</a:t>
                </a: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EE8B46E-8103-BEC2-7171-5169B832E9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6600" y="2826513"/>
                <a:ext cx="10210800" cy="3686971"/>
              </a:xfrm>
              <a:prstGeom prst="rect">
                <a:avLst/>
              </a:prstGeom>
              <a:blipFill>
                <a:blip r:embed="rId4"/>
                <a:stretch>
                  <a:fillRect l="-621" t="-687" r="-373" b="-20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894912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447F21-CCFC-5D7C-5B4D-D7A9F29A49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3292752-D54C-D840-01A8-196ED2C33B7D}"/>
                  </a:ext>
                </a:extLst>
              </p:cNvPr>
              <p:cNvSpPr txBox="1"/>
              <p:nvPr/>
            </p:nvSpPr>
            <p:spPr>
              <a:xfrm>
                <a:off x="231774" y="100296"/>
                <a:ext cx="10817225" cy="254268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indent="0" algn="l">
                  <a:buNone/>
                </a:pPr>
                <a:r>
                  <a:rPr lang="en-AU" sz="1400" b="0" i="0" dirty="0">
                    <a:solidFill>
                      <a:srgbClr val="222222"/>
                    </a:solidFill>
                    <a:effectLst/>
                    <a:latin typeface="Open Sans" panose="020B0606030504020204" pitchFamily="34" charset="0"/>
                  </a:rPr>
                  <a:t>Your task is to represent a grid-based version of the Travelling Salesman Problem using STRIPS notation. Here are the specific instructions:</a:t>
                </a:r>
              </a:p>
              <a:p>
                <a:pPr marL="342900" lvl="0" indent="-342900" algn="l">
                  <a:buFont typeface="Arial" panose="020B0604020202020204" pitchFamily="34" charset="0"/>
                  <a:buChar char="•"/>
                </a:pPr>
                <a:r>
                  <a:rPr lang="en-AU" sz="1400" b="0" i="0" dirty="0">
                    <a:solidFill>
                      <a:srgbClr val="222222"/>
                    </a:solidFill>
                    <a:effectLst/>
                    <a:latin typeface="Open Sans" panose="020B0606030504020204" pitchFamily="34" charset="0"/>
                  </a:rPr>
                  <a:t>Consider an </a:t>
                </a:r>
                <a14:m>
                  <m:oMath xmlns:m="http://schemas.openxmlformats.org/officeDocument/2006/math">
                    <m:r>
                      <a:rPr lang="en-AU" sz="2400" i="1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AU" sz="2400" i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AU" sz="2400" i="1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AU" sz="1400" b="0" i="0" dirty="0">
                    <a:solidFill>
                      <a:srgbClr val="222222"/>
                    </a:solidFill>
                    <a:effectLst/>
                    <a:latin typeface="Open Sans" panose="020B0606030504020204" pitchFamily="34" charset="0"/>
                  </a:rPr>
                  <a:t>Manhattan grid.</a:t>
                </a:r>
              </a:p>
              <a:p>
                <a:pPr marL="342900" lvl="0" indent="-342900" algn="l">
                  <a:buFont typeface="Arial" panose="020B0604020202020204" pitchFamily="34" charset="0"/>
                  <a:buChar char="•"/>
                </a:pPr>
                <a:r>
                  <a:rPr lang="en-AU" sz="1400" b="0" i="0" dirty="0">
                    <a:solidFill>
                      <a:srgbClr val="222222"/>
                    </a:solidFill>
                    <a:effectLst/>
                    <a:latin typeface="Open Sans" panose="020B0606030504020204" pitchFamily="34" charset="0"/>
                  </a:rPr>
                  <a:t>There are walls (inaccessible coordinates) represented by set </a:t>
                </a:r>
                <a14:m>
                  <m:oMath xmlns:m="http://schemas.openxmlformats.org/officeDocument/2006/math">
                    <m:r>
                      <a:rPr lang="en-AU" sz="2400" i="1">
                        <a:latin typeface="Cambria Math" panose="02040503050406030204" pitchFamily="18" charset="0"/>
                      </a:rPr>
                      <m:t>𝑊</m:t>
                    </m:r>
                  </m:oMath>
                </a14:m>
                <a:r>
                  <a:rPr lang="en-AU" sz="1400" b="0" i="0" dirty="0">
                    <a:solidFill>
                      <a:srgbClr val="222222"/>
                    </a:solidFill>
                    <a:effectLst/>
                    <a:latin typeface="Open Sans" panose="020B0606030504020204" pitchFamily="34" charset="0"/>
                  </a:rPr>
                  <a:t>.</a:t>
                </a:r>
              </a:p>
              <a:p>
                <a:pPr marL="342900" lvl="0" indent="-342900" algn="l">
                  <a:buFont typeface="Arial" panose="020B0604020202020204" pitchFamily="34" charset="0"/>
                  <a:buChar char="•"/>
                </a:pPr>
                <a:r>
                  <a:rPr lang="en-AU" sz="1400" b="0" i="0" dirty="0">
                    <a:solidFill>
                      <a:srgbClr val="222222"/>
                    </a:solidFill>
                    <a:effectLst/>
                    <a:latin typeface="Open Sans" panose="020B0606030504020204" pitchFamily="34" charset="0"/>
                  </a:rPr>
                  <a:t>There's a set of coordinates </a:t>
                </a:r>
                <a14:m>
                  <m:oMath xmlns:m="http://schemas.openxmlformats.org/officeDocument/2006/math">
                    <m:r>
                      <a:rPr lang="en-AU" sz="2400" i="1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AU" sz="1400" b="0" i="0" dirty="0">
                    <a:solidFill>
                      <a:srgbClr val="222222"/>
                    </a:solidFill>
                    <a:effectLst/>
                    <a:latin typeface="Open Sans" panose="020B0606030504020204" pitchFamily="34" charset="0"/>
                  </a:rPr>
                  <a:t>that must be visited in any order.</a:t>
                </a:r>
              </a:p>
              <a:p>
                <a:pPr marL="342900" lvl="0" indent="-342900" algn="l">
                  <a:buFont typeface="Arial" panose="020B0604020202020204" pitchFamily="34" charset="0"/>
                  <a:buChar char="•"/>
                </a:pPr>
                <a:r>
                  <a:rPr lang="en-AU" sz="1400" b="0" i="0" dirty="0">
                    <a:solidFill>
                      <a:srgbClr val="222222"/>
                    </a:solidFill>
                    <a:effectLst/>
                    <a:latin typeface="Open Sans" panose="020B0606030504020204" pitchFamily="34" charset="0"/>
                  </a:rPr>
                  <a:t>The agent starts at </a:t>
                </a:r>
                <a14:m>
                  <m:oMath xmlns:m="http://schemas.openxmlformats.org/officeDocument/2006/math">
                    <m:d>
                      <m:dPr>
                        <m:sepChr m:val=","/>
                        <m:ctrlPr>
                          <a:rPr lang="en-AU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sz="2400" i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e>
                        <m:r>
                          <a:rPr lang="en-AU" sz="2400" i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r>
                  <a:rPr lang="en-AU" sz="1400" b="0" i="0" dirty="0">
                    <a:solidFill>
                      <a:srgbClr val="222222"/>
                    </a:solidFill>
                    <a:effectLst/>
                    <a:latin typeface="Open Sans" panose="020B0606030504020204" pitchFamily="34" charset="0"/>
                  </a:rPr>
                  <a:t>.</a:t>
                </a:r>
              </a:p>
              <a:p>
                <a:pPr indent="0" algn="l">
                  <a:buNone/>
                </a:pPr>
                <a:r>
                  <a:rPr lang="en-AU" sz="1400" b="0" i="0" dirty="0">
                    <a:solidFill>
                      <a:srgbClr val="222222"/>
                    </a:solidFill>
                    <a:effectLst/>
                    <a:latin typeface="Open Sans" panose="020B0606030504020204" pitchFamily="34" charset="0"/>
                  </a:rPr>
                  <a:t>You need to define the STRIPS model using the tuple </a:t>
                </a:r>
                <a14:m>
                  <m:oMath xmlns:m="http://schemas.openxmlformats.org/officeDocument/2006/math">
                    <m:r>
                      <a:rPr lang="en-AU" sz="2400" i="1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AU" sz="2400" i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⟨"/>
                        <m:endChr m:val="⟩"/>
                        <m:sepChr m:val=","/>
                        <m:ctrlPr>
                          <a:rPr lang="en-AU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sz="2400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e>
                        <m:r>
                          <a:rPr lang="en-AU" sz="2400" i="1"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  <m:e>
                        <m:r>
                          <a:rPr lang="en-AU" sz="2400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e>
                        <m:r>
                          <a:rPr lang="en-AU" sz="2400" i="1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</m:d>
                  </m:oMath>
                </a14:m>
                <a:r>
                  <a:rPr lang="en-AU" sz="1400" b="0" i="0" dirty="0">
                    <a:solidFill>
                      <a:srgbClr val="222222"/>
                    </a:solidFill>
                    <a:effectLst/>
                    <a:latin typeface="Open Sans" panose="020B0606030504020204" pitchFamily="34" charset="0"/>
                  </a:rPr>
                  <a:t>. For each component, provide a clear, concise definition using mathematical notation where appropriate.</a:t>
                </a: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3292752-D54C-D840-01A8-196ED2C33B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1774" y="100296"/>
                <a:ext cx="10817225" cy="2542684"/>
              </a:xfrm>
              <a:prstGeom prst="rect">
                <a:avLst/>
              </a:prstGeom>
              <a:blipFill>
                <a:blip r:embed="rId3"/>
                <a:stretch>
                  <a:fillRect l="-235" b="-14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7B15162-105D-8278-4FDF-4EF359EFC244}"/>
                  </a:ext>
                </a:extLst>
              </p:cNvPr>
              <p:cNvSpPr txBox="1"/>
              <p:nvPr/>
            </p:nvSpPr>
            <p:spPr>
              <a:xfrm>
                <a:off x="736600" y="2826513"/>
                <a:ext cx="10210800" cy="37371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AU" dirty="0"/>
                  <a:t>Q2</a:t>
                </a:r>
                <a:r>
                  <a:rPr lang="zh-CN" altLang="en-US" dirty="0"/>
                  <a:t> </a:t>
                </a:r>
                <a:r>
                  <a:rPr lang="en-AU" dirty="0"/>
                  <a:t>How would you model </a:t>
                </a:r>
                <a14:m>
                  <m:oMath xmlns:m="http://schemas.openxmlformats.org/officeDocument/2006/math">
                    <m:r>
                      <a:rPr lang="en-AU"/>
                      <m:t>¬</m:t>
                    </m:r>
                    <m:r>
                      <a:rPr lang="en-AU" i="1"/>
                      <m:t>𝑊𝑎𝑙𝑙</m:t>
                    </m:r>
                    <m:d>
                      <m:dPr>
                        <m:sepChr m:val=","/>
                        <m:ctrlPr>
                          <a:rPr lang="en-AU" i="1"/>
                        </m:ctrlPr>
                      </m:dPr>
                      <m:e>
                        <m:sSup>
                          <m:sSupPr>
                            <m:ctrlPr>
                              <a:rPr lang="en-AU" i="1"/>
                            </m:ctrlPr>
                          </m:sSupPr>
                          <m:e>
                            <m:r>
                              <a:rPr lang="en-AU" i="1"/>
                              <m:t>𝑥</m:t>
                            </m:r>
                          </m:e>
                          <m:sup>
                            <m:r>
                              <a:rPr lang="en-AU"/>
                              <m:t>′</m:t>
                            </m:r>
                          </m:sup>
                        </m:sSup>
                      </m:e>
                      <m:e>
                        <m:sSup>
                          <m:sSupPr>
                            <m:ctrlPr>
                              <a:rPr lang="en-AU" i="1"/>
                            </m:ctrlPr>
                          </m:sSupPr>
                          <m:e>
                            <m:r>
                              <a:rPr lang="en-AU" i="1"/>
                              <m:t>𝑦</m:t>
                            </m:r>
                          </m:e>
                          <m:sup>
                            <m:r>
                              <a:rPr lang="en-AU"/>
                              <m:t>′</m:t>
                            </m:r>
                          </m:sup>
                        </m:sSup>
                      </m:e>
                    </m:d>
                  </m:oMath>
                </a14:m>
                <a:r>
                  <a:rPr lang="en-AU" dirty="0"/>
                  <a:t>as part of the precondition for all move operators?</a:t>
                </a:r>
              </a:p>
              <a:p>
                <a:endParaRPr lang="en-AU" dirty="0"/>
              </a:p>
              <a:p>
                <a:endParaRPr lang="en-AU" dirty="0"/>
              </a:p>
              <a:p>
                <a:r>
                  <a:rPr lang="en-AU" dirty="0"/>
                  <a:t>Since STRIPS does not allow negative propositions in preconditions, we cannot directly use:</a:t>
                </a:r>
              </a:p>
              <a:p>
                <a:r>
                  <a:rPr lang="en-AU" dirty="0"/>
                  <a:t>¬Wall(x′, y′)</a:t>
                </a:r>
              </a:p>
              <a:p>
                <a:r>
                  <a:rPr lang="en-AU" dirty="0"/>
                  <a:t>A standard solution is to introduce a positive proposition:</a:t>
                </a:r>
              </a:p>
              <a:p>
                <a:r>
                  <a:rPr lang="en-AU" dirty="0"/>
                  <a:t>free(x′, y′)</a:t>
                </a:r>
              </a:p>
              <a:p>
                <a:endParaRPr lang="en-AU" dirty="0"/>
              </a:p>
              <a:p>
                <a:endParaRPr lang="en-AU" dirty="0"/>
              </a:p>
              <a:p>
                <a:r>
                  <a:rPr lang="en-AU" dirty="0"/>
                  <a:t>O = {move(x, y, x′, y′) | 0 ≤ x, y, x′, y′ &lt; m, |x − x′| + |y − y′| = 1, (x′, y′) ∉ W}</a:t>
                </a:r>
              </a:p>
              <a:p>
                <a:r>
                  <a:rPr lang="en-AU" dirty="0"/>
                  <a:t>      pre(o) = {at(x, y), free(x′, y′)}</a:t>
                </a:r>
              </a:p>
              <a:p>
                <a:r>
                  <a:rPr lang="en-AU" dirty="0"/>
                  <a:t>      add(o) = {at(x′, y′)} ∪ {visited(x′, y′) | (x′, y′) ∈ V}</a:t>
                </a:r>
              </a:p>
              <a:p>
                <a:r>
                  <a:rPr lang="en-AU" dirty="0"/>
                  <a:t>       del(o) = {at(x, y)}</a:t>
                </a: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7B15162-105D-8278-4FDF-4EF359EFC2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6600" y="2826513"/>
                <a:ext cx="10210800" cy="3737177"/>
              </a:xfrm>
              <a:prstGeom prst="rect">
                <a:avLst/>
              </a:prstGeom>
              <a:blipFill>
                <a:blip r:embed="rId4"/>
                <a:stretch>
                  <a:fillRect l="-621" b="-16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811851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5A024B-BF76-2F06-D64B-5677E0F149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AF4D0D50-36EE-6A21-B657-07932ED5074B}"/>
              </a:ext>
            </a:extLst>
          </p:cNvPr>
          <p:cNvSpPr txBox="1"/>
          <p:nvPr/>
        </p:nvSpPr>
        <p:spPr>
          <a:xfrm>
            <a:off x="381000" y="553213"/>
            <a:ext cx="119253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dirty="0"/>
              <a:t>Q2</a:t>
            </a:r>
            <a:r>
              <a:rPr lang="zh-CN" altLang="en-US" dirty="0"/>
              <a:t> </a:t>
            </a:r>
            <a:r>
              <a:rPr lang="en-AU" dirty="0"/>
              <a:t>Try to model this problem using propositions that represent coordinates the agent needs to visit but hasn't visited yet. </a:t>
            </a:r>
          </a:p>
          <a:p>
            <a:pPr lvl="0"/>
            <a:r>
              <a:rPr lang="en-AU" dirty="0"/>
              <a:t>If this is possible, explain how. </a:t>
            </a:r>
            <a:r>
              <a:rPr lang="zh-CN" altLang="en-US" dirty="0"/>
              <a:t> </a:t>
            </a:r>
            <a:r>
              <a:rPr lang="en-AU" dirty="0"/>
              <a:t>If not, explain why not. </a:t>
            </a:r>
            <a:r>
              <a:rPr lang="zh-CN" altLang="en-US" dirty="0"/>
              <a:t> </a:t>
            </a:r>
            <a:r>
              <a:rPr lang="en-AU" dirty="0"/>
              <a:t>Consider the generalisability of your approach.</a:t>
            </a:r>
          </a:p>
          <a:p>
            <a:br>
              <a:rPr lang="en-AU" dirty="0"/>
            </a:br>
            <a:endParaRPr lang="en-AU" dirty="0"/>
          </a:p>
          <a:p>
            <a:endParaRPr lang="en-AU" dirty="0"/>
          </a:p>
          <a:p>
            <a:endParaRPr lang="en-A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290B07C-E65B-F0E4-F792-4CEB7609E1C8}"/>
              </a:ext>
            </a:extLst>
          </p:cNvPr>
          <p:cNvSpPr txBox="1"/>
          <p:nvPr/>
        </p:nvSpPr>
        <p:spPr>
          <a:xfrm>
            <a:off x="92075" y="2039976"/>
            <a:ext cx="11718925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dirty="0"/>
              <a:t>We can use propositions of the form:</a:t>
            </a:r>
          </a:p>
          <a:p>
            <a:r>
              <a:rPr lang="en-AU" dirty="0"/>
              <a:t>unvisited(x, y)</a:t>
            </a:r>
          </a:p>
          <a:p>
            <a:endParaRPr lang="en-AU" dirty="0"/>
          </a:p>
          <a:p>
            <a:r>
              <a:rPr lang="en-AU" dirty="0"/>
              <a:t>The initial state would include:</a:t>
            </a:r>
          </a:p>
          <a:p>
            <a:r>
              <a:rPr lang="en-AU" dirty="0"/>
              <a:t>I = {at(0, 0)} ∪ {unvisited(x, y) | (x, y) ∈ V and (x, y) ≠ (0, 0)}</a:t>
            </a:r>
          </a:p>
          <a:p>
            <a:endParaRPr lang="en-AU" dirty="0"/>
          </a:p>
          <a:p>
            <a:endParaRPr lang="en-AU" dirty="0"/>
          </a:p>
          <a:p>
            <a:r>
              <a:rPr lang="en-AU" dirty="0"/>
              <a:t>However, this representation cannot express the goal directly in standard STRIPS. The intended goal would be:</a:t>
            </a:r>
          </a:p>
          <a:p>
            <a:r>
              <a:rPr lang="en-AU" dirty="0"/>
              <a:t>¬unvisited(x, y) for every (x, y) ∈ V</a:t>
            </a:r>
          </a:p>
        </p:txBody>
      </p:sp>
    </p:spTree>
    <p:extLst>
      <p:ext uri="{BB962C8B-B14F-4D97-AF65-F5344CB8AC3E}">
        <p14:creationId xmlns:p14="http://schemas.microsoft.com/office/powerpoint/2010/main" val="8216511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199213" y="3522686"/>
            <a:ext cx="3822492" cy="46469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chemeClr val="tx1"/>
                </a:solidFill>
              </a:rPr>
              <a:t>Table</a:t>
            </a:r>
            <a:endParaRPr lang="en-US" sz="2400" b="1" dirty="0">
              <a:solidFill>
                <a:schemeClr val="tx1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888762" y="2788168"/>
            <a:ext cx="749508" cy="734518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5" name="Rectangle 4"/>
          <p:cNvSpPr/>
          <p:nvPr/>
        </p:nvSpPr>
        <p:spPr>
          <a:xfrm>
            <a:off x="1888762" y="2053650"/>
            <a:ext cx="749508" cy="734518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600" b="1" dirty="0">
                <a:solidFill>
                  <a:schemeClr val="tx1"/>
                </a:solidFill>
              </a:rPr>
              <a:t>A</a:t>
            </a:r>
            <a:endParaRPr lang="en-US" sz="3600" b="1" dirty="0">
              <a:solidFill>
                <a:schemeClr val="tx1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597641" y="2788168"/>
            <a:ext cx="749508" cy="734518"/>
          </a:xfrm>
          <a:prstGeom prst="rect">
            <a:avLst/>
          </a:prstGeom>
          <a:solidFill>
            <a:srgbClr val="FFC000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7" name="Rectangle 6"/>
          <p:cNvSpPr/>
          <p:nvPr/>
        </p:nvSpPr>
        <p:spPr>
          <a:xfrm>
            <a:off x="6957937" y="3540175"/>
            <a:ext cx="3822492" cy="46469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chemeClr val="tx1"/>
                </a:solidFill>
              </a:rPr>
              <a:t>Table</a:t>
            </a:r>
            <a:endParaRPr lang="en-US" sz="2400" b="1" dirty="0">
              <a:solidFill>
                <a:schemeClr val="tx1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8519417" y="2805657"/>
            <a:ext cx="749508" cy="734518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9" name="Rectangle 8"/>
          <p:cNvSpPr/>
          <p:nvPr/>
        </p:nvSpPr>
        <p:spPr>
          <a:xfrm>
            <a:off x="8519417" y="1336621"/>
            <a:ext cx="749508" cy="734518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600" b="1" dirty="0">
                <a:solidFill>
                  <a:schemeClr val="tx1"/>
                </a:solidFill>
              </a:rPr>
              <a:t>A</a:t>
            </a:r>
            <a:endParaRPr lang="en-US" sz="3600" b="1" dirty="0">
              <a:solidFill>
                <a:schemeClr val="tx1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8519417" y="2083630"/>
            <a:ext cx="749508" cy="734518"/>
          </a:xfrm>
          <a:prstGeom prst="rect">
            <a:avLst/>
          </a:prstGeom>
          <a:solidFill>
            <a:srgbClr val="FFC000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9567" y="389744"/>
            <a:ext cx="42272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A blocks-world problem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9567" y="5204086"/>
            <a:ext cx="1098779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In blocks-world, the agent’s aim is to stack the blocks in one tower with A on B and B on C. </a:t>
            </a:r>
          </a:p>
          <a:p>
            <a:endParaRPr lang="en-US" sz="2000" dirty="0"/>
          </a:p>
          <a:p>
            <a:r>
              <a:rPr lang="en-US" sz="2000" dirty="0"/>
              <a:t>The agent can hold up to one block at a time and can put </a:t>
            </a:r>
            <a:r>
              <a:rPr lang="en-US" altLang="zh-CN" sz="2000" dirty="0"/>
              <a:t>a </a:t>
            </a:r>
            <a:r>
              <a:rPr lang="en-US" sz="2000" dirty="0"/>
              <a:t>block down on the table, or another block.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13418" y="4340076"/>
            <a:ext cx="19337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Initial situation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02059" y="4340076"/>
            <a:ext cx="19337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G</a:t>
            </a:r>
            <a:r>
              <a:rPr lang="en-US" b="1" dirty="0">
                <a:solidFill>
                  <a:srgbClr val="FF0000"/>
                </a:solidFill>
              </a:rPr>
              <a:t>oal situation</a:t>
            </a:r>
          </a:p>
        </p:txBody>
      </p:sp>
      <p:pic>
        <p:nvPicPr>
          <p:cNvPr id="15" name="Picture 2" descr="mage result for hand pick"/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80283" y="508332"/>
            <a:ext cx="1996498" cy="20971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2" descr="mage result for hand pick"/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13562" y="322009"/>
            <a:ext cx="1996498" cy="20971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388735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2" grpId="0"/>
      <p:bldP spid="13" grpId="0"/>
      <p:bldP spid="1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99213" y="3522686"/>
            <a:ext cx="3822492" cy="46469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chemeClr val="tx1"/>
                </a:solidFill>
              </a:rPr>
              <a:t>Table</a:t>
            </a:r>
            <a:endParaRPr lang="en-US" sz="2400" b="1" dirty="0">
              <a:solidFill>
                <a:schemeClr val="tx1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888762" y="2788168"/>
            <a:ext cx="749508" cy="734518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4" name="Rectangle 3"/>
          <p:cNvSpPr/>
          <p:nvPr/>
        </p:nvSpPr>
        <p:spPr>
          <a:xfrm>
            <a:off x="1888762" y="2053650"/>
            <a:ext cx="749508" cy="734518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600" b="1" dirty="0">
                <a:solidFill>
                  <a:schemeClr val="tx1"/>
                </a:solidFill>
              </a:rPr>
              <a:t>A</a:t>
            </a:r>
            <a:endParaRPr lang="en-US" sz="3600" b="1" dirty="0">
              <a:solidFill>
                <a:schemeClr val="tx1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597641" y="2788168"/>
            <a:ext cx="749508" cy="734518"/>
          </a:xfrm>
          <a:prstGeom prst="rect">
            <a:avLst/>
          </a:prstGeom>
          <a:solidFill>
            <a:srgbClr val="FFC000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9567" y="389744"/>
            <a:ext cx="42272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A blocks-world problem</a:t>
            </a:r>
          </a:p>
        </p:txBody>
      </p:sp>
      <p:pic>
        <p:nvPicPr>
          <p:cNvPr id="7" name="Picture 2" descr="mage result for hand pick"/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80283" y="508332"/>
            <a:ext cx="1996498" cy="20971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68989" y="98168"/>
            <a:ext cx="4644909" cy="418871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69203" y="4755013"/>
            <a:ext cx="54568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FF0000"/>
                </a:solidFill>
              </a:rPr>
              <a:t>1.</a:t>
            </a:r>
            <a:r>
              <a:rPr lang="zh-CN" altLang="en-US" sz="2400" b="1" dirty="0">
                <a:solidFill>
                  <a:srgbClr val="FF0000"/>
                </a:solidFill>
              </a:rPr>
              <a:t> </a:t>
            </a:r>
            <a:r>
              <a:rPr lang="en-US" altLang="zh-CN" sz="2400" b="1" dirty="0">
                <a:solidFill>
                  <a:srgbClr val="FF0000"/>
                </a:solidFill>
              </a:rPr>
              <a:t>D</a:t>
            </a:r>
            <a:r>
              <a:rPr lang="en-US" sz="2400" b="1" dirty="0">
                <a:solidFill>
                  <a:srgbClr val="FF0000"/>
                </a:solidFill>
              </a:rPr>
              <a:t>efine the set of facts F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9203" y="5369664"/>
            <a:ext cx="7288679" cy="919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22163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15120" y="3379252"/>
            <a:ext cx="3822492" cy="46469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chemeClr val="tx1"/>
                </a:solidFill>
              </a:rPr>
              <a:t>Table</a:t>
            </a:r>
            <a:endParaRPr lang="en-US" sz="2400" b="1" dirty="0">
              <a:solidFill>
                <a:schemeClr val="tx1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404669" y="2644734"/>
            <a:ext cx="749508" cy="734518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4" name="Rectangle 3"/>
          <p:cNvSpPr/>
          <p:nvPr/>
        </p:nvSpPr>
        <p:spPr>
          <a:xfrm>
            <a:off x="1404669" y="1910216"/>
            <a:ext cx="749508" cy="734518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600" b="1" dirty="0">
                <a:solidFill>
                  <a:schemeClr val="tx1"/>
                </a:solidFill>
              </a:rPr>
              <a:t>A</a:t>
            </a:r>
            <a:endParaRPr lang="en-US" sz="3600" b="1" dirty="0">
              <a:solidFill>
                <a:schemeClr val="tx1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113548" y="2644734"/>
            <a:ext cx="749508" cy="734518"/>
          </a:xfrm>
          <a:prstGeom prst="rect">
            <a:avLst/>
          </a:prstGeom>
          <a:solidFill>
            <a:srgbClr val="FFC000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9567" y="389744"/>
            <a:ext cx="42272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A blocks-world problem</a:t>
            </a:r>
          </a:p>
        </p:txBody>
      </p:sp>
      <p:pic>
        <p:nvPicPr>
          <p:cNvPr id="7" name="Picture 2" descr="mage result for hand pick"/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07955" y="655745"/>
            <a:ext cx="1996498" cy="20971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TextBox 19"/>
          <p:cNvSpPr txBox="1"/>
          <p:nvPr/>
        </p:nvSpPr>
        <p:spPr>
          <a:xfrm>
            <a:off x="5711251" y="895553"/>
            <a:ext cx="43830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rgbClr val="FF0000"/>
                </a:solidFill>
              </a:rPr>
              <a:t>1.</a:t>
            </a:r>
            <a:r>
              <a:rPr lang="zh-CN" altLang="en-US" sz="2000" b="1" dirty="0">
                <a:solidFill>
                  <a:srgbClr val="FF0000"/>
                </a:solidFill>
              </a:rPr>
              <a:t> </a:t>
            </a:r>
            <a:r>
              <a:rPr lang="en-US" altLang="zh-CN" sz="2000" b="1" dirty="0">
                <a:solidFill>
                  <a:srgbClr val="FF0000"/>
                </a:solidFill>
              </a:rPr>
              <a:t>D</a:t>
            </a:r>
            <a:r>
              <a:rPr lang="en-US" sz="2000" b="1" dirty="0">
                <a:solidFill>
                  <a:srgbClr val="FF0000"/>
                </a:solidFill>
              </a:rPr>
              <a:t>efine the set of facts F</a:t>
            </a:r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09621" y="1359428"/>
            <a:ext cx="6342241" cy="800134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64009" y="107493"/>
            <a:ext cx="4865576" cy="496488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5711251" y="2666257"/>
            <a:ext cx="43830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rgbClr val="FF0000"/>
                </a:solidFill>
              </a:rPr>
              <a:t>2.</a:t>
            </a:r>
            <a:r>
              <a:rPr lang="zh-CN" altLang="en-US" sz="2000" b="1" dirty="0">
                <a:solidFill>
                  <a:srgbClr val="FF0000"/>
                </a:solidFill>
              </a:rPr>
              <a:t> </a:t>
            </a:r>
            <a:r>
              <a:rPr lang="en-US" altLang="zh-CN" sz="2000" b="1" dirty="0">
                <a:solidFill>
                  <a:srgbClr val="FF0000"/>
                </a:solidFill>
              </a:rPr>
              <a:t>D</a:t>
            </a:r>
            <a:r>
              <a:rPr lang="en-US" sz="2000" b="1" dirty="0">
                <a:solidFill>
                  <a:srgbClr val="FF0000"/>
                </a:solidFill>
              </a:rPr>
              <a:t>efine operators(actions) O 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34261" y="3107346"/>
            <a:ext cx="569296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The agent can hold up to one block at a time and can put a block down on the table, or another block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34261" y="3882663"/>
            <a:ext cx="52895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arenR"/>
              <a:tabLst/>
              <a:defRPr/>
            </a:pPr>
            <a:r>
              <a:rPr lang="en-US" b="1" dirty="0">
                <a:solidFill>
                  <a:srgbClr val="0070C0"/>
                </a:solidFill>
              </a:rPr>
              <a:t>Just pick up from table: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78071" y="4251995"/>
            <a:ext cx="45515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 pickup(x)</a:t>
            </a:r>
          </a:p>
        </p:txBody>
      </p:sp>
    </p:spTree>
    <p:extLst>
      <p:ext uri="{BB962C8B-B14F-4D97-AF65-F5344CB8AC3E}">
        <p14:creationId xmlns:p14="http://schemas.microsoft.com/office/powerpoint/2010/main" val="958933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6.25E-7 3.7037E-7 L -0.06133 0.13727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073" y="685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15120" y="3379252"/>
            <a:ext cx="3822492" cy="46469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chemeClr val="tx1"/>
                </a:solidFill>
              </a:rPr>
              <a:t>Table</a:t>
            </a:r>
            <a:endParaRPr lang="en-US" sz="2400" b="1" dirty="0">
              <a:solidFill>
                <a:schemeClr val="tx1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404669" y="2644734"/>
            <a:ext cx="749508" cy="734518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4" name="Rectangle 3"/>
          <p:cNvSpPr/>
          <p:nvPr/>
        </p:nvSpPr>
        <p:spPr>
          <a:xfrm>
            <a:off x="1404669" y="1910216"/>
            <a:ext cx="749508" cy="734518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600" b="1" dirty="0">
                <a:solidFill>
                  <a:schemeClr val="tx1"/>
                </a:solidFill>
              </a:rPr>
              <a:t>A</a:t>
            </a:r>
            <a:endParaRPr lang="en-US" sz="3600" b="1" dirty="0">
              <a:solidFill>
                <a:schemeClr val="tx1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113548" y="2644734"/>
            <a:ext cx="749508" cy="734518"/>
          </a:xfrm>
          <a:prstGeom prst="rect">
            <a:avLst/>
          </a:prstGeom>
          <a:solidFill>
            <a:srgbClr val="FFC000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9567" y="389744"/>
            <a:ext cx="42272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A blocks-world problem</a:t>
            </a:r>
          </a:p>
        </p:txBody>
      </p:sp>
      <p:pic>
        <p:nvPicPr>
          <p:cNvPr id="7" name="Picture 2" descr="mage result for hand pick"/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01086" y="1627882"/>
            <a:ext cx="1996498" cy="20971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5711251" y="895553"/>
            <a:ext cx="43830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rgbClr val="FF0000"/>
                </a:solidFill>
              </a:rPr>
              <a:t>1.</a:t>
            </a:r>
            <a:r>
              <a:rPr lang="zh-CN" altLang="en-US" sz="2000" b="1" dirty="0">
                <a:solidFill>
                  <a:srgbClr val="FF0000"/>
                </a:solidFill>
              </a:rPr>
              <a:t> </a:t>
            </a:r>
            <a:r>
              <a:rPr lang="en-US" altLang="zh-CN" sz="2000" b="1" dirty="0">
                <a:solidFill>
                  <a:srgbClr val="FF0000"/>
                </a:solidFill>
              </a:rPr>
              <a:t>D</a:t>
            </a:r>
            <a:r>
              <a:rPr lang="en-US" sz="2000" b="1" dirty="0">
                <a:solidFill>
                  <a:srgbClr val="FF0000"/>
                </a:solidFill>
              </a:rPr>
              <a:t>efine the set of facts F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09621" y="1359428"/>
            <a:ext cx="6342241" cy="800134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64009" y="107493"/>
            <a:ext cx="4865576" cy="4964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711251" y="2666257"/>
            <a:ext cx="43830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rgbClr val="FF0000"/>
                </a:solidFill>
              </a:rPr>
              <a:t>2.</a:t>
            </a:r>
            <a:r>
              <a:rPr lang="zh-CN" altLang="en-US" sz="2000" b="1" dirty="0">
                <a:solidFill>
                  <a:srgbClr val="FF0000"/>
                </a:solidFill>
              </a:rPr>
              <a:t> </a:t>
            </a:r>
            <a:r>
              <a:rPr lang="en-US" altLang="zh-CN" sz="2000" b="1" dirty="0">
                <a:solidFill>
                  <a:srgbClr val="FF0000"/>
                </a:solidFill>
              </a:rPr>
              <a:t>D</a:t>
            </a:r>
            <a:r>
              <a:rPr lang="en-US" sz="2000" b="1" dirty="0">
                <a:solidFill>
                  <a:srgbClr val="FF0000"/>
                </a:solidFill>
              </a:rPr>
              <a:t>efine operators(actions) O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34261" y="3107346"/>
            <a:ext cx="569296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The agent can hold up to one block at a time and can put a block down on the table, or another block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34261" y="3882663"/>
            <a:ext cx="52895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arenR"/>
              <a:tabLst/>
              <a:defRPr/>
            </a:pPr>
            <a:r>
              <a:rPr lang="en-US" b="1" dirty="0">
                <a:solidFill>
                  <a:srgbClr val="0070C0"/>
                </a:solidFill>
              </a:rPr>
              <a:t>Just pick up from table: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78071" y="4251995"/>
            <a:ext cx="45515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 pickup(x)</a:t>
            </a:r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07311" y="4698559"/>
            <a:ext cx="3618007" cy="388851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07311" y="5164641"/>
            <a:ext cx="1735418" cy="459375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07311" y="5710574"/>
            <a:ext cx="3800568" cy="4750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97401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8385 -0.20672 " pathEditMode="relative" ptsTypes="AA">
                                      <p:cBhvr>
                                        <p:cTn id="6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8385 -0.20672 " pathEditMode="relative" ptsTypes="AA">
                                      <p:cBhvr>
                                        <p:cTn id="8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15120" y="3379252"/>
            <a:ext cx="3822492" cy="46469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chemeClr val="tx1"/>
                </a:solidFill>
              </a:rPr>
              <a:t>Table</a:t>
            </a:r>
            <a:endParaRPr lang="en-US" sz="2400" b="1" dirty="0">
              <a:solidFill>
                <a:schemeClr val="tx1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404669" y="2644734"/>
            <a:ext cx="749508" cy="734518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4" name="Rectangle 3"/>
          <p:cNvSpPr/>
          <p:nvPr/>
        </p:nvSpPr>
        <p:spPr>
          <a:xfrm>
            <a:off x="1404669" y="1910216"/>
            <a:ext cx="749508" cy="734518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600" b="1" dirty="0">
                <a:solidFill>
                  <a:schemeClr val="tx1"/>
                </a:solidFill>
              </a:rPr>
              <a:t>A</a:t>
            </a:r>
            <a:endParaRPr lang="en-US" sz="3600" b="1" dirty="0">
              <a:solidFill>
                <a:schemeClr val="tx1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971140" y="2632362"/>
            <a:ext cx="749508" cy="734518"/>
          </a:xfrm>
          <a:prstGeom prst="rect">
            <a:avLst/>
          </a:prstGeom>
          <a:solidFill>
            <a:srgbClr val="FFC000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9567" y="389744"/>
            <a:ext cx="42272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A blocks-world problem</a:t>
            </a:r>
          </a:p>
        </p:txBody>
      </p:sp>
      <p:pic>
        <p:nvPicPr>
          <p:cNvPr id="7" name="Picture 2" descr="mage result for hand pick"/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54177" y="215979"/>
            <a:ext cx="1996498" cy="20971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5711251" y="895553"/>
            <a:ext cx="43830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rgbClr val="FF0000"/>
                </a:solidFill>
              </a:rPr>
              <a:t>1.</a:t>
            </a:r>
            <a:r>
              <a:rPr lang="zh-CN" altLang="en-US" sz="2000" b="1" dirty="0">
                <a:solidFill>
                  <a:srgbClr val="FF0000"/>
                </a:solidFill>
              </a:rPr>
              <a:t> </a:t>
            </a:r>
            <a:r>
              <a:rPr lang="en-US" altLang="zh-CN" sz="2000" b="1" dirty="0">
                <a:solidFill>
                  <a:srgbClr val="FF0000"/>
                </a:solidFill>
              </a:rPr>
              <a:t>D</a:t>
            </a:r>
            <a:r>
              <a:rPr lang="en-US" sz="2000" b="1" dirty="0">
                <a:solidFill>
                  <a:srgbClr val="FF0000"/>
                </a:solidFill>
              </a:rPr>
              <a:t>efine the set of facts F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09621" y="1359428"/>
            <a:ext cx="6342241" cy="800134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64009" y="107493"/>
            <a:ext cx="4865576" cy="4964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711251" y="2666257"/>
            <a:ext cx="43830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rgbClr val="FF0000"/>
                </a:solidFill>
              </a:rPr>
              <a:t>2.</a:t>
            </a:r>
            <a:r>
              <a:rPr lang="zh-CN" altLang="en-US" sz="2000" b="1" dirty="0">
                <a:solidFill>
                  <a:srgbClr val="FF0000"/>
                </a:solidFill>
              </a:rPr>
              <a:t> </a:t>
            </a:r>
            <a:r>
              <a:rPr lang="en-US" altLang="zh-CN" sz="2000" b="1" dirty="0">
                <a:solidFill>
                  <a:srgbClr val="FF0000"/>
                </a:solidFill>
              </a:rPr>
              <a:t>D</a:t>
            </a:r>
            <a:r>
              <a:rPr lang="en-US" sz="2000" b="1" dirty="0">
                <a:solidFill>
                  <a:srgbClr val="FF0000"/>
                </a:solidFill>
              </a:rPr>
              <a:t>efine operators(actions) O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34261" y="3426933"/>
            <a:ext cx="52895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b="1" dirty="0">
                <a:solidFill>
                  <a:srgbClr val="0070C0"/>
                </a:solidFill>
              </a:rPr>
              <a:t>2) Pick up from another block: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34261" y="4077189"/>
            <a:ext cx="45515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 unstack (x, y)</a:t>
            </a:r>
          </a:p>
        </p:txBody>
      </p:sp>
    </p:spTree>
    <p:extLst>
      <p:ext uri="{BB962C8B-B14F-4D97-AF65-F5344CB8AC3E}">
        <p14:creationId xmlns:p14="http://schemas.microsoft.com/office/powerpoint/2010/main" val="17504166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75E-6 7.40741E-7 L -0.06445 0.09421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229" y="469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15120" y="3379252"/>
            <a:ext cx="3822492" cy="46469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chemeClr val="tx1"/>
                </a:solidFill>
              </a:rPr>
              <a:t>Table</a:t>
            </a:r>
            <a:endParaRPr lang="en-US" sz="2400" b="1" dirty="0">
              <a:solidFill>
                <a:schemeClr val="tx1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404669" y="2644734"/>
            <a:ext cx="749508" cy="734518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4" name="Rectangle 3"/>
          <p:cNvSpPr/>
          <p:nvPr/>
        </p:nvSpPr>
        <p:spPr>
          <a:xfrm>
            <a:off x="1404669" y="1910216"/>
            <a:ext cx="749508" cy="734518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600" b="1" dirty="0">
                <a:solidFill>
                  <a:schemeClr val="tx1"/>
                </a:solidFill>
              </a:rPr>
              <a:t>A</a:t>
            </a:r>
            <a:endParaRPr lang="en-US" sz="3600" b="1" dirty="0">
              <a:solidFill>
                <a:schemeClr val="tx1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971140" y="2632362"/>
            <a:ext cx="749508" cy="734518"/>
          </a:xfrm>
          <a:prstGeom prst="rect">
            <a:avLst/>
          </a:prstGeom>
          <a:solidFill>
            <a:srgbClr val="FFC000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9567" y="389744"/>
            <a:ext cx="42272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A blocks-world problem</a:t>
            </a:r>
          </a:p>
        </p:txBody>
      </p:sp>
      <p:pic>
        <p:nvPicPr>
          <p:cNvPr id="7" name="Picture 2" descr="mage result for hand pick"/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4669" y="869524"/>
            <a:ext cx="1996498" cy="20971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24283" y="5105391"/>
            <a:ext cx="2815482" cy="451199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5999" y="5557651"/>
            <a:ext cx="3243917" cy="375611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5711251" y="895553"/>
            <a:ext cx="43830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rgbClr val="FF0000"/>
                </a:solidFill>
              </a:rPr>
              <a:t>1.</a:t>
            </a:r>
            <a:r>
              <a:rPr lang="zh-CN" altLang="en-US" sz="2000" b="1" dirty="0">
                <a:solidFill>
                  <a:srgbClr val="FF0000"/>
                </a:solidFill>
              </a:rPr>
              <a:t> </a:t>
            </a:r>
            <a:r>
              <a:rPr lang="en-US" altLang="zh-CN" sz="2000" b="1" dirty="0">
                <a:solidFill>
                  <a:srgbClr val="FF0000"/>
                </a:solidFill>
              </a:rPr>
              <a:t>D</a:t>
            </a:r>
            <a:r>
              <a:rPr lang="en-US" sz="2000" b="1" dirty="0">
                <a:solidFill>
                  <a:srgbClr val="FF0000"/>
                </a:solidFill>
              </a:rPr>
              <a:t>efine the set of facts F</a:t>
            </a:r>
          </a:p>
        </p:txBody>
      </p:sp>
      <p:pic>
        <p:nvPicPr>
          <p:cNvPr id="22" name="Picture 2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09621" y="1359428"/>
            <a:ext cx="6342241" cy="800134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64009" y="107493"/>
            <a:ext cx="4865576" cy="496488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5711251" y="2666257"/>
            <a:ext cx="43830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rgbClr val="FF0000"/>
                </a:solidFill>
              </a:rPr>
              <a:t>2.</a:t>
            </a:r>
            <a:r>
              <a:rPr lang="zh-CN" altLang="en-US" sz="2000" b="1" dirty="0">
                <a:solidFill>
                  <a:srgbClr val="FF0000"/>
                </a:solidFill>
              </a:rPr>
              <a:t> </a:t>
            </a:r>
            <a:r>
              <a:rPr lang="en-US" altLang="zh-CN" sz="2000" b="1" dirty="0">
                <a:solidFill>
                  <a:srgbClr val="FF0000"/>
                </a:solidFill>
              </a:rPr>
              <a:t>D</a:t>
            </a:r>
            <a:r>
              <a:rPr lang="en-US" sz="2000" b="1" dirty="0">
                <a:solidFill>
                  <a:srgbClr val="FF0000"/>
                </a:solidFill>
              </a:rPr>
              <a:t>efine operators(actions) O 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34261" y="4077189"/>
            <a:ext cx="45515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 unstack (x, y)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34261" y="3426933"/>
            <a:ext cx="52895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b="1" dirty="0">
                <a:solidFill>
                  <a:srgbClr val="0070C0"/>
                </a:solidFill>
              </a:rPr>
              <a:t>2) Pick up from another block:</a:t>
            </a:r>
          </a:p>
        </p:txBody>
      </p:sp>
      <p:pic>
        <p:nvPicPr>
          <p:cNvPr id="27" name="Picture 2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78070" y="4609560"/>
            <a:ext cx="3405563" cy="454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54149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8242 -0.14097 " pathEditMode="relative" ptsTypes="AA">
                                      <p:cBhvr>
                                        <p:cTn id="6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8242 -0.14097 " pathEditMode="relative" ptsTypes="AA">
                                      <p:cBhvr>
                                        <p:cTn id="8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15120" y="3379252"/>
            <a:ext cx="3822492" cy="46469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chemeClr val="tx1"/>
                </a:solidFill>
              </a:rPr>
              <a:t>Table</a:t>
            </a:r>
            <a:endParaRPr lang="en-US" sz="2400" b="1" dirty="0">
              <a:solidFill>
                <a:schemeClr val="tx1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404669" y="2644734"/>
            <a:ext cx="749508" cy="734518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4" name="Rectangle 3"/>
          <p:cNvSpPr/>
          <p:nvPr/>
        </p:nvSpPr>
        <p:spPr>
          <a:xfrm>
            <a:off x="1404669" y="1910216"/>
            <a:ext cx="749508" cy="734518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600" b="1" dirty="0">
                <a:solidFill>
                  <a:schemeClr val="tx1"/>
                </a:solidFill>
              </a:rPr>
              <a:t>A</a:t>
            </a:r>
            <a:endParaRPr lang="en-US" sz="3600" b="1" dirty="0">
              <a:solidFill>
                <a:schemeClr val="tx1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539363" y="1571409"/>
            <a:ext cx="749508" cy="734518"/>
          </a:xfrm>
          <a:prstGeom prst="rect">
            <a:avLst/>
          </a:prstGeom>
          <a:solidFill>
            <a:srgbClr val="FFC000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9567" y="389744"/>
            <a:ext cx="42272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A blocks-world problem</a:t>
            </a:r>
          </a:p>
        </p:txBody>
      </p:sp>
      <p:pic>
        <p:nvPicPr>
          <p:cNvPr id="7" name="Picture 2" descr="mage result for hand pick"/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39363" y="522828"/>
            <a:ext cx="1996498" cy="20971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TextBox 20"/>
          <p:cNvSpPr txBox="1"/>
          <p:nvPr/>
        </p:nvSpPr>
        <p:spPr>
          <a:xfrm>
            <a:off x="5711251" y="895553"/>
            <a:ext cx="43830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rgbClr val="FF0000"/>
                </a:solidFill>
              </a:rPr>
              <a:t>1.</a:t>
            </a:r>
            <a:r>
              <a:rPr lang="zh-CN" altLang="en-US" sz="2000" b="1" dirty="0">
                <a:solidFill>
                  <a:srgbClr val="FF0000"/>
                </a:solidFill>
              </a:rPr>
              <a:t> </a:t>
            </a:r>
            <a:r>
              <a:rPr lang="en-US" altLang="zh-CN" sz="2000" b="1" dirty="0">
                <a:solidFill>
                  <a:srgbClr val="FF0000"/>
                </a:solidFill>
              </a:rPr>
              <a:t>D</a:t>
            </a:r>
            <a:r>
              <a:rPr lang="en-US" sz="2000" b="1" dirty="0">
                <a:solidFill>
                  <a:srgbClr val="FF0000"/>
                </a:solidFill>
              </a:rPr>
              <a:t>efine the set of facts F</a:t>
            </a:r>
          </a:p>
        </p:txBody>
      </p:sp>
      <p:pic>
        <p:nvPicPr>
          <p:cNvPr id="22" name="Picture 2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09621" y="1359428"/>
            <a:ext cx="6342241" cy="800134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64009" y="107493"/>
            <a:ext cx="4865576" cy="496488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5711251" y="2666257"/>
            <a:ext cx="43830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rgbClr val="FF0000"/>
                </a:solidFill>
              </a:rPr>
              <a:t>2.</a:t>
            </a:r>
            <a:r>
              <a:rPr lang="zh-CN" altLang="en-US" sz="2000" b="1" dirty="0">
                <a:solidFill>
                  <a:srgbClr val="FF0000"/>
                </a:solidFill>
              </a:rPr>
              <a:t> </a:t>
            </a:r>
            <a:r>
              <a:rPr lang="en-US" altLang="zh-CN" sz="2000" b="1" dirty="0">
                <a:solidFill>
                  <a:srgbClr val="FF0000"/>
                </a:solidFill>
              </a:rPr>
              <a:t>D</a:t>
            </a:r>
            <a:r>
              <a:rPr lang="en-US" sz="2000" b="1" dirty="0">
                <a:solidFill>
                  <a:srgbClr val="FF0000"/>
                </a:solidFill>
              </a:rPr>
              <a:t>efine operators(actions) O 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34261" y="4077189"/>
            <a:ext cx="45515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 putdown (x)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34261" y="3426933"/>
            <a:ext cx="52895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b="1" dirty="0">
                <a:solidFill>
                  <a:srgbClr val="0070C0"/>
                </a:solidFill>
              </a:rPr>
              <a:t>3) Put down on table: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68357" y="4618371"/>
            <a:ext cx="1856441" cy="402813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52190" y="5100701"/>
            <a:ext cx="3627550" cy="36777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988048" y="5512130"/>
            <a:ext cx="1614022" cy="415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27408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6028 0.1544 " pathEditMode="relative" ptsTypes="AA">
                                      <p:cBhvr>
                                        <p:cTn id="6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6028 0.1544 " pathEditMode="relative" ptsTypes="AA">
                                      <p:cBhvr>
                                        <p:cTn id="8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5886 0.15023 L 4.58333E-6 2.08167E-17 " pathEditMode="relative" rAng="0" ptsTypes="AA">
                                      <p:cBhvr>
                                        <p:cTn id="12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943" y="-678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15120" y="3379252"/>
            <a:ext cx="3822492" cy="46469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chemeClr val="tx1"/>
                </a:solidFill>
              </a:rPr>
              <a:t>Table</a:t>
            </a:r>
            <a:endParaRPr lang="en-US" sz="2400" b="1" dirty="0">
              <a:solidFill>
                <a:schemeClr val="tx1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404669" y="2644734"/>
            <a:ext cx="749508" cy="734518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4" name="Rectangle 3"/>
          <p:cNvSpPr/>
          <p:nvPr/>
        </p:nvSpPr>
        <p:spPr>
          <a:xfrm>
            <a:off x="3479308" y="876719"/>
            <a:ext cx="749508" cy="734518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600" b="1" dirty="0">
                <a:solidFill>
                  <a:schemeClr val="tx1"/>
                </a:solidFill>
              </a:rPr>
              <a:t>A</a:t>
            </a:r>
            <a:endParaRPr lang="en-US" sz="3600" b="1" dirty="0">
              <a:solidFill>
                <a:schemeClr val="tx1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064587" y="2626456"/>
            <a:ext cx="749508" cy="734518"/>
          </a:xfrm>
          <a:prstGeom prst="rect">
            <a:avLst/>
          </a:prstGeom>
          <a:solidFill>
            <a:srgbClr val="FFC000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9567" y="389744"/>
            <a:ext cx="42272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A blocks-world problem</a:t>
            </a:r>
          </a:p>
        </p:txBody>
      </p:sp>
      <p:pic>
        <p:nvPicPr>
          <p:cNvPr id="7" name="Picture 2" descr="mage result for hand pick"/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02388" y="-171862"/>
            <a:ext cx="1996498" cy="20971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TextBox 20"/>
          <p:cNvSpPr txBox="1"/>
          <p:nvPr/>
        </p:nvSpPr>
        <p:spPr>
          <a:xfrm>
            <a:off x="5711251" y="895553"/>
            <a:ext cx="43830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rgbClr val="FF0000"/>
                </a:solidFill>
              </a:rPr>
              <a:t>1.</a:t>
            </a:r>
            <a:r>
              <a:rPr lang="zh-CN" altLang="en-US" sz="2000" b="1" dirty="0">
                <a:solidFill>
                  <a:srgbClr val="FF0000"/>
                </a:solidFill>
              </a:rPr>
              <a:t> </a:t>
            </a:r>
            <a:r>
              <a:rPr lang="en-US" altLang="zh-CN" sz="2000" b="1" dirty="0">
                <a:solidFill>
                  <a:srgbClr val="FF0000"/>
                </a:solidFill>
              </a:rPr>
              <a:t>D</a:t>
            </a:r>
            <a:r>
              <a:rPr lang="en-US" sz="2000" b="1" dirty="0">
                <a:solidFill>
                  <a:srgbClr val="FF0000"/>
                </a:solidFill>
              </a:rPr>
              <a:t>efine the set of facts F</a:t>
            </a:r>
          </a:p>
        </p:txBody>
      </p:sp>
      <p:pic>
        <p:nvPicPr>
          <p:cNvPr id="22" name="Picture 2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09621" y="1359428"/>
            <a:ext cx="6342241" cy="800134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64009" y="107493"/>
            <a:ext cx="4865576" cy="496488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5711251" y="2666257"/>
            <a:ext cx="43830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rgbClr val="FF0000"/>
                </a:solidFill>
              </a:rPr>
              <a:t>2.</a:t>
            </a:r>
            <a:r>
              <a:rPr lang="zh-CN" altLang="en-US" sz="2000" b="1" dirty="0">
                <a:solidFill>
                  <a:srgbClr val="FF0000"/>
                </a:solidFill>
              </a:rPr>
              <a:t> </a:t>
            </a:r>
            <a:r>
              <a:rPr lang="en-US" altLang="zh-CN" sz="2000" b="1" dirty="0">
                <a:solidFill>
                  <a:srgbClr val="FF0000"/>
                </a:solidFill>
              </a:rPr>
              <a:t>D</a:t>
            </a:r>
            <a:r>
              <a:rPr lang="en-US" sz="2000" b="1" dirty="0">
                <a:solidFill>
                  <a:srgbClr val="FF0000"/>
                </a:solidFill>
              </a:rPr>
              <a:t>efine operators(actions) O 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34261" y="4077189"/>
            <a:ext cx="45515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 stack (x, y)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34261" y="3426933"/>
            <a:ext cx="52895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b="1" dirty="0">
                <a:solidFill>
                  <a:srgbClr val="0070C0"/>
                </a:solidFill>
              </a:rPr>
              <a:t>4) Put down on another block: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01864" y="4548804"/>
            <a:ext cx="3224585" cy="541947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65707" y="5045707"/>
            <a:ext cx="3745812" cy="475215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01864" y="5370810"/>
            <a:ext cx="3224585" cy="4894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10300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859 0.01273 L -0.03321 0.1463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096" y="6667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834 0.00509 L -0.04205 0.13611 " pathEditMode="relative" rAng="0" ptsTypes="AA">
                                      <p:cBhvr>
                                        <p:cTn id="8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526" y="655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4062 0.12847 L 0.00495 0.00555 " pathEditMode="relative" ptsTypes="AA">
                                      <p:cBhvr>
                                        <p:cTn id="12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014432" y="2697933"/>
            <a:ext cx="3822492" cy="46469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chemeClr val="tx1"/>
                </a:solidFill>
              </a:rPr>
              <a:t>Table</a:t>
            </a:r>
            <a:endParaRPr lang="en-US" sz="2400" b="1" dirty="0">
              <a:solidFill>
                <a:schemeClr val="tx1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8703981" y="1963415"/>
            <a:ext cx="749508" cy="734518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4" name="Rectangle 3"/>
          <p:cNvSpPr/>
          <p:nvPr/>
        </p:nvSpPr>
        <p:spPr>
          <a:xfrm>
            <a:off x="8703981" y="1228897"/>
            <a:ext cx="749508" cy="734518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600" b="1" dirty="0">
                <a:solidFill>
                  <a:schemeClr val="tx1"/>
                </a:solidFill>
              </a:rPr>
              <a:t>A</a:t>
            </a:r>
            <a:endParaRPr lang="en-US" sz="3600" b="1" dirty="0">
              <a:solidFill>
                <a:schemeClr val="tx1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0412860" y="1963415"/>
            <a:ext cx="749508" cy="734518"/>
          </a:xfrm>
          <a:prstGeom prst="rect">
            <a:avLst/>
          </a:prstGeom>
          <a:solidFill>
            <a:srgbClr val="FFC000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5779" y="371815"/>
            <a:ext cx="42272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A blocks-world problem</a:t>
            </a:r>
          </a:p>
        </p:txBody>
      </p:sp>
      <p:pic>
        <p:nvPicPr>
          <p:cNvPr id="7" name="Picture 2" descr="mage result for hand pick"/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95502" y="-316421"/>
            <a:ext cx="1996498" cy="20971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/>
          <p:cNvSpPr txBox="1"/>
          <p:nvPr/>
        </p:nvSpPr>
        <p:spPr>
          <a:xfrm>
            <a:off x="358588" y="1049604"/>
            <a:ext cx="4661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FF0000"/>
                </a:solidFill>
              </a:rPr>
              <a:t>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7350" y="1850504"/>
            <a:ext cx="322729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</a:rPr>
              <a:t>O</a:t>
            </a: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9370" y="1228897"/>
            <a:ext cx="6835737" cy="467038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9712" y="2003029"/>
            <a:ext cx="2908300" cy="1600200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27238" y="1948191"/>
            <a:ext cx="2895600" cy="1663700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93622" y="3753135"/>
            <a:ext cx="3175000" cy="1651000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327238" y="3638317"/>
            <a:ext cx="3251200" cy="1676400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18975" y="5621811"/>
            <a:ext cx="4978400" cy="304800"/>
          </a:xfrm>
          <a:prstGeom prst="rect">
            <a:avLst/>
          </a:prstGeom>
        </p:spPr>
      </p:pic>
      <p:pic>
        <p:nvPicPr>
          <p:cNvPr id="24" name="Picture 23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028961" y="419279"/>
            <a:ext cx="4424528" cy="475756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496042" y="5512601"/>
            <a:ext cx="3550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6042" y="6037457"/>
            <a:ext cx="3550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7177" y="6130471"/>
            <a:ext cx="23571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 = </a:t>
            </a:r>
          </a:p>
        </p:txBody>
      </p:sp>
      <p:pic>
        <p:nvPicPr>
          <p:cNvPr id="28" name="Picture 27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308462" y="6203794"/>
            <a:ext cx="1869531" cy="296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58985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26" grpId="0"/>
      <p:bldP spid="27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45459" y="1846730"/>
            <a:ext cx="1102658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Blocks-world can be modeled with only 2 actions instead of 4. </a:t>
            </a:r>
          </a:p>
          <a:p>
            <a:endParaRPr lang="en-US" sz="2400" dirty="0"/>
          </a:p>
          <a:p>
            <a:r>
              <a:rPr lang="en-US" sz="2400" dirty="0"/>
              <a:t>The robot can pick up a block and put it down on another block (or the table) </a:t>
            </a:r>
            <a:r>
              <a:rPr lang="en-US" sz="2400" b="1" dirty="0">
                <a:solidFill>
                  <a:srgbClr val="FF0000"/>
                </a:solidFill>
              </a:rPr>
              <a:t>in a single action</a:t>
            </a:r>
            <a:r>
              <a:rPr lang="en-US" sz="2400" dirty="0"/>
              <a:t>.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5459" y="860611"/>
            <a:ext cx="473336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400" b="1" dirty="0">
                <a:solidFill>
                  <a:srgbClr val="FF0000"/>
                </a:solidFill>
              </a:rPr>
              <a:t>2</a:t>
            </a:r>
            <a:r>
              <a:rPr lang="zh-CN" altLang="en-US" sz="4400" b="1" dirty="0">
                <a:solidFill>
                  <a:srgbClr val="FF0000"/>
                </a:solidFill>
              </a:rPr>
              <a:t> </a:t>
            </a:r>
            <a:r>
              <a:rPr lang="en-US" altLang="zh-CN" sz="4400" b="1" dirty="0">
                <a:solidFill>
                  <a:srgbClr val="FF0000"/>
                </a:solidFill>
              </a:rPr>
              <a:t>actions</a:t>
            </a:r>
            <a:endParaRPr lang="en-US" sz="4400" b="1" dirty="0">
              <a:solidFill>
                <a:srgbClr val="FF000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5459" y="3908611"/>
            <a:ext cx="1072178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/>
              <a:t>2</a:t>
            </a:r>
            <a:r>
              <a:rPr lang="zh-CN" altLang="en-US" sz="2400" b="1" dirty="0"/>
              <a:t> </a:t>
            </a:r>
            <a:r>
              <a:rPr lang="en-US" sz="2400" b="1" dirty="0"/>
              <a:t>actions in total:</a:t>
            </a:r>
          </a:p>
          <a:p>
            <a:r>
              <a:rPr lang="en-US" sz="2400" b="1" dirty="0">
                <a:solidFill>
                  <a:srgbClr val="FF0000"/>
                </a:solidFill>
              </a:rPr>
              <a:t>Move</a:t>
            </a:r>
            <a:r>
              <a:rPr lang="en-US" altLang="zh-CN" sz="2400" b="1" dirty="0">
                <a:solidFill>
                  <a:srgbClr val="FF0000"/>
                </a:solidFill>
              </a:rPr>
              <a:t>1</a:t>
            </a:r>
            <a:r>
              <a:rPr lang="en-US" sz="2400" b="1" dirty="0">
                <a:solidFill>
                  <a:srgbClr val="FF0000"/>
                </a:solidFill>
              </a:rPr>
              <a:t>(Block, </a:t>
            </a:r>
            <a:r>
              <a:rPr lang="en-US" sz="2400" b="1" dirty="0" err="1">
                <a:solidFill>
                  <a:srgbClr val="FF0000"/>
                </a:solidFill>
              </a:rPr>
              <a:t>FromTable</a:t>
            </a:r>
            <a:r>
              <a:rPr lang="en-US" sz="2400" b="1" dirty="0">
                <a:solidFill>
                  <a:srgbClr val="FF0000"/>
                </a:solidFill>
              </a:rPr>
              <a:t> ,</a:t>
            </a:r>
            <a:r>
              <a:rPr lang="en-US" sz="2400" b="1" dirty="0" err="1">
                <a:solidFill>
                  <a:srgbClr val="FF0000"/>
                </a:solidFill>
              </a:rPr>
              <a:t>ToBlock</a:t>
            </a:r>
            <a:r>
              <a:rPr lang="en-US" sz="2400" b="1" dirty="0">
                <a:solidFill>
                  <a:srgbClr val="FF0000"/>
                </a:solidFill>
              </a:rPr>
              <a:t>) and Move</a:t>
            </a:r>
            <a:r>
              <a:rPr lang="en-US" altLang="zh-CN" sz="2400" b="1" dirty="0">
                <a:solidFill>
                  <a:srgbClr val="FF0000"/>
                </a:solidFill>
              </a:rPr>
              <a:t>2</a:t>
            </a:r>
            <a:r>
              <a:rPr lang="en-US" sz="2400" b="1" dirty="0">
                <a:solidFill>
                  <a:srgbClr val="FF0000"/>
                </a:solidFill>
              </a:rPr>
              <a:t>(Block, </a:t>
            </a:r>
            <a:r>
              <a:rPr lang="en-US" sz="2400" b="1" dirty="0" err="1">
                <a:solidFill>
                  <a:srgbClr val="FF0000"/>
                </a:solidFill>
              </a:rPr>
              <a:t>FromBlock</a:t>
            </a:r>
            <a:r>
              <a:rPr lang="en-US" sz="2400" b="1" dirty="0">
                <a:solidFill>
                  <a:srgbClr val="FF0000"/>
                </a:solidFill>
              </a:rPr>
              <a:t>, </a:t>
            </a:r>
            <a:r>
              <a:rPr lang="en-US" sz="2400" b="1" dirty="0" err="1">
                <a:solidFill>
                  <a:srgbClr val="FF0000"/>
                </a:solidFill>
              </a:rPr>
              <a:t>ToTable</a:t>
            </a:r>
            <a:r>
              <a:rPr lang="en-US" sz="2400" b="1" dirty="0">
                <a:solidFill>
                  <a:srgbClr val="FF0000"/>
                </a:solidFill>
              </a:rPr>
              <a:t>) </a:t>
            </a:r>
          </a:p>
          <a:p>
            <a:endParaRPr lang="en-US" sz="2400" b="1" dirty="0"/>
          </a:p>
          <a:p>
            <a:r>
              <a:rPr lang="en-US" sz="2400" dirty="0"/>
              <a:t>You now no longer need to keep track of what the robot is holding or if the hand is empty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248917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949602" y="2618038"/>
            <a:ext cx="924893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2.PDDL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0445" y="1597547"/>
            <a:ext cx="26082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/>
              <a:t>Objectives</a:t>
            </a:r>
            <a:endParaRPr 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64223945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60612" y="573741"/>
            <a:ext cx="324522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5400" b="1" dirty="0"/>
              <a:t>PDDL</a:t>
            </a:r>
            <a:endParaRPr lang="en-US" sz="5400" b="1" dirty="0"/>
          </a:p>
        </p:txBody>
      </p:sp>
      <p:sp>
        <p:nvSpPr>
          <p:cNvPr id="4" name="TextBox 3"/>
          <p:cNvSpPr txBox="1"/>
          <p:nvPr/>
        </p:nvSpPr>
        <p:spPr>
          <a:xfrm>
            <a:off x="860612" y="1757082"/>
            <a:ext cx="925157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A common language for writing STRIPS domain and problem sets is the Planning Domain Definition Language (</a:t>
            </a:r>
            <a:r>
              <a:rPr lang="en-US" sz="2800" b="1" dirty="0">
                <a:hlinkClick r:id="rId3"/>
              </a:rPr>
              <a:t>PDDL</a:t>
            </a:r>
            <a:r>
              <a:rPr lang="en-US" sz="2800" dirty="0"/>
              <a:t>). 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0612" y="3411818"/>
            <a:ext cx="8636000" cy="2006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676590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2211" y="775956"/>
            <a:ext cx="4702362" cy="5547897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40658" y="775956"/>
            <a:ext cx="6006354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</a:rPr>
              <a:t>PDDL</a:t>
            </a:r>
          </a:p>
          <a:p>
            <a:r>
              <a:rPr lang="en-US" sz="3200" b="1" dirty="0">
                <a:solidFill>
                  <a:srgbClr val="FF0000"/>
                </a:solidFill>
              </a:rPr>
              <a:t>Travelling Salesman Problem</a:t>
            </a:r>
          </a:p>
          <a:p>
            <a:endParaRPr lang="en-US" sz="2400" b="1" dirty="0">
              <a:solidFill>
                <a:srgbClr val="FF0000"/>
              </a:solidFill>
            </a:endParaRPr>
          </a:p>
          <a:p>
            <a:r>
              <a:rPr lang="en-US" sz="2400" b="1" dirty="0">
                <a:solidFill>
                  <a:srgbClr val="FF0000"/>
                </a:solidFill>
              </a:rPr>
              <a:t>1.Domain file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7585" y="3162445"/>
            <a:ext cx="5727700" cy="25908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248400" y="2590271"/>
            <a:ext cx="1264024" cy="285305"/>
          </a:xfrm>
          <a:prstGeom prst="rect">
            <a:avLst/>
          </a:prstGeom>
          <a:solidFill>
            <a:srgbClr val="FF0000">
              <a:alpha val="6300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562165" y="5466375"/>
            <a:ext cx="950259" cy="286870"/>
          </a:xfrm>
          <a:prstGeom prst="rect">
            <a:avLst/>
          </a:prstGeom>
          <a:solidFill>
            <a:schemeClr val="accent1">
              <a:alpha val="63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6562165" y="4895767"/>
            <a:ext cx="1577788" cy="286870"/>
          </a:xfrm>
          <a:prstGeom prst="rect">
            <a:avLst/>
          </a:prstGeom>
          <a:solidFill>
            <a:schemeClr val="accent1">
              <a:alpha val="63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6248400" y="4404586"/>
            <a:ext cx="887506" cy="286870"/>
          </a:xfrm>
          <a:prstGeom prst="rect">
            <a:avLst/>
          </a:prstGeom>
          <a:solidFill>
            <a:srgbClr val="FF0000">
              <a:alpha val="6300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72306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40658" y="775956"/>
            <a:ext cx="6006354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</a:rPr>
              <a:t>PDDL</a:t>
            </a:r>
          </a:p>
          <a:p>
            <a:r>
              <a:rPr lang="en-US" sz="3200" b="1" dirty="0">
                <a:solidFill>
                  <a:srgbClr val="FF0000"/>
                </a:solidFill>
              </a:rPr>
              <a:t>Travelling Salesman Problem</a:t>
            </a:r>
          </a:p>
          <a:p>
            <a:endParaRPr lang="en-US" sz="2400" b="1" dirty="0">
              <a:solidFill>
                <a:srgbClr val="FF0000"/>
              </a:solidFill>
            </a:endParaRPr>
          </a:p>
          <a:p>
            <a:r>
              <a:rPr lang="en-US" sz="2400" b="1" dirty="0">
                <a:solidFill>
                  <a:srgbClr val="FF0000"/>
                </a:solidFill>
              </a:rPr>
              <a:t>2.Problem file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658" y="2937571"/>
            <a:ext cx="8331200" cy="307340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88107" y="775956"/>
            <a:ext cx="5801336" cy="5235015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688107" y="1129553"/>
            <a:ext cx="2021540" cy="268941"/>
          </a:xfrm>
          <a:prstGeom prst="rect">
            <a:avLst/>
          </a:prstGeom>
          <a:solidFill>
            <a:schemeClr val="accent1">
              <a:alpha val="46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5867401" y="2046296"/>
            <a:ext cx="658905" cy="243473"/>
          </a:xfrm>
          <a:prstGeom prst="rect">
            <a:avLst/>
          </a:prstGeom>
          <a:solidFill>
            <a:schemeClr val="accent1">
              <a:alpha val="46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5867400" y="4220645"/>
            <a:ext cx="658905" cy="243473"/>
          </a:xfrm>
          <a:prstGeom prst="rect">
            <a:avLst/>
          </a:prstGeom>
          <a:solidFill>
            <a:schemeClr val="accent1">
              <a:alpha val="46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32916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4705" y="440565"/>
            <a:ext cx="8859371" cy="6004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968459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725270" y="3155576"/>
            <a:ext cx="805030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/>
              <a:t>http://</a:t>
            </a:r>
            <a:r>
              <a:rPr lang="en-US" sz="3600" b="1" dirty="0" err="1"/>
              <a:t>editor.planning.domains</a:t>
            </a:r>
            <a:endParaRPr lang="en-US" sz="3600" b="1" dirty="0"/>
          </a:p>
        </p:txBody>
      </p:sp>
      <p:sp>
        <p:nvSpPr>
          <p:cNvPr id="3" name="TextBox 2"/>
          <p:cNvSpPr txBox="1"/>
          <p:nvPr/>
        </p:nvSpPr>
        <p:spPr>
          <a:xfrm>
            <a:off x="770965" y="1237129"/>
            <a:ext cx="50740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/>
              <a:t>PDDL</a:t>
            </a:r>
            <a:r>
              <a:rPr lang="zh-CN" altLang="en-US" sz="3600" b="1" dirty="0"/>
              <a:t> </a:t>
            </a:r>
            <a:r>
              <a:rPr lang="en-US" altLang="zh-CN" sz="3600" b="1" dirty="0"/>
              <a:t>online</a:t>
            </a:r>
            <a:r>
              <a:rPr lang="zh-CN" altLang="en-US" sz="3600" b="1" dirty="0"/>
              <a:t> </a:t>
            </a:r>
            <a:r>
              <a:rPr lang="en-US" altLang="zh-CN" sz="3600" b="1" dirty="0"/>
              <a:t>editor</a:t>
            </a:r>
            <a:endParaRPr lang="en-US" sz="3600" b="1" dirty="0"/>
          </a:p>
        </p:txBody>
      </p:sp>
    </p:spTree>
    <p:extLst>
      <p:ext uri="{BB962C8B-B14F-4D97-AF65-F5344CB8AC3E}">
        <p14:creationId xmlns:p14="http://schemas.microsoft.com/office/powerpoint/2010/main" val="84244869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32329" y="2940425"/>
            <a:ext cx="98791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/>
              <a:t>http</a:t>
            </a:r>
            <a:r>
              <a:rPr lang="en-US" sz="2800" b="1" dirty="0"/>
              <a:t>://</a:t>
            </a:r>
            <a:r>
              <a:rPr lang="en-US" sz="2800" b="1" dirty="0" err="1"/>
              <a:t>editor.planning.domains</a:t>
            </a:r>
            <a:r>
              <a:rPr lang="en-US" sz="2800" b="1" dirty="0"/>
              <a:t>/#</a:t>
            </a:r>
            <a:r>
              <a:rPr lang="en-US" sz="2800" b="1" dirty="0" err="1"/>
              <a:t>read_session</a:t>
            </a:r>
            <a:r>
              <a:rPr lang="en-US" sz="2800" b="1" dirty="0"/>
              <a:t>= TYXYMCQN8w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2329" y="1649506"/>
            <a:ext cx="485887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Solution:</a:t>
            </a:r>
          </a:p>
          <a:p>
            <a:r>
              <a:rPr lang="en-US" sz="2400" dirty="0"/>
              <a:t>2 actions; 4 actions</a:t>
            </a:r>
          </a:p>
        </p:txBody>
      </p:sp>
    </p:spTree>
    <p:extLst>
      <p:ext uri="{BB962C8B-B14F-4D97-AF65-F5344CB8AC3E}">
        <p14:creationId xmlns:p14="http://schemas.microsoft.com/office/powerpoint/2010/main" val="11766805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8016</TotalTime>
  <Words>1552</Words>
  <Application>Microsoft Macintosh PowerPoint</Application>
  <PresentationFormat>Widescreen</PresentationFormat>
  <Paragraphs>214</Paragraphs>
  <Slides>26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2" baseType="lpstr">
      <vt:lpstr>Arial</vt:lpstr>
      <vt:lpstr>Calibri</vt:lpstr>
      <vt:lpstr>Calibri Light</vt:lpstr>
      <vt:lpstr>Cambria Math</vt:lpstr>
      <vt:lpstr>Open Sans</vt:lpstr>
      <vt:lpstr>Office Theme</vt:lpstr>
      <vt:lpstr>COMP90054 AI Planning for Autonomy    Workshop Week2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COMP90054 AI Planning for Autonomy    Workshop Week5</dc:title>
  <dc:creator>Name</dc:creator>
  <cp:lastModifiedBy>Chao Lei</cp:lastModifiedBy>
  <cp:revision>194</cp:revision>
  <dcterms:created xsi:type="dcterms:W3CDTF">2018-08-14T10:49:50Z</dcterms:created>
  <dcterms:modified xsi:type="dcterms:W3CDTF">2026-08-05T14:19:40Z</dcterms:modified>
</cp:coreProperties>
</file>