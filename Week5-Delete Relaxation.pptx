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7" r:id="rId2"/>
    <p:sldId id="260" r:id="rId3"/>
    <p:sldId id="259" r:id="rId4"/>
    <p:sldId id="282" r:id="rId5"/>
    <p:sldId id="264" r:id="rId6"/>
    <p:sldId id="266" r:id="rId7"/>
    <p:sldId id="261" r:id="rId8"/>
    <p:sldId id="265" r:id="rId9"/>
    <p:sldId id="285" r:id="rId10"/>
    <p:sldId id="267" r:id="rId11"/>
    <p:sldId id="269" r:id="rId12"/>
    <p:sldId id="271" r:id="rId13"/>
    <p:sldId id="273" r:id="rId14"/>
    <p:sldId id="283" r:id="rId15"/>
    <p:sldId id="284" r:id="rId16"/>
    <p:sldId id="274" r:id="rId17"/>
    <p:sldId id="276" r:id="rId18"/>
    <p:sldId id="277" r:id="rId19"/>
    <p:sldId id="278" r:id="rId20"/>
    <p:sldId id="279" r:id="rId21"/>
    <p:sldId id="281" r:id="rId22"/>
    <p:sldId id="297" r:id="rId23"/>
    <p:sldId id="286" r:id="rId24"/>
    <p:sldId id="287" r:id="rId25"/>
    <p:sldId id="288" r:id="rId26"/>
    <p:sldId id="290" r:id="rId27"/>
    <p:sldId id="291" r:id="rId28"/>
    <p:sldId id="268" r:id="rId29"/>
    <p:sldId id="292" r:id="rId30"/>
    <p:sldId id="293" r:id="rId31"/>
    <p:sldId id="272" r:id="rId32"/>
    <p:sldId id="294" r:id="rId33"/>
    <p:sldId id="295" r:id="rId34"/>
    <p:sldId id="270" r:id="rId35"/>
    <p:sldId id="296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90"/>
    <p:restoredTop sz="80274"/>
  </p:normalViewPr>
  <p:slideViewPr>
    <p:cSldViewPr snapToGrid="0" snapToObjects="1">
      <p:cViewPr varScale="1">
        <p:scale>
          <a:sx n="101" d="100"/>
          <a:sy n="101" d="100"/>
        </p:scale>
        <p:origin x="1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33DD64-A0F1-104C-9B5C-28ECC8AD8AE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5BDD7D-5353-874E-8D76-9EDBF0201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39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5BDD7D-5353-874E-8D76-9EDBF0201FC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5927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5BDD7D-5353-874E-8D76-9EDBF0201FC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0881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5BDD7D-5353-874E-8D76-9EDBF0201FC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598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5BDD7D-5353-874E-8D76-9EDBF0201FC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3202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5BDD7D-5353-874E-8D76-9EDBF0201FC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3235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5BDD7D-5353-874E-8D76-9EDBF0201FC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1968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5BDD7D-5353-874E-8D76-9EDBF0201FC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1703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="1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A9A21F-BAA6-4845-A19D-4A279AF07B9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2275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5BDD7D-5353-874E-8D76-9EDBF0201FC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888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5BDD7D-5353-874E-8D76-9EDBF0201FC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5939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5BDD7D-5353-874E-8D76-9EDBF0201FC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5957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1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A9A21F-BAA6-4845-A19D-4A279AF07B9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1150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5BDD7D-5353-874E-8D76-9EDBF0201FC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9085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5BDD7D-5353-874E-8D76-9EDBF0201FC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5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5BDD7D-5353-874E-8D76-9EDBF0201FC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6024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5BDD7D-5353-874E-8D76-9EDBF0201FC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062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5BDD7D-5353-874E-8D76-9EDBF0201FC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9482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5BDD7D-5353-874E-8D76-9EDBF0201FC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0919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5BDD7D-5353-874E-8D76-9EDBF0201FC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2427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30D59-7451-484B-A1C0-8FEB1288124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224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30D59-7451-484B-A1C0-8FEB1288124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67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30D59-7451-484B-A1C0-8FEB1288124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0121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30D59-7451-484B-A1C0-8FEB1288124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669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30D59-7451-484B-A1C0-8FEB1288124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6080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30D59-7451-484B-A1C0-8FEB1288124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6575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30D59-7451-484B-A1C0-8FEB1288124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9548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</a:t>
            </a:r>
            <a:r>
              <a:rPr lang="en-US" dirty="0" err="1"/>
              <a:t>preconditons</a:t>
            </a:r>
            <a:r>
              <a:rPr lang="en-US" baseline="0" dirty="0"/>
              <a:t> are already in the initial state, which means we don’t need to apply any action to achieve them.</a:t>
            </a:r>
          </a:p>
          <a:p>
            <a:r>
              <a:rPr lang="en-US" dirty="0"/>
              <a:t>We didn’t add anything new to </a:t>
            </a:r>
            <a:r>
              <a:rPr lang="en-US" dirty="0" err="1"/>
              <a:t>openlist</a:t>
            </a:r>
            <a:r>
              <a:rPr lang="en-US" dirty="0"/>
              <a:t>. But open list is still not</a:t>
            </a:r>
            <a:r>
              <a:rPr lang="en-US" baseline="0" dirty="0"/>
              <a:t> empty.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30D59-7451-484B-A1C0-8FEB1288124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96395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30D59-7451-484B-A1C0-8FEB1288124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157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30D59-7451-484B-A1C0-8FEB1288124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718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30D59-7451-484B-A1C0-8FEB1288124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6384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C30D59-7451-484B-A1C0-8FEB1288124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447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63F9-6982-3D43-AD5A-6844CC1B0C7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2C13C-4458-AE41-A412-87DB0B512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12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63F9-6982-3D43-AD5A-6844CC1B0C7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2C13C-4458-AE41-A412-87DB0B512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529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63F9-6982-3D43-AD5A-6844CC1B0C7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2C13C-4458-AE41-A412-87DB0B512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619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63F9-6982-3D43-AD5A-6844CC1B0C7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2C13C-4458-AE41-A412-87DB0B512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458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63F9-6982-3D43-AD5A-6844CC1B0C7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2C13C-4458-AE41-A412-87DB0B512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64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63F9-6982-3D43-AD5A-6844CC1B0C7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2C13C-4458-AE41-A412-87DB0B512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669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63F9-6982-3D43-AD5A-6844CC1B0C7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2C13C-4458-AE41-A412-87DB0B512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204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63F9-6982-3D43-AD5A-6844CC1B0C7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2C13C-4458-AE41-A412-87DB0B512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572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63F9-6982-3D43-AD5A-6844CC1B0C7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2C13C-4458-AE41-A412-87DB0B512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765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63F9-6982-3D43-AD5A-6844CC1B0C7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2C13C-4458-AE41-A412-87DB0B512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518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763F9-6982-3D43-AD5A-6844CC1B0C7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92C13C-4458-AE41-A412-87DB0B512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498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763F9-6982-3D43-AD5A-6844CC1B0C74}" type="datetimeFigureOut">
              <a:rPr lang="en-US" smtClean="0"/>
              <a:t>8/27/26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2C13C-4458-AE41-A412-87DB0B5120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2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png"/><Relationship Id="rId5" Type="http://schemas.openxmlformats.org/officeDocument/2006/relationships/image" Target="../media/image120.png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5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png"/><Relationship Id="rId5" Type="http://schemas.openxmlformats.org/officeDocument/2006/relationships/image" Target="../media/image140.png"/><Relationship Id="rId4" Type="http://schemas.openxmlformats.org/officeDocument/2006/relationships/image" Target="../media/image42.png"/><Relationship Id="rId9" Type="http://schemas.openxmlformats.org/officeDocument/2006/relationships/image" Target="../media/image4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79029" y="1691988"/>
            <a:ext cx="9144000" cy="2387600"/>
          </a:xfrm>
        </p:spPr>
        <p:txBody>
          <a:bodyPr>
            <a:normAutofit/>
          </a:bodyPr>
          <a:lstStyle/>
          <a:p>
            <a:r>
              <a:rPr lang="en-US" sz="4400" dirty="0"/>
              <a:t>COMP90054 AI Planning for Autonomy </a:t>
            </a:r>
            <a:br>
              <a:rPr lang="en-US" sz="4400" dirty="0"/>
            </a:br>
            <a:br>
              <a:rPr lang="en-US" sz="4400" dirty="0"/>
            </a:br>
            <a:r>
              <a:rPr lang="en-US" sz="4400" dirty="0"/>
              <a:t> Workshop Week5</a:t>
            </a:r>
          </a:p>
        </p:txBody>
      </p:sp>
    </p:spTree>
    <p:extLst>
      <p:ext uri="{BB962C8B-B14F-4D97-AF65-F5344CB8AC3E}">
        <p14:creationId xmlns:p14="http://schemas.microsoft.com/office/powerpoint/2010/main" val="1653342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70444" y="2517478"/>
            <a:ext cx="924893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3200" dirty="0"/>
              <a:t>Delete Relaxation</a:t>
            </a:r>
          </a:p>
          <a:p>
            <a:pPr marL="342900" indent="-342900">
              <a:buAutoNum type="arabicPeriod"/>
            </a:pPr>
            <a:r>
              <a:rPr lang="en-US" sz="3200" dirty="0"/>
              <a:t>Relationship between h*, h</a:t>
            </a:r>
            <a:r>
              <a:rPr lang="en-US" sz="3200" baseline="30000" dirty="0"/>
              <a:t>+</a:t>
            </a:r>
            <a:r>
              <a:rPr lang="en-US" sz="3200" dirty="0"/>
              <a:t>, </a:t>
            </a:r>
            <a:r>
              <a:rPr lang="en-US" sz="3200" dirty="0" err="1"/>
              <a:t>h</a:t>
            </a:r>
            <a:r>
              <a:rPr lang="en-US" sz="3200" baseline="30000" dirty="0" err="1"/>
              <a:t>add</a:t>
            </a:r>
            <a:r>
              <a:rPr lang="en-US" sz="3200" dirty="0"/>
              <a:t>, </a:t>
            </a:r>
            <a:r>
              <a:rPr lang="en-US" sz="3200" dirty="0" err="1"/>
              <a:t>h</a:t>
            </a:r>
            <a:r>
              <a:rPr lang="en-US" sz="3200" baseline="30000" dirty="0" err="1"/>
              <a:t>max</a:t>
            </a:r>
            <a:r>
              <a:rPr lang="en-US" sz="3200" dirty="0"/>
              <a:t>, </a:t>
            </a:r>
            <a:r>
              <a:rPr lang="en-US" sz="3200" dirty="0" err="1"/>
              <a:t>h</a:t>
            </a:r>
            <a:r>
              <a:rPr lang="en-US" sz="3200" baseline="30000" dirty="0" err="1"/>
              <a:t>FF</a:t>
            </a:r>
            <a:r>
              <a:rPr lang="en-US" sz="3200" dirty="0"/>
              <a:t> </a:t>
            </a:r>
          </a:p>
          <a:p>
            <a:pPr marL="342900" indent="-342900">
              <a:buAutoNum type="arabicPeriod"/>
            </a:pPr>
            <a:r>
              <a:rPr lang="en-US" sz="3200" dirty="0"/>
              <a:t>How to compute </a:t>
            </a:r>
            <a:r>
              <a:rPr lang="en-US" sz="3200" dirty="0" err="1"/>
              <a:t>h</a:t>
            </a:r>
            <a:r>
              <a:rPr lang="en-US" sz="3200" baseline="30000" dirty="0" err="1"/>
              <a:t>add</a:t>
            </a:r>
            <a:r>
              <a:rPr lang="en-US" sz="3200" dirty="0"/>
              <a:t> </a:t>
            </a:r>
          </a:p>
          <a:p>
            <a:pPr marL="342900" indent="-342900">
              <a:buFontTx/>
              <a:buAutoNum type="arabicPeriod"/>
            </a:pPr>
            <a:r>
              <a:rPr lang="en-US" sz="3200" dirty="0"/>
              <a:t>How to compute </a:t>
            </a:r>
            <a:r>
              <a:rPr lang="en-US" sz="3200" dirty="0" err="1"/>
              <a:t>h</a:t>
            </a:r>
            <a:r>
              <a:rPr lang="en-US" sz="3200" baseline="30000" dirty="0" err="1"/>
              <a:t>max</a:t>
            </a:r>
            <a:endParaRPr lang="en-US" sz="3200" baseline="30000" dirty="0"/>
          </a:p>
        </p:txBody>
      </p:sp>
      <p:sp>
        <p:nvSpPr>
          <p:cNvPr id="4" name="TextBox 3"/>
          <p:cNvSpPr txBox="1"/>
          <p:nvPr/>
        </p:nvSpPr>
        <p:spPr>
          <a:xfrm>
            <a:off x="970444" y="1149312"/>
            <a:ext cx="38239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/>
              <a:t>Objectives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1703137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023" y="1329684"/>
            <a:ext cx="9336313" cy="9610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023" y="591671"/>
            <a:ext cx="3801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Delete Relaxation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672" y="2382457"/>
            <a:ext cx="6015986" cy="94226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1468" y="3416402"/>
            <a:ext cx="6450486" cy="66808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023" y="4176170"/>
            <a:ext cx="10183570" cy="17193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11549" y="5433809"/>
            <a:ext cx="4148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Greedy Relaxed Planning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521" y="5987156"/>
            <a:ext cx="9821072" cy="608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550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2490" y="400703"/>
            <a:ext cx="866064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How would delete relaxation be interpreted in </a:t>
            </a:r>
            <a:r>
              <a:rPr lang="en-US" sz="2800" b="1" dirty="0" err="1"/>
              <a:t>Pacman</a:t>
            </a:r>
            <a:r>
              <a:rPr lang="en-US" sz="2800" b="1" dirty="0"/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023" y="1037977"/>
            <a:ext cx="113187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computed with respect to each food it’s roughly a Minimum Spanning Tree (technically a Steiner Tree, since paths can branch in non-food location, i.e. the Steiner Points)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042" y="2310275"/>
            <a:ext cx="3344779" cy="3872901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0" y="2310275"/>
            <a:ext cx="3226468" cy="392787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768641" y="6238149"/>
            <a:ext cx="28875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Minimum Spanning Tree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0895" y="6238149"/>
            <a:ext cx="17816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Steiner Tree</a:t>
            </a:r>
          </a:p>
        </p:txBody>
      </p:sp>
    </p:spTree>
    <p:extLst>
      <p:ext uri="{BB962C8B-B14F-4D97-AF65-F5344CB8AC3E}">
        <p14:creationId xmlns:p14="http://schemas.microsoft.com/office/powerpoint/2010/main" val="1736466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8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06387" y="2556486"/>
            <a:ext cx="7351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h*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84829" y="3828715"/>
            <a:ext cx="7351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41493" y="3790961"/>
            <a:ext cx="10936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(h</a:t>
            </a:r>
            <a:r>
              <a:rPr lang="en-US" sz="3600" b="1" baseline="30000" dirty="0"/>
              <a:t>+</a:t>
            </a:r>
            <a:r>
              <a:rPr lang="en-US" sz="3600" b="1" dirty="0"/>
              <a:t>)</a:t>
            </a:r>
          </a:p>
        </p:txBody>
      </p:sp>
      <p:sp>
        <p:nvSpPr>
          <p:cNvPr id="7" name="Up Arrow 6"/>
          <p:cNvSpPr/>
          <p:nvPr/>
        </p:nvSpPr>
        <p:spPr>
          <a:xfrm>
            <a:off x="1824317" y="3173208"/>
            <a:ext cx="412377" cy="60753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60303" y="3365865"/>
            <a:ext cx="1474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/>
              <a:t>estimate</a:t>
            </a:r>
            <a:endParaRPr lang="en-US" sz="2400" b="1"/>
          </a:p>
        </p:txBody>
      </p:sp>
      <p:sp>
        <p:nvSpPr>
          <p:cNvPr id="11" name="TextBox 10"/>
          <p:cNvSpPr txBox="1"/>
          <p:nvPr/>
        </p:nvSpPr>
        <p:spPr>
          <a:xfrm>
            <a:off x="7425018" y="3004248"/>
            <a:ext cx="4221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err="1"/>
              <a:t>h</a:t>
            </a:r>
            <a:r>
              <a:rPr lang="en-US" altLang="zh-CN" sz="3200" b="1" baseline="30000" dirty="0" err="1"/>
              <a:t>add</a:t>
            </a:r>
            <a:r>
              <a:rPr lang="en-US" altLang="zh-CN" sz="3200" b="1" baseline="30000" dirty="0"/>
              <a:t> </a:t>
            </a:r>
            <a:r>
              <a:rPr lang="en-US" altLang="zh-CN" sz="3200" b="1" dirty="0"/>
              <a:t>  or   </a:t>
            </a:r>
            <a:r>
              <a:rPr lang="en-US" sz="3200" b="1" dirty="0" err="1"/>
              <a:t>h</a:t>
            </a:r>
            <a:r>
              <a:rPr lang="en-US" sz="3200" b="1" baseline="30000" dirty="0" err="1"/>
              <a:t>max</a:t>
            </a:r>
            <a:endParaRPr lang="en-US" sz="3200" b="1" baseline="300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5276" y="1434487"/>
            <a:ext cx="9348728" cy="9472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38448" y="3264070"/>
            <a:ext cx="2111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approximate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5276" y="5456505"/>
            <a:ext cx="7038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h</a:t>
            </a:r>
            <a:r>
              <a:rPr lang="en-US" sz="2400" b="1" baseline="30000" dirty="0">
                <a:solidFill>
                  <a:srgbClr val="FF0000"/>
                </a:solidFill>
              </a:rPr>
              <a:t>+</a:t>
            </a:r>
            <a:r>
              <a:rPr lang="en-US" sz="2400" b="1" dirty="0">
                <a:solidFill>
                  <a:srgbClr val="FF0000"/>
                </a:solidFill>
              </a:rPr>
              <a:t>: </a:t>
            </a:r>
            <a:r>
              <a:rPr lang="en-US" sz="2400" dirty="0"/>
              <a:t>is the </a:t>
            </a:r>
            <a:r>
              <a:rPr lang="en-US" sz="2400" b="1" dirty="0">
                <a:solidFill>
                  <a:srgbClr val="FF0000"/>
                </a:solidFill>
              </a:rPr>
              <a:t>optimal delete relaxation </a:t>
            </a:r>
            <a:r>
              <a:rPr lang="en-US" sz="2400" dirty="0"/>
              <a:t>heuristic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7345" y="5901612"/>
            <a:ext cx="3621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But h+ is hard to compute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50296" y="4570481"/>
            <a:ext cx="15419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h</a:t>
            </a:r>
            <a:r>
              <a:rPr lang="en-US" sz="3200" b="1" baseline="30000"/>
              <a:t>FF</a:t>
            </a:r>
            <a:endParaRPr lang="en-US" sz="3200" b="1" baseline="30000" dirty="0"/>
          </a:p>
          <a:p>
            <a:endParaRPr lang="en-US" sz="3200" dirty="0"/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3635186" y="3494902"/>
            <a:ext cx="3518649" cy="637154"/>
          </a:xfrm>
          <a:prstGeom prst="straightConnector1">
            <a:avLst/>
          </a:prstGeom>
          <a:ln w="984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H="1" flipV="1">
            <a:off x="3635187" y="4166138"/>
            <a:ext cx="3518648" cy="536132"/>
          </a:xfrm>
          <a:prstGeom prst="straightConnector1">
            <a:avLst/>
          </a:prstGeom>
          <a:ln w="984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238448" y="4428464"/>
            <a:ext cx="21111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approximate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7946282" y="3656818"/>
            <a:ext cx="312450" cy="84586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8444753" y="3827530"/>
            <a:ext cx="23308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Extract a relaxed plan</a:t>
            </a:r>
          </a:p>
          <a:p>
            <a:r>
              <a:rPr lang="en-US" b="1" dirty="0"/>
              <a:t>To compute </a:t>
            </a:r>
            <a:r>
              <a:rPr lang="en-US" b="1" dirty="0" err="1"/>
              <a:t>h</a:t>
            </a:r>
            <a:r>
              <a:rPr lang="en-US" b="1" baseline="30000" dirty="0" err="1"/>
              <a:t>FF</a:t>
            </a:r>
            <a:endParaRPr lang="en-US" b="1" baseline="30000" dirty="0"/>
          </a:p>
        </p:txBody>
      </p:sp>
      <p:sp>
        <p:nvSpPr>
          <p:cNvPr id="28" name="TextBox 27"/>
          <p:cNvSpPr txBox="1"/>
          <p:nvPr/>
        </p:nvSpPr>
        <p:spPr>
          <a:xfrm>
            <a:off x="385011" y="360947"/>
            <a:ext cx="83286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Relationship between h*, h</a:t>
            </a:r>
            <a:r>
              <a:rPr lang="en-US" sz="3200" b="1" baseline="30000" dirty="0"/>
              <a:t>+</a:t>
            </a:r>
            <a:r>
              <a:rPr lang="en-US" sz="3200" b="1" dirty="0"/>
              <a:t>, </a:t>
            </a:r>
            <a:r>
              <a:rPr lang="en-US" sz="3200" b="1" dirty="0" err="1"/>
              <a:t>h</a:t>
            </a:r>
            <a:r>
              <a:rPr lang="en-US" sz="3200" b="1" baseline="30000" dirty="0" err="1"/>
              <a:t>add</a:t>
            </a:r>
            <a:r>
              <a:rPr lang="en-US" sz="3200" b="1" dirty="0"/>
              <a:t>, </a:t>
            </a:r>
            <a:r>
              <a:rPr lang="en-US" sz="3200" b="1" dirty="0" err="1"/>
              <a:t>h</a:t>
            </a:r>
            <a:r>
              <a:rPr lang="en-US" sz="3200" b="1" baseline="30000" dirty="0" err="1"/>
              <a:t>max</a:t>
            </a:r>
            <a:r>
              <a:rPr lang="en-US" sz="3200" b="1" dirty="0"/>
              <a:t>, </a:t>
            </a:r>
            <a:r>
              <a:rPr lang="en-US" sz="3200" b="1" dirty="0" err="1"/>
              <a:t>h</a:t>
            </a:r>
            <a:r>
              <a:rPr lang="en-US" sz="3200" b="1" baseline="30000" dirty="0" err="1"/>
              <a:t>FF</a:t>
            </a:r>
            <a:r>
              <a:rPr lang="en-US" sz="32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7306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 animBg="1"/>
      <p:bldP spid="8" grpId="0"/>
      <p:bldP spid="11" grpId="0"/>
      <p:bldP spid="13" grpId="0"/>
      <p:bldP spid="15" grpId="0"/>
      <p:bldP spid="16" grpId="0"/>
      <p:bldP spid="17" grpId="0"/>
      <p:bldP spid="23" grpId="0"/>
      <p:bldP spid="25" grpId="0" animBg="1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384" y="100741"/>
            <a:ext cx="9017805" cy="24953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82151" y="2803347"/>
            <a:ext cx="7038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h</a:t>
            </a:r>
            <a:r>
              <a:rPr lang="en-US" sz="2400" b="1" baseline="30000" dirty="0">
                <a:solidFill>
                  <a:srgbClr val="FF0000"/>
                </a:solidFill>
              </a:rPr>
              <a:t>+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is the </a:t>
            </a:r>
            <a:r>
              <a:rPr lang="en-US" sz="2400" b="1" dirty="0">
                <a:solidFill>
                  <a:srgbClr val="FF0000"/>
                </a:solidFill>
              </a:rPr>
              <a:t>optimal </a:t>
            </a:r>
            <a:r>
              <a:rPr lang="en-US" sz="2400" dirty="0"/>
              <a:t>delete relaxation heuristic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151" y="3097854"/>
            <a:ext cx="3786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h</a:t>
            </a:r>
            <a:r>
              <a:rPr lang="en-US" altLang="zh-CN" sz="2400" baseline="30000" dirty="0"/>
              <a:t>+</a:t>
            </a:r>
            <a:r>
              <a:rPr lang="en-US" altLang="zh-CN" sz="2400" dirty="0"/>
              <a:t> is admissible, so </a:t>
            </a:r>
            <a:r>
              <a:rPr lang="en-US" altLang="zh-CN" sz="2400" b="1" dirty="0">
                <a:solidFill>
                  <a:srgbClr val="FF0000"/>
                </a:solidFill>
              </a:rPr>
              <a:t>h</a:t>
            </a:r>
            <a:r>
              <a:rPr lang="en-US" altLang="zh-CN" sz="2400" b="1" baseline="30000" dirty="0">
                <a:solidFill>
                  <a:srgbClr val="FF0000"/>
                </a:solidFill>
              </a:rPr>
              <a:t>+</a:t>
            </a:r>
            <a:r>
              <a:rPr lang="en-US" altLang="zh-CN" sz="2400" b="1" dirty="0">
                <a:solidFill>
                  <a:srgbClr val="FF0000"/>
                </a:solidFill>
              </a:rPr>
              <a:t> &lt;= h* 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82151" y="3904722"/>
            <a:ext cx="43053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h</a:t>
            </a:r>
            <a:r>
              <a:rPr lang="en-US" sz="2400" baseline="30000" dirty="0" err="1"/>
              <a:t>max</a:t>
            </a:r>
            <a:r>
              <a:rPr lang="en-US" sz="2400" dirty="0"/>
              <a:t> is admissible </a:t>
            </a:r>
            <a:r>
              <a:rPr lang="en-US" sz="2400" b="1" dirty="0" err="1">
                <a:solidFill>
                  <a:srgbClr val="FF0000"/>
                </a:solidFill>
              </a:rPr>
              <a:t>h</a:t>
            </a:r>
            <a:r>
              <a:rPr lang="en-US" sz="2400" b="1" baseline="30000" dirty="0" err="1">
                <a:solidFill>
                  <a:srgbClr val="FF0000"/>
                </a:solidFill>
              </a:rPr>
              <a:t>max</a:t>
            </a:r>
            <a:r>
              <a:rPr lang="en-US" sz="2400" b="1" dirty="0">
                <a:solidFill>
                  <a:srgbClr val="FF0000"/>
                </a:solidFill>
              </a:rPr>
              <a:t> &lt;= h*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2151" y="4199229"/>
            <a:ext cx="63317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but far too optimistic. </a:t>
            </a:r>
            <a:r>
              <a:rPr lang="en-US" sz="2400" dirty="0" err="1"/>
              <a:t>h</a:t>
            </a:r>
            <a:r>
              <a:rPr lang="en-US" sz="2400" baseline="30000" dirty="0" err="1"/>
              <a:t>max</a:t>
            </a:r>
            <a:r>
              <a:rPr lang="en-US" sz="2400" dirty="0"/>
              <a:t> is too small. </a:t>
            </a:r>
            <a:r>
              <a:rPr lang="en-US" sz="2400" b="1" dirty="0" err="1">
                <a:solidFill>
                  <a:srgbClr val="FF0000"/>
                </a:solidFill>
              </a:rPr>
              <a:t>h</a:t>
            </a:r>
            <a:r>
              <a:rPr lang="en-US" sz="2400" b="1" baseline="30000" dirty="0" err="1">
                <a:solidFill>
                  <a:srgbClr val="FF0000"/>
                </a:solidFill>
              </a:rPr>
              <a:t>max</a:t>
            </a:r>
            <a:r>
              <a:rPr lang="en-US" sz="2400" b="1" dirty="0">
                <a:solidFill>
                  <a:srgbClr val="FF0000"/>
                </a:solidFill>
              </a:rPr>
              <a:t> &lt;=h</a:t>
            </a:r>
            <a:r>
              <a:rPr lang="en-US" sz="2400" b="1" baseline="30000" dirty="0">
                <a:solidFill>
                  <a:srgbClr val="FF0000"/>
                </a:solidFill>
              </a:rPr>
              <a:t>+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1082151" y="4508503"/>
            <a:ext cx="53927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 sum up,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h</a:t>
            </a:r>
            <a:r>
              <a:rPr lang="en-US" sz="2400" b="1" baseline="30000" dirty="0" err="1">
                <a:solidFill>
                  <a:srgbClr val="FF0000"/>
                </a:solidFill>
              </a:rPr>
              <a:t>max</a:t>
            </a:r>
            <a:r>
              <a:rPr lang="en-US" sz="2400" b="1" dirty="0">
                <a:solidFill>
                  <a:srgbClr val="FF0000"/>
                </a:solidFill>
              </a:rPr>
              <a:t> &lt;= h</a:t>
            </a:r>
            <a:r>
              <a:rPr lang="en-US" sz="2400" b="1" baseline="30000" dirty="0">
                <a:solidFill>
                  <a:srgbClr val="FF0000"/>
                </a:solidFill>
              </a:rPr>
              <a:t>+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&lt;= h*</a:t>
            </a:r>
            <a:r>
              <a:rPr lang="en-US" sz="2400" dirty="0"/>
              <a:t>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150" y="5310905"/>
            <a:ext cx="91739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h</a:t>
            </a:r>
            <a:r>
              <a:rPr lang="en-US" sz="2400" baseline="30000" dirty="0" err="1"/>
              <a:t>add</a:t>
            </a:r>
            <a:r>
              <a:rPr lang="en-US" sz="2400" baseline="30000" dirty="0"/>
              <a:t> </a:t>
            </a:r>
            <a:r>
              <a:rPr lang="en-US" sz="2400" dirty="0"/>
              <a:t>is not admissible(so </a:t>
            </a:r>
            <a:r>
              <a:rPr lang="en-US" sz="2400" b="1" dirty="0" err="1">
                <a:solidFill>
                  <a:srgbClr val="FF0000"/>
                </a:solidFill>
              </a:rPr>
              <a:t>h</a:t>
            </a:r>
            <a:r>
              <a:rPr lang="en-US" sz="2400" b="1" baseline="30000" dirty="0" err="1">
                <a:solidFill>
                  <a:srgbClr val="FF0000"/>
                </a:solidFill>
              </a:rPr>
              <a:t>add</a:t>
            </a:r>
            <a:r>
              <a:rPr lang="en-US" sz="2400" b="1" dirty="0">
                <a:solidFill>
                  <a:srgbClr val="FF0000"/>
                </a:solidFill>
              </a:rPr>
              <a:t> can be larger than h* </a:t>
            </a:r>
            <a:r>
              <a:rPr lang="en-US" sz="2400" dirty="0"/>
              <a:t>in some cases)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149" y="5651642"/>
            <a:ext cx="70384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It is pessimistic. </a:t>
            </a:r>
            <a:r>
              <a:rPr lang="en-US" sz="2400" dirty="0" err="1"/>
              <a:t>h</a:t>
            </a:r>
            <a:r>
              <a:rPr lang="en-US" sz="2400" baseline="30000" dirty="0" err="1"/>
              <a:t>add</a:t>
            </a:r>
            <a:r>
              <a:rPr lang="en-US" sz="2400" baseline="30000" dirty="0"/>
              <a:t>  </a:t>
            </a:r>
            <a:r>
              <a:rPr lang="en-US" sz="2400" dirty="0" err="1"/>
              <a:t>overcounts</a:t>
            </a:r>
            <a:r>
              <a:rPr lang="en-US" sz="2400" dirty="0"/>
              <a:t>.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h</a:t>
            </a:r>
            <a:r>
              <a:rPr lang="en-US" sz="2400" b="1" baseline="30000" dirty="0" err="1">
                <a:solidFill>
                  <a:srgbClr val="FF0000"/>
                </a:solidFill>
              </a:rPr>
              <a:t>add</a:t>
            </a:r>
            <a:r>
              <a:rPr lang="en-US" sz="2400" b="1" baseline="30000" dirty="0">
                <a:solidFill>
                  <a:srgbClr val="FF0000"/>
                </a:solidFill>
              </a:rPr>
              <a:t> </a:t>
            </a:r>
            <a:r>
              <a:rPr lang="en-US" sz="2400" b="1" dirty="0">
                <a:solidFill>
                  <a:srgbClr val="FF0000"/>
                </a:solidFill>
              </a:rPr>
              <a:t>&gt;= h</a:t>
            </a:r>
            <a:r>
              <a:rPr lang="en-US" sz="2400" b="1" baseline="30000" dirty="0">
                <a:solidFill>
                  <a:srgbClr val="FF0000"/>
                </a:solidFill>
              </a:rPr>
              <a:t>+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149" y="6301653"/>
            <a:ext cx="9173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properties of </a:t>
            </a:r>
            <a:r>
              <a:rPr lang="en-US" sz="2400" b="1" dirty="0" err="1">
                <a:solidFill>
                  <a:srgbClr val="FF0000"/>
                </a:solidFill>
              </a:rPr>
              <a:t>h</a:t>
            </a:r>
            <a:r>
              <a:rPr lang="en-US" sz="2400" b="1" baseline="30000" dirty="0" err="1">
                <a:solidFill>
                  <a:srgbClr val="FF0000"/>
                </a:solidFill>
              </a:rPr>
              <a:t>FF</a:t>
            </a:r>
            <a:r>
              <a:rPr lang="en-US" sz="2400" b="1" dirty="0">
                <a:solidFill>
                  <a:srgbClr val="FF0000"/>
                </a:solidFill>
              </a:rPr>
              <a:t> is similar with </a:t>
            </a:r>
            <a:r>
              <a:rPr lang="en-US" sz="2400" b="1" dirty="0" err="1">
                <a:solidFill>
                  <a:srgbClr val="FF0000"/>
                </a:solidFill>
              </a:rPr>
              <a:t>h</a:t>
            </a:r>
            <a:r>
              <a:rPr lang="en-US" sz="2400" b="1" baseline="30000" dirty="0" err="1">
                <a:solidFill>
                  <a:srgbClr val="FF0000"/>
                </a:solidFill>
              </a:rPr>
              <a:t>add</a:t>
            </a:r>
            <a:r>
              <a:rPr lang="en-US" sz="2400" dirty="0"/>
              <a:t>, but </a:t>
            </a:r>
            <a:r>
              <a:rPr lang="en-US" sz="2400" dirty="0" err="1"/>
              <a:t>h</a:t>
            </a:r>
            <a:r>
              <a:rPr lang="en-US" sz="2400" baseline="30000" dirty="0" err="1"/>
              <a:t>FF</a:t>
            </a:r>
            <a:r>
              <a:rPr lang="en-US" sz="2400" baseline="30000" dirty="0"/>
              <a:t> </a:t>
            </a:r>
            <a:r>
              <a:rPr lang="en-US" sz="2400" dirty="0"/>
              <a:t>won’t </a:t>
            </a:r>
            <a:r>
              <a:rPr lang="en-US" sz="2400" dirty="0" err="1"/>
              <a:t>overcount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44429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54612" y="1414629"/>
            <a:ext cx="71369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Domain Independent heuristic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54613" y="2074001"/>
            <a:ext cx="511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Not specific to one problem.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54613" y="2641040"/>
            <a:ext cx="63899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e.g. delete relaxation, goal-counting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901" y="3572598"/>
            <a:ext cx="3060700" cy="2730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136105" y="4668253"/>
            <a:ext cx="2455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Manhattan distance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352674" y="4379495"/>
            <a:ext cx="1684421" cy="938463"/>
          </a:xfrm>
          <a:prstGeom prst="line">
            <a:avLst/>
          </a:prstGeom>
          <a:ln w="1016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6352674" y="4379495"/>
            <a:ext cx="1684421" cy="938463"/>
          </a:xfrm>
          <a:prstGeom prst="line">
            <a:avLst/>
          </a:prstGeom>
          <a:ln w="1047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2854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3124" y="518984"/>
            <a:ext cx="5179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How to compute </a:t>
            </a:r>
            <a:r>
              <a:rPr lang="en-US" altLang="zh-CN" sz="3200" b="1" dirty="0" err="1"/>
              <a:t>h</a:t>
            </a:r>
            <a:r>
              <a:rPr lang="en-US" altLang="zh-CN" sz="3200" b="1" baseline="30000" dirty="0" err="1"/>
              <a:t>add</a:t>
            </a:r>
            <a:endParaRPr lang="en-US" sz="3200" b="1" baseline="30000" dirty="0"/>
          </a:p>
        </p:txBody>
      </p:sp>
      <p:sp>
        <p:nvSpPr>
          <p:cNvPr id="5" name="TextBox 4"/>
          <p:cNvSpPr txBox="1"/>
          <p:nvPr/>
        </p:nvSpPr>
        <p:spPr>
          <a:xfrm>
            <a:off x="593124" y="3588916"/>
            <a:ext cx="5179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How to compute </a:t>
            </a:r>
            <a:r>
              <a:rPr lang="en-US" altLang="zh-CN" sz="3200" b="1" dirty="0" err="1"/>
              <a:t>h</a:t>
            </a:r>
            <a:r>
              <a:rPr lang="en-US" altLang="zh-CN" sz="3200" b="1" baseline="30000" dirty="0" err="1"/>
              <a:t>max</a:t>
            </a:r>
            <a:endParaRPr lang="en-US" sz="3200" b="1" baseline="30000" dirty="0"/>
          </a:p>
        </p:txBody>
      </p:sp>
      <p:sp>
        <p:nvSpPr>
          <p:cNvPr id="7" name="TextBox 6"/>
          <p:cNvSpPr txBox="1"/>
          <p:nvPr/>
        </p:nvSpPr>
        <p:spPr>
          <a:xfrm>
            <a:off x="7219950" y="195818"/>
            <a:ext cx="510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Bellman-Ford Algorithm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961" y="1496871"/>
            <a:ext cx="7833185" cy="183043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1961" y="4450996"/>
            <a:ext cx="7487196" cy="16013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73671" y="988495"/>
            <a:ext cx="74114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Recursive </a:t>
            </a:r>
          </a:p>
          <a:p>
            <a:r>
              <a:rPr lang="en-US" sz="2400" b="1" dirty="0"/>
              <a:t>Assumption: each goal can be achieved independently </a:t>
            </a:r>
          </a:p>
        </p:txBody>
      </p:sp>
    </p:spTree>
    <p:extLst>
      <p:ext uri="{BB962C8B-B14F-4D97-AF65-F5344CB8AC3E}">
        <p14:creationId xmlns:p14="http://schemas.microsoft.com/office/powerpoint/2010/main" val="887226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3124" y="518984"/>
            <a:ext cx="5179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How to compute </a:t>
            </a:r>
            <a:r>
              <a:rPr lang="en-US" altLang="zh-CN" sz="3200" b="1" dirty="0" err="1"/>
              <a:t>h</a:t>
            </a:r>
            <a:r>
              <a:rPr lang="en-US" altLang="zh-CN" sz="3200" b="1" baseline="30000" dirty="0" err="1"/>
              <a:t>add</a:t>
            </a:r>
            <a:endParaRPr lang="en-US" sz="3200" b="1" baseline="30000" dirty="0"/>
          </a:p>
        </p:txBody>
      </p:sp>
      <p:sp>
        <p:nvSpPr>
          <p:cNvPr id="5" name="TextBox 4"/>
          <p:cNvSpPr txBox="1"/>
          <p:nvPr/>
        </p:nvSpPr>
        <p:spPr>
          <a:xfrm>
            <a:off x="593124" y="3588916"/>
            <a:ext cx="5179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How to compute </a:t>
            </a:r>
            <a:r>
              <a:rPr lang="en-US" altLang="zh-CN" sz="3200" b="1" dirty="0" err="1"/>
              <a:t>h</a:t>
            </a:r>
            <a:r>
              <a:rPr lang="en-US" altLang="zh-CN" sz="3200" b="1" baseline="30000" dirty="0" err="1"/>
              <a:t>max</a:t>
            </a:r>
            <a:endParaRPr lang="en-US" sz="3200" b="1" baseline="30000" dirty="0"/>
          </a:p>
        </p:txBody>
      </p:sp>
      <p:sp>
        <p:nvSpPr>
          <p:cNvPr id="7" name="TextBox 6"/>
          <p:cNvSpPr txBox="1"/>
          <p:nvPr/>
        </p:nvSpPr>
        <p:spPr>
          <a:xfrm>
            <a:off x="7219950" y="195818"/>
            <a:ext cx="5105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Bellman-Ford Algorithm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961" y="1496871"/>
            <a:ext cx="7833185" cy="183043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1961" y="4450996"/>
            <a:ext cx="7487196" cy="16013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73671" y="988495"/>
            <a:ext cx="74114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Recursive </a:t>
            </a:r>
          </a:p>
          <a:p>
            <a:r>
              <a:rPr lang="en-US" sz="2400" b="1" dirty="0"/>
              <a:t>Assumption: each goal can be achieved independently </a:t>
            </a:r>
          </a:p>
        </p:txBody>
      </p:sp>
      <p:sp>
        <p:nvSpPr>
          <p:cNvPr id="2" name="Rectangle 1"/>
          <p:cNvSpPr/>
          <p:nvPr/>
        </p:nvSpPr>
        <p:spPr>
          <a:xfrm>
            <a:off x="3056021" y="2695074"/>
            <a:ext cx="2959768" cy="632232"/>
          </a:xfrm>
          <a:prstGeom prst="rect">
            <a:avLst/>
          </a:prstGeom>
          <a:solidFill>
            <a:srgbClr val="FF00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868495" y="5251650"/>
            <a:ext cx="580431" cy="403192"/>
          </a:xfrm>
          <a:prstGeom prst="rect">
            <a:avLst/>
          </a:prstGeom>
          <a:solidFill>
            <a:srgbClr val="FF00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205509" y="5596554"/>
            <a:ext cx="1029607" cy="455750"/>
          </a:xfrm>
          <a:prstGeom prst="rect">
            <a:avLst/>
          </a:prstGeom>
          <a:solidFill>
            <a:srgbClr val="FF0000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262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70052" y="546809"/>
            <a:ext cx="58902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 blocks-world problem </a:t>
            </a:r>
            <a:r>
              <a:rPr lang="mr-IN" sz="2800" b="1" dirty="0"/>
              <a:t>–</a:t>
            </a:r>
            <a:r>
              <a:rPr lang="en-US" sz="2800" b="1" dirty="0"/>
              <a:t> 4 actions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4258654"/>
            <a:ext cx="2908300" cy="16002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0" y="1603429"/>
            <a:ext cx="2895600" cy="16637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651" y="4258654"/>
            <a:ext cx="3175000" cy="16510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451" y="1590729"/>
            <a:ext cx="3251200" cy="1676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9574" y="3800529"/>
            <a:ext cx="3810000" cy="3022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558" y="1070029"/>
            <a:ext cx="3060700" cy="27305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64451" y="6112042"/>
            <a:ext cx="5005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Assume the cost of each action is 1</a:t>
            </a:r>
          </a:p>
        </p:txBody>
      </p:sp>
    </p:spTree>
    <p:extLst>
      <p:ext uri="{BB962C8B-B14F-4D97-AF65-F5344CB8AC3E}">
        <p14:creationId xmlns:p14="http://schemas.microsoft.com/office/powerpoint/2010/main" val="634995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864321"/>
              </p:ext>
            </p:extLst>
          </p:nvPr>
        </p:nvGraphicFramePr>
        <p:xfrm>
          <a:off x="96252" y="1010654"/>
          <a:ext cx="11951366" cy="341696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36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3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40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59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22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81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221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8659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384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9384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4221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6627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9408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002631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736117">
                <a:tc>
                  <a:txBody>
                    <a:bodyPr/>
                    <a:lstStyle/>
                    <a:p>
                      <a:pPr algn="ctr"/>
                      <a:endParaRPr lang="en-US" sz="18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1" dirty="0"/>
                        <a:t>Cl(A)</a:t>
                      </a:r>
                      <a:endParaRPr lang="en-US" sz="18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Cl(B)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Cl(C)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onT</a:t>
                      </a:r>
                      <a:r>
                        <a:rPr lang="en-US" sz="1800" b="1" dirty="0"/>
                        <a:t>(A)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onT</a:t>
                      </a:r>
                      <a:r>
                        <a:rPr lang="en-US" sz="1800" b="1" dirty="0"/>
                        <a:t>(B)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onT</a:t>
                      </a:r>
                      <a:r>
                        <a:rPr lang="en-US" sz="1800" b="1" dirty="0"/>
                        <a:t>(C)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On(A,B)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On(A,C)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On(B,C)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H(A)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H(B)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H(C)</a:t>
                      </a: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 err="1"/>
                        <a:t>ArmFree</a:t>
                      </a:r>
                      <a:endParaRPr lang="en-US" sz="1800" b="1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2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0</a:t>
                      </a:r>
                      <a:endParaRPr lang="en-US" sz="2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2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1</a:t>
                      </a:r>
                      <a:endParaRPr lang="en-US" sz="2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02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2</a:t>
                      </a:r>
                      <a:endParaRPr lang="en-US" sz="2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021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/>
                        <a:t>3</a:t>
                      </a:r>
                      <a:endParaRPr lang="en-US" sz="2800" dirty="0"/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5678906"/>
            <a:ext cx="45479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Cl(A)means Clear(A)</a:t>
            </a:r>
          </a:p>
          <a:p>
            <a:r>
              <a:rPr lang="en-US" b="1" dirty="0" err="1"/>
              <a:t>onT</a:t>
            </a:r>
            <a:r>
              <a:rPr lang="en-US" b="1" dirty="0"/>
              <a:t>(A) means </a:t>
            </a:r>
            <a:r>
              <a:rPr lang="en-US" b="1" dirty="0" err="1"/>
              <a:t>onTable</a:t>
            </a:r>
            <a:r>
              <a:rPr lang="en-US" b="1" dirty="0"/>
              <a:t>(A)</a:t>
            </a:r>
          </a:p>
          <a:p>
            <a:r>
              <a:rPr lang="en-US" b="1" dirty="0"/>
              <a:t>H(A) means holding(A)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37766"/>
            <a:ext cx="102268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</a:rPr>
              <a:t>Initial Situation : 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I = {on(A,C), </a:t>
            </a:r>
            <a:r>
              <a:rPr lang="en-US" sz="2400" b="1" dirty="0" err="1">
                <a:solidFill>
                  <a:srgbClr val="FF0000"/>
                </a:solidFill>
              </a:rPr>
              <a:t>onTable</a:t>
            </a:r>
            <a:r>
              <a:rPr lang="en-US" sz="2400" b="1" dirty="0">
                <a:solidFill>
                  <a:srgbClr val="FF0000"/>
                </a:solidFill>
              </a:rPr>
              <a:t>(C), </a:t>
            </a:r>
            <a:r>
              <a:rPr lang="en-US" sz="2400" b="1" dirty="0" err="1">
                <a:solidFill>
                  <a:srgbClr val="FF0000"/>
                </a:solidFill>
              </a:rPr>
              <a:t>onTable</a:t>
            </a:r>
            <a:r>
              <a:rPr lang="en-US" sz="2400" b="1" dirty="0">
                <a:solidFill>
                  <a:srgbClr val="FF0000"/>
                </a:solidFill>
              </a:rPr>
              <a:t>(B), clear(A), clear(B), </a:t>
            </a:r>
            <a:r>
              <a:rPr lang="en-US" sz="2400" b="1" dirty="0" err="1">
                <a:solidFill>
                  <a:srgbClr val="FF0000"/>
                </a:solidFill>
              </a:rPr>
              <a:t>armFree</a:t>
            </a:r>
            <a:r>
              <a:rPr lang="en-US" sz="2400" b="1" dirty="0">
                <a:solidFill>
                  <a:srgbClr val="FF0000"/>
                </a:solidFill>
              </a:rPr>
              <a:t>}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311" y="137119"/>
            <a:ext cx="5179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/>
              <a:t>How to compute </a:t>
            </a:r>
            <a:r>
              <a:rPr lang="en-US" altLang="zh-CN" sz="3200" b="1" dirty="0" err="1"/>
              <a:t>h</a:t>
            </a:r>
            <a:r>
              <a:rPr lang="en-US" altLang="zh-CN" sz="3200" b="1" baseline="30000" dirty="0" err="1"/>
              <a:t>add</a:t>
            </a:r>
            <a:endParaRPr lang="en-US" sz="3200" b="1" baseline="30000" dirty="0"/>
          </a:p>
        </p:txBody>
      </p:sp>
      <p:sp>
        <p:nvSpPr>
          <p:cNvPr id="9" name="TextBox 8"/>
          <p:cNvSpPr txBox="1"/>
          <p:nvPr/>
        </p:nvSpPr>
        <p:spPr>
          <a:xfrm>
            <a:off x="6906126" y="1780674"/>
            <a:ext cx="5293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53263" y="1780674"/>
            <a:ext cx="5293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3085" y="1780674"/>
            <a:ext cx="5293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4716" y="1780674"/>
            <a:ext cx="5293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64894" y="1780674"/>
            <a:ext cx="5293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97912" y="1780674"/>
            <a:ext cx="5293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502570" y="1743182"/>
                <a:ext cx="52939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1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∞</m:t>
                      </m:r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2570" y="1743182"/>
                <a:ext cx="529390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338762" y="1749896"/>
                <a:ext cx="52939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1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∞</m:t>
                      </m:r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8762" y="1749896"/>
                <a:ext cx="529390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894469" y="1719119"/>
                <a:ext cx="52939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1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∞</m:t>
                      </m:r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4469" y="1719119"/>
                <a:ext cx="529390" cy="58477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804984" y="1701770"/>
                <a:ext cx="52939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1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∞</m:t>
                      </m:r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4984" y="1701770"/>
                <a:ext cx="529390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8702590" y="1701770"/>
                <a:ext cx="52939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1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∞</m:t>
                      </m:r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2590" y="1701770"/>
                <a:ext cx="529390" cy="58477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9512466" y="1701770"/>
                <a:ext cx="52939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1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∞</m:t>
                      </m:r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2466" y="1701770"/>
                <a:ext cx="529390" cy="584775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10388762" y="1719119"/>
                <a:ext cx="52939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1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∞</m:t>
                      </m:r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88762" y="1719119"/>
                <a:ext cx="529390" cy="584775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9401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787" y="529389"/>
            <a:ext cx="11433236" cy="42110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47537" y="2791325"/>
            <a:ext cx="336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1516" y="2799346"/>
            <a:ext cx="336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15323" y="2799347"/>
            <a:ext cx="336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33472" y="2799347"/>
            <a:ext cx="336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1953" y="2799347"/>
            <a:ext cx="336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77073" y="2775284"/>
            <a:ext cx="336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517414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35" y="409074"/>
            <a:ext cx="11288449" cy="422451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91327" y="2671012"/>
            <a:ext cx="673768" cy="577514"/>
          </a:xfrm>
          <a:prstGeom prst="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78434" y="5083252"/>
            <a:ext cx="6162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(one) action can make clear(C) True? </a:t>
            </a:r>
          </a:p>
        </p:txBody>
      </p:sp>
    </p:spTree>
    <p:extLst>
      <p:ext uri="{BB962C8B-B14F-4D97-AF65-F5344CB8AC3E}">
        <p14:creationId xmlns:p14="http://schemas.microsoft.com/office/powerpoint/2010/main" val="1761881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970052" y="546809"/>
            <a:ext cx="58902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 blocks-world problem </a:t>
            </a:r>
            <a:r>
              <a:rPr lang="mr-IN" sz="2800" b="1" dirty="0"/>
              <a:t>–</a:t>
            </a:r>
            <a:r>
              <a:rPr lang="en-US" sz="2800" b="1" dirty="0"/>
              <a:t> 4 actions</a:t>
            </a: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4258654"/>
            <a:ext cx="2908300" cy="16002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0" y="1603429"/>
            <a:ext cx="2895600" cy="16637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651" y="4258654"/>
            <a:ext cx="3175000" cy="16510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451" y="1590729"/>
            <a:ext cx="3251200" cy="1676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9574" y="3800529"/>
            <a:ext cx="3810000" cy="3022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558" y="1070029"/>
            <a:ext cx="3060700" cy="27305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860323" y="2286000"/>
            <a:ext cx="839888" cy="240632"/>
          </a:xfrm>
          <a:prstGeom prst="rect">
            <a:avLst/>
          </a:prstGeom>
          <a:solidFill>
            <a:srgbClr val="FF000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949807" y="4963838"/>
            <a:ext cx="600888" cy="281930"/>
          </a:xfrm>
          <a:prstGeom prst="rect">
            <a:avLst/>
          </a:prstGeom>
          <a:solidFill>
            <a:srgbClr val="FF000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74674" y="4890312"/>
            <a:ext cx="590821" cy="307330"/>
          </a:xfrm>
          <a:prstGeom prst="rect">
            <a:avLst/>
          </a:prstGeom>
          <a:solidFill>
            <a:srgbClr val="FF0000">
              <a:alpha val="46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661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35" y="409074"/>
            <a:ext cx="11288449" cy="422451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791327" y="2671012"/>
            <a:ext cx="673768" cy="577514"/>
          </a:xfrm>
          <a:prstGeom prst="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78434" y="5083252"/>
            <a:ext cx="6162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(one) action can make clear(C) True?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8435" y="5625251"/>
            <a:ext cx="8566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unstack(A,C), unstack(B,C), putdown(C), stack(C,A), stack(C,B)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1025" y="2722983"/>
            <a:ext cx="4543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78435" y="5625251"/>
            <a:ext cx="1446618" cy="400110"/>
          </a:xfrm>
          <a:prstGeom prst="rect">
            <a:avLst/>
          </a:prstGeom>
          <a:solidFill>
            <a:schemeClr val="accent1">
              <a:alpha val="5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079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8" grpId="0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84" y="539275"/>
            <a:ext cx="10684043" cy="3878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609474" y="2526861"/>
            <a:ext cx="721894" cy="553223"/>
          </a:xfrm>
          <a:prstGeom prst="rect">
            <a:avLst/>
          </a:prstGeom>
          <a:solidFill>
            <a:srgbClr val="FF0000">
              <a:alpha val="4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527975" y="4705939"/>
            <a:ext cx="6162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(one) action can make </a:t>
            </a:r>
            <a:r>
              <a:rPr lang="en-US" sz="2400" b="1" dirty="0" err="1"/>
              <a:t>onTable</a:t>
            </a:r>
            <a:r>
              <a:rPr lang="en-US" sz="2400" b="1" dirty="0"/>
              <a:t>(A) True?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3673" y="5676383"/>
            <a:ext cx="28153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putdown(A)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9063" y="5368606"/>
            <a:ext cx="3248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Preconditions:</a:t>
            </a:r>
          </a:p>
          <a:p>
            <a:r>
              <a:rPr lang="en-US" sz="2400" dirty="0"/>
              <a:t>holding(A)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136105" y="6199603"/>
                <a:ext cx="4572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∞</m:t>
                      </m:r>
                    </m:oMath>
                  </m:oMathPara>
                </a14:m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6105" y="6199603"/>
                <a:ext cx="457200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3521260" y="6207625"/>
            <a:ext cx="45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8885" y="6184214"/>
            <a:ext cx="481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83643" y="6168824"/>
            <a:ext cx="481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8241631" y="5580354"/>
                <a:ext cx="180473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9600" b="1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∞</m:t>
                      </m:r>
                    </m:oMath>
                  </m:oMathPara>
                </a14:m>
                <a:endParaRPr lang="en-US" sz="4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631" y="5580354"/>
                <a:ext cx="1804737" cy="156966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3731812" y="2495309"/>
                <a:ext cx="4572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1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∞</m:t>
                      </m:r>
                    </m:oMath>
                  </m:oMathPara>
                </a14:m>
                <a:endParaRPr lang="en-US" sz="3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1812" y="2495309"/>
                <a:ext cx="457200" cy="58477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1149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81" y="601578"/>
            <a:ext cx="11064705" cy="40907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930527" y="2767264"/>
                <a:ext cx="52938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∞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0527" y="2767264"/>
                <a:ext cx="529389" cy="52322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647032" y="2764178"/>
                <a:ext cx="52938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∞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7032" y="2764178"/>
                <a:ext cx="529389" cy="5232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8494295" y="2764178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8274" y="2772200"/>
            <a:ext cx="45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9886346" y="2772200"/>
                <a:ext cx="52938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1" i="1" smtClean="0">
                          <a:solidFill>
                            <a:srgbClr val="FF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∞</m:t>
                      </m:r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6346" y="2772200"/>
                <a:ext cx="529389" cy="523220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898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480" y="409073"/>
            <a:ext cx="10090599" cy="37561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04737" y="2959769"/>
            <a:ext cx="3128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2460" y="2967791"/>
            <a:ext cx="3128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2169" y="2967791"/>
            <a:ext cx="3128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9594" y="2951750"/>
            <a:ext cx="3128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7427" y="2951749"/>
            <a:ext cx="3128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17364" y="2959771"/>
            <a:ext cx="3128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3339" y="2983834"/>
            <a:ext cx="3128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15125" y="2991856"/>
            <a:ext cx="3128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7042" y="3015919"/>
            <a:ext cx="3128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3237" y="2927685"/>
            <a:ext cx="720000" cy="525836"/>
          </a:xfrm>
          <a:prstGeom prst="rect">
            <a:avLst/>
          </a:prstGeom>
          <a:solidFill>
            <a:srgbClr val="FF0000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527975" y="4705939"/>
            <a:ext cx="6162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(one) action can make </a:t>
            </a:r>
            <a:r>
              <a:rPr lang="en-US" sz="2400" b="1" dirty="0" err="1"/>
              <a:t>onTable</a:t>
            </a:r>
            <a:r>
              <a:rPr lang="en-US" sz="2400" b="1" dirty="0"/>
              <a:t>(A) True?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3673" y="5676383"/>
            <a:ext cx="28153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putdown(A)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39063" y="5368606"/>
            <a:ext cx="32485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Preconditions:</a:t>
            </a:r>
          </a:p>
          <a:p>
            <a:r>
              <a:rPr lang="en-US" sz="2400" dirty="0"/>
              <a:t>holding(A)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136105" y="6199603"/>
                <a:ext cx="45720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charset="0"/>
                        </a:rPr>
                        <m:t>𝟏</m:t>
                      </m:r>
                    </m:oMath>
                  </m:oMathPara>
                </a14:m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6105" y="6199603"/>
                <a:ext cx="457200" cy="584775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/>
          <p:cNvSpPr txBox="1"/>
          <p:nvPr/>
        </p:nvSpPr>
        <p:spPr>
          <a:xfrm>
            <a:off x="3521260" y="6207625"/>
            <a:ext cx="457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08885" y="6184214"/>
            <a:ext cx="481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3643" y="6168824"/>
            <a:ext cx="4812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=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54453" y="6036304"/>
            <a:ext cx="180473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>
                <a:solidFill>
                  <a:srgbClr val="FF0000"/>
                </a:solidFill>
              </a:rPr>
              <a:t>2</a:t>
            </a:r>
            <a:endParaRPr lang="en-US" sz="4400" b="1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681652" y="2867437"/>
            <a:ext cx="641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63513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 animBg="1"/>
      <p:bldP spid="21" grpId="0"/>
      <p:bldP spid="23" grpId="0"/>
      <p:bldP spid="24" grpId="0"/>
      <p:bldP spid="25" grpId="0"/>
      <p:bldP spid="26" grpId="0"/>
      <p:bldP spid="27" grpId="0"/>
      <p:bldP spid="28" grpId="0"/>
      <p:bldP spid="2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70" y="264694"/>
            <a:ext cx="10569714" cy="38040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76701" y="2815389"/>
            <a:ext cx="45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87389" y="2815389"/>
            <a:ext cx="770022" cy="571346"/>
          </a:xfrm>
          <a:prstGeom prst="rect">
            <a:avLst/>
          </a:prstGeom>
          <a:solidFill>
            <a:srgbClr val="FF0000">
              <a:alpha val="5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79849" y="4202919"/>
            <a:ext cx="6162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(one) action can make on(B,C) True?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1621" y="5317958"/>
            <a:ext cx="2261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stack(B,C</a:t>
            </a:r>
            <a:r>
              <a:rPr lang="en-US" sz="3600" b="1" dirty="0"/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18583" y="4798799"/>
            <a:ext cx="23688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Preconditions:</a:t>
            </a:r>
          </a:p>
          <a:p>
            <a:r>
              <a:rPr lang="en-US" sz="2400" dirty="0"/>
              <a:t>holding(B)</a:t>
            </a:r>
          </a:p>
          <a:p>
            <a:r>
              <a:rPr lang="en-US" sz="2400" dirty="0"/>
              <a:t>clear(C)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2846" y="5102291"/>
            <a:ext cx="505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2986" y="5466868"/>
            <a:ext cx="505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2741" y="5759255"/>
            <a:ext cx="5053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0547" y="5394678"/>
            <a:ext cx="27191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>
                <a:solidFill>
                  <a:srgbClr val="FF0000"/>
                </a:solidFill>
              </a:rPr>
              <a:t>h</a:t>
            </a:r>
            <a:r>
              <a:rPr lang="en-US" sz="3600" b="1" baseline="30000" dirty="0" err="1">
                <a:solidFill>
                  <a:srgbClr val="FF0000"/>
                </a:solidFill>
              </a:rPr>
              <a:t>add</a:t>
            </a:r>
            <a:r>
              <a:rPr lang="en-US" sz="3600" b="1" dirty="0">
                <a:solidFill>
                  <a:srgbClr val="FF0000"/>
                </a:solidFill>
              </a:rPr>
              <a:t> = 3</a:t>
            </a:r>
          </a:p>
          <a:p>
            <a:r>
              <a:rPr lang="en-US" sz="3600" b="1" dirty="0" err="1">
                <a:solidFill>
                  <a:srgbClr val="FF0000"/>
                </a:solidFill>
              </a:rPr>
              <a:t>h</a:t>
            </a:r>
            <a:r>
              <a:rPr lang="en-US" sz="3600" b="1" baseline="30000" dirty="0" err="1">
                <a:solidFill>
                  <a:srgbClr val="FF0000"/>
                </a:solidFill>
              </a:rPr>
              <a:t>max</a:t>
            </a:r>
            <a:r>
              <a:rPr lang="en-US" sz="3600" b="1" dirty="0">
                <a:solidFill>
                  <a:srgbClr val="FF0000"/>
                </a:solidFill>
              </a:rPr>
              <a:t>=2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45278" y="2821989"/>
            <a:ext cx="902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3(2)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3704" y="2863515"/>
            <a:ext cx="529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21215" y="3338609"/>
            <a:ext cx="1636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add(max)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369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70" y="264694"/>
            <a:ext cx="10569714" cy="380401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0605" y="2839452"/>
            <a:ext cx="505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16478" y="2839452"/>
            <a:ext cx="861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3(2)</a:t>
            </a:r>
            <a:endParaRPr lang="en-US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9802740" y="2863515"/>
            <a:ext cx="505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2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9418" y="3461791"/>
            <a:ext cx="9432732" cy="4837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9970" y="5014100"/>
            <a:ext cx="54834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When to stop?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9970" y="4457202"/>
            <a:ext cx="99681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After we have</a:t>
            </a:r>
            <a:r>
              <a:rPr lang="en-US" sz="2800" b="1" baseline="0" dirty="0"/>
              <a:t> get all the values in </a:t>
            </a:r>
            <a:r>
              <a:rPr lang="en-US" sz="2800" b="1" dirty="0"/>
              <a:t>i</a:t>
            </a:r>
            <a:r>
              <a:rPr lang="en-US" sz="2800" b="1" baseline="0" dirty="0"/>
              <a:t>teration 2. </a:t>
            </a:r>
            <a:r>
              <a:rPr lang="en-US" sz="2800" b="1" baseline="0" dirty="0">
                <a:solidFill>
                  <a:srgbClr val="FF0000"/>
                </a:solidFill>
              </a:rPr>
              <a:t>We</a:t>
            </a:r>
            <a:r>
              <a:rPr lang="zh-CN" altLang="en-US" sz="2800" b="1" baseline="0" dirty="0">
                <a:solidFill>
                  <a:srgbClr val="FF0000"/>
                </a:solidFill>
              </a:rPr>
              <a:t> </a:t>
            </a:r>
            <a:r>
              <a:rPr lang="en-US" altLang="zh-CN" sz="2800" b="1" baseline="0" dirty="0">
                <a:solidFill>
                  <a:srgbClr val="FF0000"/>
                </a:solidFill>
              </a:rPr>
              <a:t>shouldn't stop</a:t>
            </a:r>
            <a:r>
              <a:rPr lang="en-US" sz="2800" b="1" baseline="0"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9970" y="5694109"/>
            <a:ext cx="82837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When the values of last two iteration are exactly the same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7729" y="5509442"/>
            <a:ext cx="33688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Converge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474749" y="5771702"/>
            <a:ext cx="745958" cy="46166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7306189" y="2658855"/>
            <a:ext cx="1636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add(max)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833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79" y="1275345"/>
            <a:ext cx="11212953" cy="335387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83642" y="4444553"/>
            <a:ext cx="1636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add(max)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18168"/>
            <a:ext cx="1841500" cy="15113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4893" y="4676500"/>
            <a:ext cx="5424686" cy="45653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99221" y="3850103"/>
            <a:ext cx="914399" cy="594449"/>
          </a:xfrm>
          <a:prstGeom prst="rect">
            <a:avLst/>
          </a:prstGeom>
          <a:solidFill>
            <a:schemeClr val="accent1">
              <a:alpha val="6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531768" y="3850103"/>
            <a:ext cx="914399" cy="594449"/>
          </a:xfrm>
          <a:prstGeom prst="rect">
            <a:avLst/>
          </a:prstGeom>
          <a:solidFill>
            <a:schemeClr val="accent1">
              <a:alpha val="6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029200" y="3880369"/>
            <a:ext cx="770022" cy="564183"/>
          </a:xfrm>
          <a:prstGeom prst="rect">
            <a:avLst/>
          </a:prstGeom>
          <a:solidFill>
            <a:schemeClr val="accent1">
              <a:alpha val="6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587787" y="3880369"/>
            <a:ext cx="866275" cy="564183"/>
          </a:xfrm>
          <a:prstGeom prst="rect">
            <a:avLst/>
          </a:prstGeom>
          <a:solidFill>
            <a:schemeClr val="accent1">
              <a:alpha val="6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2034893" y="5170525"/>
            <a:ext cx="12136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|G| = 4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8526" y="5133033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&gt;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8956" y="5669682"/>
            <a:ext cx="5689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 err="1">
                <a:solidFill>
                  <a:srgbClr val="FF0000"/>
                </a:solidFill>
              </a:rPr>
              <a:t>h</a:t>
            </a:r>
            <a:r>
              <a:rPr lang="en-US" altLang="zh-CN" sz="3600" b="1" baseline="30000" dirty="0" err="1">
                <a:solidFill>
                  <a:srgbClr val="FF0000"/>
                </a:solidFill>
              </a:rPr>
              <a:t>add</a:t>
            </a:r>
            <a:r>
              <a:rPr lang="en-US" altLang="zh-CN" sz="3600" b="1" dirty="0">
                <a:solidFill>
                  <a:srgbClr val="FF0000"/>
                </a:solidFill>
              </a:rPr>
              <a:t> (I) = sum(0, 2, 3, 0) = 5 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58956" y="6211669"/>
            <a:ext cx="5689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 err="1">
                <a:solidFill>
                  <a:srgbClr val="FF0000"/>
                </a:solidFill>
              </a:rPr>
              <a:t>h</a:t>
            </a:r>
            <a:r>
              <a:rPr lang="en-US" altLang="zh-CN" sz="3600" b="1" baseline="30000" dirty="0" err="1">
                <a:solidFill>
                  <a:srgbClr val="FF0000"/>
                </a:solidFill>
              </a:rPr>
              <a:t>max</a:t>
            </a:r>
            <a:r>
              <a:rPr lang="en-US" altLang="zh-CN" sz="3600" b="1" dirty="0">
                <a:solidFill>
                  <a:srgbClr val="FF0000"/>
                </a:solidFill>
              </a:rPr>
              <a:t> (I) = max(0, 2, 2, 0)= 2 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679" y="431236"/>
            <a:ext cx="62559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Last Step: Get </a:t>
            </a:r>
            <a:r>
              <a:rPr lang="en-US" sz="3600" b="1" dirty="0" err="1"/>
              <a:t>h</a:t>
            </a:r>
            <a:r>
              <a:rPr lang="en-US" sz="3600" b="1" baseline="30000" dirty="0" err="1"/>
              <a:t>add</a:t>
            </a:r>
            <a:r>
              <a:rPr lang="en-US" sz="3600" b="1" dirty="0"/>
              <a:t> or </a:t>
            </a:r>
            <a:r>
              <a:rPr lang="en-US" sz="3600" b="1" dirty="0" err="1"/>
              <a:t>h</a:t>
            </a:r>
            <a:r>
              <a:rPr lang="en-US" sz="3600" b="1" baseline="30000" dirty="0" err="1"/>
              <a:t>max</a:t>
            </a:r>
            <a:endParaRPr lang="en-US" sz="3600" b="1" baseline="30000" dirty="0"/>
          </a:p>
        </p:txBody>
      </p:sp>
      <p:sp>
        <p:nvSpPr>
          <p:cNvPr id="17" name="Right Arrow 16"/>
          <p:cNvSpPr/>
          <p:nvPr/>
        </p:nvSpPr>
        <p:spPr>
          <a:xfrm>
            <a:off x="7303168" y="6106143"/>
            <a:ext cx="2538663" cy="3750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7400308" y="5743289"/>
            <a:ext cx="2189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approximate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46366" y="5857726"/>
            <a:ext cx="926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h+</a:t>
            </a:r>
          </a:p>
        </p:txBody>
      </p:sp>
    </p:spTree>
    <p:extLst>
      <p:ext uri="{BB962C8B-B14F-4D97-AF65-F5344CB8AC3E}">
        <p14:creationId xmlns:p14="http://schemas.microsoft.com/office/powerpoint/2010/main" val="769728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/>
      <p:bldP spid="12" grpId="0"/>
      <p:bldP spid="14" grpId="0"/>
      <p:bldP spid="15" grpId="0"/>
      <p:bldP spid="17" grpId="0" animBg="1"/>
      <p:bldP spid="18" grpId="0"/>
      <p:bldP spid="1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7419" y="1013797"/>
            <a:ext cx="6809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How to extract a relaxed plan?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7419" y="1734239"/>
            <a:ext cx="72568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Step 1: Compute a best-supporter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7419" y="2225087"/>
            <a:ext cx="104410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</a:rPr>
              <a:t>Best supporter function </a:t>
            </a:r>
            <a:r>
              <a:rPr lang="en-US" sz="2400" b="1" dirty="0" err="1">
                <a:solidFill>
                  <a:srgbClr val="0070C0"/>
                </a:solidFill>
              </a:rPr>
              <a:t>bs</a:t>
            </a:r>
            <a:r>
              <a:rPr lang="en-US" sz="2400" b="1" dirty="0">
                <a:solidFill>
                  <a:srgbClr val="0070C0"/>
                </a:solidFill>
              </a:rPr>
              <a:t>: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For every fact p ∈ F, an action that is deemed to be the cheapest achiever of p </a:t>
            </a:r>
          </a:p>
          <a:p>
            <a:r>
              <a:rPr lang="en-US" sz="2400" dirty="0">
                <a:solidFill>
                  <a:srgbClr val="0070C0"/>
                </a:solidFill>
              </a:rPr>
              <a:t>(within the relaxation)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7419" y="3719394"/>
            <a:ext cx="5272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Step 2: Relaxed Plan Extraction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01" y="4239424"/>
            <a:ext cx="7518400" cy="2286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7419" y="199789"/>
            <a:ext cx="5447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</a:rPr>
              <a:t>How to compute </a:t>
            </a:r>
            <a:r>
              <a:rPr lang="en-US" altLang="zh-CN" sz="3600" b="1" dirty="0" err="1">
                <a:solidFill>
                  <a:srgbClr val="FF0000"/>
                </a:solidFill>
              </a:rPr>
              <a:t>h</a:t>
            </a:r>
            <a:r>
              <a:rPr lang="en-US" altLang="zh-CN" sz="3600" b="1" baseline="30000" dirty="0" err="1">
                <a:solidFill>
                  <a:srgbClr val="FF0000"/>
                </a:solidFill>
              </a:rPr>
              <a:t>FF</a:t>
            </a:r>
            <a:r>
              <a:rPr lang="en-US" altLang="zh-CN" sz="3600" b="1" dirty="0">
                <a:solidFill>
                  <a:srgbClr val="FF0000"/>
                </a:solidFill>
              </a:rPr>
              <a:t>? </a:t>
            </a:r>
            <a:endParaRPr lang="en-US" sz="36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44330" y="301261"/>
            <a:ext cx="7037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Extract a relaxed plan and then compute </a:t>
            </a:r>
            <a:r>
              <a:rPr lang="en-US" sz="2800" dirty="0" err="1">
                <a:solidFill>
                  <a:srgbClr val="FF0000"/>
                </a:solidFill>
              </a:rPr>
              <a:t>h</a:t>
            </a:r>
            <a:r>
              <a:rPr lang="en-US" sz="2800" baseline="30000" dirty="0" err="1">
                <a:solidFill>
                  <a:srgbClr val="FF0000"/>
                </a:solidFill>
              </a:rPr>
              <a:t>FF</a:t>
            </a:r>
            <a:endParaRPr lang="en-US" sz="2800" baseline="30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1068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6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874" y="769827"/>
            <a:ext cx="11459182" cy="358477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660073" y="3588743"/>
            <a:ext cx="719847" cy="583660"/>
          </a:xfrm>
          <a:prstGeom prst="rect">
            <a:avLst/>
          </a:prstGeom>
          <a:solidFill>
            <a:schemeClr val="accent1">
              <a:alpha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78823" y="4385374"/>
            <a:ext cx="61629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(one) action can make Cl(C) True?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8823" y="4847039"/>
            <a:ext cx="85664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unstack(A,C), unstack(B,C), putdown(C), stack(C,A), stack(C,B)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823" y="5308704"/>
            <a:ext cx="89375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Which action is the best supporter function of Cl(C) ?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31767" y="199505"/>
            <a:ext cx="29285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err="1"/>
              <a:t>h</a:t>
            </a:r>
            <a:r>
              <a:rPr lang="en-US" sz="3600" b="1" baseline="30000" dirty="0" err="1"/>
              <a:t>add</a:t>
            </a:r>
            <a:r>
              <a:rPr lang="en-US" sz="3600" b="1" baseline="30000" dirty="0"/>
              <a:t> </a:t>
            </a:r>
            <a:r>
              <a:rPr lang="en-US" sz="3600" b="1" dirty="0"/>
              <a:t>or </a:t>
            </a:r>
            <a:r>
              <a:rPr lang="en-US" sz="3600" b="1" dirty="0" err="1"/>
              <a:t>h</a:t>
            </a:r>
            <a:r>
              <a:rPr lang="en-US" sz="3600" b="1" baseline="30000" dirty="0" err="1"/>
              <a:t>max</a:t>
            </a:r>
            <a:endParaRPr lang="en-US" sz="3600" b="1" baseline="30000" dirty="0"/>
          </a:p>
        </p:txBody>
      </p:sp>
      <p:sp>
        <p:nvSpPr>
          <p:cNvPr id="4" name="TextBox 3"/>
          <p:cNvSpPr txBox="1"/>
          <p:nvPr/>
        </p:nvSpPr>
        <p:spPr>
          <a:xfrm>
            <a:off x="8595359" y="5308704"/>
            <a:ext cx="241069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FF0000"/>
                </a:solidFill>
              </a:rPr>
              <a:t>Cheapest Achiever?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95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/>
      <p:bldP spid="10" grpId="0"/>
      <p:bldP spid="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157" y="0"/>
            <a:ext cx="5552843" cy="173709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18680" y="1034070"/>
            <a:ext cx="1147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29456" y="1034070"/>
            <a:ext cx="15207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preconditions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40860" y="1717951"/>
            <a:ext cx="1439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unstack(A,C)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829456" y="1440952"/>
            <a:ext cx="15207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on(A,C)</a:t>
            </a:r>
          </a:p>
          <a:p>
            <a:r>
              <a:rPr lang="en-US" dirty="0"/>
              <a:t>Clear(A)</a:t>
            </a:r>
          </a:p>
          <a:p>
            <a:r>
              <a:rPr lang="en-US" dirty="0" err="1"/>
              <a:t>ArmFree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038928" y="1440952"/>
            <a:ext cx="3112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  <a:p>
            <a:r>
              <a:rPr lang="en-US" dirty="0"/>
              <a:t>0</a:t>
            </a:r>
          </a:p>
          <a:p>
            <a:r>
              <a:rPr lang="en-US" dirty="0"/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80553" y="1717951"/>
            <a:ext cx="204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096639" y="1610229"/>
            <a:ext cx="353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+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52874" y="1610228"/>
            <a:ext cx="6922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=</a:t>
            </a:r>
            <a:r>
              <a:rPr lang="zh-CN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</a:rPr>
              <a:t>1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40860" y="2843119"/>
            <a:ext cx="1439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unstack(B,C)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3804313" y="2566118"/>
            <a:ext cx="15207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on(</a:t>
            </a:r>
            <a:r>
              <a:rPr lang="en-US" altLang="zh-CN" dirty="0"/>
              <a:t>B</a:t>
            </a:r>
            <a:r>
              <a:rPr lang="en-US" dirty="0"/>
              <a:t>,C)</a:t>
            </a:r>
          </a:p>
          <a:p>
            <a:r>
              <a:rPr lang="en-US" dirty="0"/>
              <a:t>Clear(B)</a:t>
            </a:r>
          </a:p>
          <a:p>
            <a:r>
              <a:rPr lang="en-US" dirty="0" err="1"/>
              <a:t>ArmFree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013785" y="2566118"/>
            <a:ext cx="3112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  <a:p>
            <a:r>
              <a:rPr lang="en-US" dirty="0"/>
              <a:t>0</a:t>
            </a:r>
          </a:p>
          <a:p>
            <a:r>
              <a:rPr lang="en-US" dirty="0"/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4615" y="1035653"/>
            <a:ext cx="720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rgbClr val="FF0000"/>
                </a:solidFill>
              </a:rPr>
              <a:t>hadd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57856" y="2843119"/>
            <a:ext cx="204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093397" y="2696484"/>
            <a:ext cx="353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+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549632" y="2696483"/>
            <a:ext cx="6922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=</a:t>
            </a:r>
            <a:r>
              <a:rPr lang="zh-CN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</a:rPr>
              <a:t>4</a:t>
            </a:r>
            <a:endParaRPr lang="en-US" sz="3200" b="1" dirty="0">
              <a:solidFill>
                <a:srgbClr val="FF0000"/>
              </a:solidFill>
            </a:endParaRPr>
          </a:p>
        </p:txBody>
      </p:sp>
      <p:cxnSp>
        <p:nvCxnSpPr>
          <p:cNvPr id="19" name="Straight Connector 18"/>
          <p:cNvCxnSpPr/>
          <p:nvPr/>
        </p:nvCxnSpPr>
        <p:spPr>
          <a:xfrm>
            <a:off x="739302" y="2566118"/>
            <a:ext cx="63813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745785" y="3489448"/>
            <a:ext cx="63813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822690" y="1373333"/>
            <a:ext cx="367999" cy="227575"/>
          </a:xfrm>
          <a:prstGeom prst="rect">
            <a:avLst/>
          </a:prstGeom>
          <a:solidFill>
            <a:schemeClr val="accent1">
              <a:alpha val="5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217973" y="432139"/>
            <a:ext cx="64017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Which action </a:t>
            </a:r>
            <a:r>
              <a:rPr lang="en-US" sz="2400" b="1" dirty="0"/>
              <a:t>is best supporter function for Cl(C)?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7075" y="3676455"/>
            <a:ext cx="2036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putdown(C)      1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3829456" y="3676455"/>
            <a:ext cx="1495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holding(C)   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0156" y="3529810"/>
            <a:ext cx="353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+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546391" y="3529809"/>
            <a:ext cx="6922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=</a:t>
            </a:r>
            <a:r>
              <a:rPr lang="zh-CN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</a:rPr>
              <a:t>3</a:t>
            </a:r>
            <a:endParaRPr lang="en-US" sz="3200" b="1" dirty="0">
              <a:solidFill>
                <a:srgbClr val="FF0000"/>
              </a:solidFill>
            </a:endParaRPr>
          </a:p>
        </p:txBody>
      </p:sp>
      <p:cxnSp>
        <p:nvCxnSpPr>
          <p:cNvPr id="27" name="Straight Connector 26"/>
          <p:cNvCxnSpPr/>
          <p:nvPr/>
        </p:nvCxnSpPr>
        <p:spPr>
          <a:xfrm>
            <a:off x="739302" y="4342239"/>
            <a:ext cx="63813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118680" y="4638692"/>
            <a:ext cx="1741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stack(C,A)       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8624" y="4412777"/>
            <a:ext cx="1754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holding(C)    2</a:t>
            </a:r>
          </a:p>
          <a:p>
            <a:r>
              <a:rPr lang="en-US" dirty="0"/>
              <a:t>Clear(A)        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6369" y="4460414"/>
            <a:ext cx="353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+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562604" y="4460413"/>
            <a:ext cx="6922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=</a:t>
            </a:r>
            <a:r>
              <a:rPr lang="zh-CN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</a:rPr>
              <a:t>3</a:t>
            </a:r>
            <a:endParaRPr lang="en-US" sz="3200" b="1" dirty="0">
              <a:solidFill>
                <a:srgbClr val="FF0000"/>
              </a:solidFill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>
            <a:off x="739302" y="5214486"/>
            <a:ext cx="63813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115440" y="5491476"/>
            <a:ext cx="1741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stack(C,B)       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8624" y="5352104"/>
            <a:ext cx="1754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holding(C)    2</a:t>
            </a:r>
          </a:p>
          <a:p>
            <a:r>
              <a:rPr lang="en-US" dirty="0"/>
              <a:t>Clear(B)        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44762" y="5352105"/>
            <a:ext cx="3534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+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599906" y="5376648"/>
            <a:ext cx="6922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</a:rPr>
              <a:t>=</a:t>
            </a:r>
            <a:r>
              <a:rPr lang="zh-CN" altLang="en-US" sz="3200" b="1" dirty="0">
                <a:solidFill>
                  <a:srgbClr val="FF0000"/>
                </a:solidFill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</a:rPr>
              <a:t>3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037617" y="1610228"/>
            <a:ext cx="1420239" cy="584775"/>
          </a:xfrm>
          <a:prstGeom prst="rect">
            <a:avLst/>
          </a:prstGeom>
          <a:solidFill>
            <a:schemeClr val="accent1">
              <a:alpha val="58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492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5" grpId="0"/>
      <p:bldP spid="16" grpId="0"/>
      <p:bldP spid="17" grpId="0"/>
      <p:bldP spid="23" grpId="0"/>
      <p:bldP spid="24" grpId="0"/>
      <p:bldP spid="25" grpId="0"/>
      <p:bldP spid="26" grpId="0"/>
      <p:bldP spid="28" grpId="0"/>
      <p:bldP spid="29" grpId="0"/>
      <p:bldP spid="30" grpId="0"/>
      <p:bldP spid="31" grpId="0"/>
      <p:bldP spid="33" grpId="0"/>
      <p:bldP spid="34" grpId="0"/>
      <p:bldP spid="35" grpId="0"/>
      <p:bldP spid="36" grpId="0"/>
      <p:bldP spid="3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225" y="1186773"/>
            <a:ext cx="11721084" cy="4280171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05838" y="663553"/>
            <a:ext cx="6712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Best Supporter Function for each fact</a:t>
            </a:r>
          </a:p>
        </p:txBody>
      </p:sp>
    </p:spTree>
    <p:extLst>
      <p:ext uri="{BB962C8B-B14F-4D97-AF65-F5344CB8AC3E}">
        <p14:creationId xmlns:p14="http://schemas.microsoft.com/office/powerpoint/2010/main" val="18305662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946" y="194554"/>
            <a:ext cx="4868145" cy="20428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8016" y="498264"/>
            <a:ext cx="3988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Extract Relaxed Plan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420" y="1265393"/>
            <a:ext cx="7108526" cy="21613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33462" y="3821775"/>
            <a:ext cx="71790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 = {on(A,C), </a:t>
            </a:r>
            <a:r>
              <a:rPr lang="en-US" b="1" dirty="0" err="1"/>
              <a:t>onTable</a:t>
            </a:r>
            <a:r>
              <a:rPr lang="en-US" b="1" dirty="0"/>
              <a:t>(C), </a:t>
            </a:r>
            <a:r>
              <a:rPr lang="en-US" b="1" dirty="0" err="1"/>
              <a:t>onTable</a:t>
            </a:r>
            <a:r>
              <a:rPr lang="en-US" b="1" dirty="0"/>
              <a:t>(B), clear(A), clear(B), </a:t>
            </a:r>
            <a:r>
              <a:rPr lang="en-US" b="1" dirty="0" err="1"/>
              <a:t>ArmFree</a:t>
            </a:r>
            <a:r>
              <a:rPr lang="en-US" b="1" dirty="0"/>
              <a:t>}</a:t>
            </a:r>
          </a:p>
          <a:p>
            <a:r>
              <a:rPr lang="en-US" b="1" dirty="0"/>
              <a:t>G = {on(A,B), on(B,C), </a:t>
            </a:r>
            <a:r>
              <a:rPr lang="en-US" b="1" dirty="0" err="1"/>
              <a:t>onTable</a:t>
            </a:r>
            <a:r>
              <a:rPr lang="en-US" b="1" dirty="0"/>
              <a:t>(C), clear(A), </a:t>
            </a:r>
            <a:r>
              <a:rPr lang="en-US" b="1" dirty="0" err="1"/>
              <a:t>ArmFree</a:t>
            </a:r>
            <a:r>
              <a:rPr lang="en-US" b="1" dirty="0"/>
              <a:t>}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2100" y="4823087"/>
            <a:ext cx="35408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Open := G \ I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2100" y="5236274"/>
            <a:ext cx="3861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Open = {on(A,B), on(B,C)}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82100" y="5730709"/>
                <a:ext cx="21400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Closed =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∅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00" y="5730709"/>
                <a:ext cx="2140086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4274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82100" y="6192374"/>
                <a:ext cx="21400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RPlan=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∅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100" y="6192374"/>
                <a:ext cx="2140086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4274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0112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946" y="194554"/>
            <a:ext cx="4868145" cy="20428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5840" y="680938"/>
            <a:ext cx="3988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Extract Relaxed Plan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553" y="1496226"/>
            <a:ext cx="7108526" cy="21613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5840" y="3888115"/>
            <a:ext cx="3861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Open = {on(A,B), on(B,C)}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05840" y="4382550"/>
                <a:ext cx="21400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Closed =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∅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40" y="4382550"/>
                <a:ext cx="2140086" cy="461665"/>
              </a:xfrm>
              <a:prstGeom prst="rect">
                <a:avLst/>
              </a:prstGeom>
              <a:blipFill rotWithShape="0">
                <a:blip r:embed="rId5"/>
                <a:stretch>
                  <a:fillRect l="-4558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05840" y="4844215"/>
                <a:ext cx="214008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FF0000"/>
                    </a:solidFill>
                  </a:rPr>
                  <a:t>RPlan=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∅</m:t>
                    </m:r>
                  </m:oMath>
                </a14:m>
                <a:endParaRPr lang="en-US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840" y="4844215"/>
                <a:ext cx="2140086" cy="461665"/>
              </a:xfrm>
              <a:prstGeom prst="rect">
                <a:avLst/>
              </a:prstGeom>
              <a:blipFill rotWithShape="0">
                <a:blip r:embed="rId6"/>
                <a:stretch>
                  <a:fillRect l="-4558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/>
          <p:cNvCxnSpPr/>
          <p:nvPr/>
        </p:nvCxnSpPr>
        <p:spPr>
          <a:xfrm>
            <a:off x="1770434" y="3888115"/>
            <a:ext cx="666347" cy="494435"/>
          </a:xfrm>
          <a:prstGeom prst="line">
            <a:avLst/>
          </a:prstGeom>
          <a:ln w="793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9057" y="4421940"/>
            <a:ext cx="1538884" cy="461665"/>
          </a:xfrm>
          <a:prstGeom prst="rect">
            <a:avLst/>
          </a:prstGeom>
        </p:spPr>
      </p:pic>
      <p:cxnSp>
        <p:nvCxnSpPr>
          <p:cNvPr id="18" name="Straight Arrow Connector 17"/>
          <p:cNvCxnSpPr/>
          <p:nvPr/>
        </p:nvCxnSpPr>
        <p:spPr>
          <a:xfrm>
            <a:off x="4260720" y="2762655"/>
            <a:ext cx="1254863" cy="1125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530183" y="3674225"/>
            <a:ext cx="5739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70C0"/>
                </a:solidFill>
              </a:rPr>
              <a:t>U is set union operator, so there is no duplicate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9394" y="6128424"/>
            <a:ext cx="2585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bs</a:t>
            </a:r>
            <a:r>
              <a:rPr lang="en-US" dirty="0">
                <a:solidFill>
                  <a:srgbClr val="0070C0"/>
                </a:solidFill>
              </a:rPr>
              <a:t>(on(A,B)) = stack(A,B)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50979" y="4906073"/>
            <a:ext cx="1665861" cy="3998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367723" y="5680953"/>
            <a:ext cx="1682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Precondition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24528" y="6128424"/>
            <a:ext cx="2782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holding(A), clear(B)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03079" y="2887032"/>
            <a:ext cx="71790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 = {on(A,C), </a:t>
            </a:r>
            <a:r>
              <a:rPr lang="en-US" sz="1400" b="1" dirty="0" err="1"/>
              <a:t>onTable</a:t>
            </a:r>
            <a:r>
              <a:rPr lang="en-US" sz="1400" b="1" dirty="0"/>
              <a:t>(C), </a:t>
            </a:r>
            <a:r>
              <a:rPr lang="en-US" sz="1400" b="1" dirty="0" err="1"/>
              <a:t>onTable</a:t>
            </a:r>
            <a:r>
              <a:rPr lang="en-US" sz="1400" b="1" dirty="0"/>
              <a:t>(B), clear(A), clear(B), </a:t>
            </a:r>
            <a:r>
              <a:rPr lang="en-US" sz="1400" b="1" dirty="0" err="1"/>
              <a:t>ArmFree</a:t>
            </a:r>
            <a:r>
              <a:rPr lang="en-US" sz="1400" b="1" dirty="0"/>
              <a:t>}</a:t>
            </a:r>
          </a:p>
          <a:p>
            <a:r>
              <a:rPr lang="en-US" sz="1400" b="1" dirty="0"/>
              <a:t>G = {on(A,B), on(B,C), </a:t>
            </a:r>
            <a:r>
              <a:rPr lang="en-US" sz="1400" b="1" dirty="0" err="1"/>
              <a:t>onTable</a:t>
            </a:r>
            <a:r>
              <a:rPr lang="en-US" sz="1400" b="1" dirty="0"/>
              <a:t>(C), clear(A), </a:t>
            </a:r>
            <a:r>
              <a:rPr lang="en-US" sz="1400" b="1" dirty="0" err="1"/>
              <a:t>ArmFree</a:t>
            </a:r>
            <a:r>
              <a:rPr lang="en-US" sz="1400" b="1" dirty="0"/>
              <a:t>} 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5231051" y="6111801"/>
            <a:ext cx="666347" cy="494435"/>
          </a:xfrm>
          <a:prstGeom prst="line">
            <a:avLst/>
          </a:prstGeom>
          <a:ln w="793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1506" y="3841311"/>
            <a:ext cx="1592710" cy="44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086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26" grpId="0"/>
      <p:bldP spid="2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946" y="194554"/>
            <a:ext cx="4868145" cy="20428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5840" y="680938"/>
            <a:ext cx="3988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Extract Relaxed Plan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553" y="1496226"/>
            <a:ext cx="7108526" cy="21613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5840" y="3888115"/>
            <a:ext cx="38618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Open = {on(B,C), holding(A)}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5840" y="4382550"/>
            <a:ext cx="33268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Closed = {on(A,B)}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5839" y="4844215"/>
            <a:ext cx="3128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FF0000"/>
                </a:solidFill>
              </a:rPr>
              <a:t>RPlan</a:t>
            </a:r>
            <a:r>
              <a:rPr lang="en-US" sz="2400" b="1" dirty="0">
                <a:solidFill>
                  <a:srgbClr val="FF0000"/>
                </a:solidFill>
              </a:rPr>
              <a:t>= {stack(A,B)}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16933" y="3888115"/>
            <a:ext cx="666347" cy="494435"/>
          </a:xfrm>
          <a:prstGeom prst="line">
            <a:avLst/>
          </a:prstGeom>
          <a:ln w="793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49394" y="6128424"/>
            <a:ext cx="2585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bs</a:t>
            </a:r>
            <a:r>
              <a:rPr lang="en-US" dirty="0">
                <a:solidFill>
                  <a:srgbClr val="0070C0"/>
                </a:solidFill>
              </a:rPr>
              <a:t>(on(B,C)) = stack(B,C)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7723" y="5680953"/>
            <a:ext cx="1682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Precondition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24528" y="6128424"/>
            <a:ext cx="2782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holding(B), clear(C)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03079" y="2887032"/>
            <a:ext cx="71790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 = {on(A,C), </a:t>
            </a:r>
            <a:r>
              <a:rPr lang="en-US" sz="1400" b="1" dirty="0" err="1"/>
              <a:t>onTable</a:t>
            </a:r>
            <a:r>
              <a:rPr lang="en-US" sz="1400" b="1" dirty="0"/>
              <a:t>(C), </a:t>
            </a:r>
            <a:r>
              <a:rPr lang="en-US" sz="1400" b="1" dirty="0" err="1"/>
              <a:t>onTable</a:t>
            </a:r>
            <a:r>
              <a:rPr lang="en-US" sz="1400" b="1" dirty="0"/>
              <a:t>(B), clear(A), clear(B), </a:t>
            </a:r>
            <a:r>
              <a:rPr lang="en-US" sz="1400" b="1" dirty="0" err="1"/>
              <a:t>ArmFree</a:t>
            </a:r>
            <a:r>
              <a:rPr lang="en-US" sz="1400" b="1" dirty="0"/>
              <a:t>}</a:t>
            </a:r>
          </a:p>
          <a:p>
            <a:r>
              <a:rPr lang="en-US" sz="1400" b="1" dirty="0"/>
              <a:t>G = {on(A,B), on(B,C), </a:t>
            </a:r>
            <a:r>
              <a:rPr lang="en-US" sz="1400" b="1" dirty="0" err="1"/>
              <a:t>onTable</a:t>
            </a:r>
            <a:r>
              <a:rPr lang="en-US" sz="1400" b="1" dirty="0"/>
              <a:t>(C), clear(A), </a:t>
            </a:r>
            <a:r>
              <a:rPr lang="en-US" sz="1400" b="1" dirty="0" err="1"/>
              <a:t>ArmFree</a:t>
            </a:r>
            <a:r>
              <a:rPr lang="en-US" sz="1400" b="1" dirty="0"/>
              <a:t>}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5851" y="4452407"/>
            <a:ext cx="1344597" cy="43374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078" y="3959744"/>
            <a:ext cx="2759655" cy="35685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3397" y="4874591"/>
            <a:ext cx="1568642" cy="403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271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6" grpId="0"/>
      <p:bldP spid="2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946" y="194554"/>
            <a:ext cx="4868145" cy="20428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5840" y="680938"/>
            <a:ext cx="3988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Extract Relaxed Plan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553" y="1496226"/>
            <a:ext cx="7108526" cy="21613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5840" y="3888115"/>
            <a:ext cx="6128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Open = {holding(A), holding(B), clear(C)}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5839" y="4382550"/>
            <a:ext cx="48832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Closed = {on(A,B), on(B,C)}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5839" y="4844215"/>
            <a:ext cx="45525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FF0000"/>
                </a:solidFill>
              </a:rPr>
              <a:t>RPlan</a:t>
            </a:r>
            <a:r>
              <a:rPr lang="en-US" sz="2400" b="1" dirty="0">
                <a:solidFill>
                  <a:srgbClr val="FF0000"/>
                </a:solidFill>
              </a:rPr>
              <a:t>= {stack(A,B), stack(B,C)}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833663" y="3897924"/>
            <a:ext cx="666347" cy="494435"/>
          </a:xfrm>
          <a:prstGeom prst="line">
            <a:avLst/>
          </a:prstGeom>
          <a:ln w="793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40263" y="6128424"/>
            <a:ext cx="2919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bs</a:t>
            </a:r>
            <a:r>
              <a:rPr lang="en-US" dirty="0">
                <a:solidFill>
                  <a:srgbClr val="0070C0"/>
                </a:solidFill>
              </a:rPr>
              <a:t>(holding(A)) = unstack(A,C)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7723" y="5680953"/>
            <a:ext cx="1682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Precondition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24528" y="6128424"/>
            <a:ext cx="2782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on(A,C), clear(A), </a:t>
            </a:r>
            <a:r>
              <a:rPr lang="en-US" dirty="0" err="1">
                <a:solidFill>
                  <a:srgbClr val="0070C0"/>
                </a:solidFill>
              </a:rPr>
              <a:t>ArmFree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03079" y="2887032"/>
            <a:ext cx="71790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 = {on(A,C), </a:t>
            </a:r>
            <a:r>
              <a:rPr lang="en-US" sz="1400" b="1" dirty="0" err="1"/>
              <a:t>onTable</a:t>
            </a:r>
            <a:r>
              <a:rPr lang="en-US" sz="1400" b="1" dirty="0"/>
              <a:t>(C), </a:t>
            </a:r>
            <a:r>
              <a:rPr lang="en-US" sz="1400" b="1" dirty="0" err="1"/>
              <a:t>onTable</a:t>
            </a:r>
            <a:r>
              <a:rPr lang="en-US" sz="1400" b="1" dirty="0"/>
              <a:t>(B), clear(A), clear(B), </a:t>
            </a:r>
            <a:r>
              <a:rPr lang="en-US" sz="1400" b="1" dirty="0" err="1"/>
              <a:t>ArmFree</a:t>
            </a:r>
            <a:r>
              <a:rPr lang="en-US" sz="1400" b="1" dirty="0"/>
              <a:t>}</a:t>
            </a:r>
          </a:p>
          <a:p>
            <a:r>
              <a:rPr lang="en-US" sz="1400" b="1" dirty="0"/>
              <a:t>G = {on(A,B), on(B,C), </a:t>
            </a:r>
            <a:r>
              <a:rPr lang="en-US" sz="1400" b="1" dirty="0" err="1"/>
              <a:t>onTable</a:t>
            </a:r>
            <a:r>
              <a:rPr lang="en-US" sz="1400" b="1" dirty="0"/>
              <a:t>(C), clear(A), </a:t>
            </a:r>
            <a:r>
              <a:rPr lang="en-US" sz="1400" b="1" dirty="0" err="1"/>
              <a:t>ArmFree</a:t>
            </a:r>
            <a:r>
              <a:rPr lang="en-US" sz="1400" b="1" dirty="0"/>
              <a:t>}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8888" y="4416824"/>
            <a:ext cx="1844530" cy="42739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4180" y="4838075"/>
            <a:ext cx="1848943" cy="467805"/>
          </a:xfrm>
          <a:prstGeom prst="rect">
            <a:avLst/>
          </a:prstGeom>
        </p:spPr>
      </p:pic>
      <p:cxnSp>
        <p:nvCxnSpPr>
          <p:cNvPr id="20" name="Straight Connector 19"/>
          <p:cNvCxnSpPr/>
          <p:nvPr/>
        </p:nvCxnSpPr>
        <p:spPr>
          <a:xfrm>
            <a:off x="4224806" y="6070058"/>
            <a:ext cx="666347" cy="494435"/>
          </a:xfrm>
          <a:prstGeom prst="line">
            <a:avLst/>
          </a:prstGeom>
          <a:ln w="793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4991431" y="6097723"/>
            <a:ext cx="666347" cy="494435"/>
          </a:xfrm>
          <a:prstGeom prst="line">
            <a:avLst/>
          </a:prstGeom>
          <a:ln w="793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990373" y="6097722"/>
            <a:ext cx="666347" cy="494435"/>
          </a:xfrm>
          <a:prstGeom prst="line">
            <a:avLst/>
          </a:prstGeom>
          <a:ln w="793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4684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6" grpId="0"/>
      <p:bldP spid="2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946" y="194554"/>
            <a:ext cx="4868145" cy="20428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5840" y="680938"/>
            <a:ext cx="3988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Extract Relaxed Plan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553" y="1496226"/>
            <a:ext cx="7108526" cy="21613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5840" y="3888115"/>
            <a:ext cx="6128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Open = {holding(B), clear(C)}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5839" y="4382550"/>
            <a:ext cx="54845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Closed = {on(A,B), on(B,C), holding(A)}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5838" y="4844215"/>
            <a:ext cx="59922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FF0000"/>
                </a:solidFill>
              </a:rPr>
              <a:t>RPlan</a:t>
            </a:r>
            <a:r>
              <a:rPr lang="en-US" sz="2400" b="1" dirty="0">
                <a:solidFill>
                  <a:srgbClr val="FF0000"/>
                </a:solidFill>
              </a:rPr>
              <a:t>= {stack(A,B), stack(B,C), unstack(A,C)}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263" y="6128424"/>
            <a:ext cx="2919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bs</a:t>
            </a:r>
            <a:r>
              <a:rPr lang="en-US" dirty="0">
                <a:solidFill>
                  <a:srgbClr val="0070C0"/>
                </a:solidFill>
              </a:rPr>
              <a:t>(holding(B)) = pickup(B)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7723" y="5680953"/>
            <a:ext cx="1682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Precondition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24528" y="6128424"/>
            <a:ext cx="3178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onTable</a:t>
            </a:r>
            <a:r>
              <a:rPr lang="en-US" dirty="0">
                <a:solidFill>
                  <a:srgbClr val="0070C0"/>
                </a:solidFill>
              </a:rPr>
              <a:t>(B), clear(B), </a:t>
            </a:r>
            <a:r>
              <a:rPr lang="en-US" dirty="0" err="1">
                <a:solidFill>
                  <a:srgbClr val="0070C0"/>
                </a:solidFill>
              </a:rPr>
              <a:t>ArmFree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03079" y="2887032"/>
            <a:ext cx="71790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 = {on(A,C), </a:t>
            </a:r>
            <a:r>
              <a:rPr lang="en-US" sz="1400" b="1" dirty="0" err="1"/>
              <a:t>onTable</a:t>
            </a:r>
            <a:r>
              <a:rPr lang="en-US" sz="1400" b="1" dirty="0"/>
              <a:t>(C), </a:t>
            </a:r>
            <a:r>
              <a:rPr lang="en-US" sz="1400" b="1" dirty="0" err="1"/>
              <a:t>onTable</a:t>
            </a:r>
            <a:r>
              <a:rPr lang="en-US" sz="1400" b="1" dirty="0"/>
              <a:t>(B), clear(A), clear(B), </a:t>
            </a:r>
            <a:r>
              <a:rPr lang="en-US" sz="1400" b="1" dirty="0" err="1"/>
              <a:t>ArmFree</a:t>
            </a:r>
            <a:r>
              <a:rPr lang="en-US" sz="1400" b="1" dirty="0"/>
              <a:t>}</a:t>
            </a:r>
          </a:p>
          <a:p>
            <a:r>
              <a:rPr lang="en-US" sz="1400" b="1" dirty="0"/>
              <a:t>G = {on(A,B), on(B,C), </a:t>
            </a:r>
            <a:r>
              <a:rPr lang="en-US" sz="1400" b="1" dirty="0" err="1"/>
              <a:t>onTable</a:t>
            </a:r>
            <a:r>
              <a:rPr lang="en-US" sz="1400" b="1" dirty="0"/>
              <a:t>(C), clear(A), </a:t>
            </a:r>
            <a:r>
              <a:rPr lang="en-US" sz="1400" b="1" dirty="0" err="1"/>
              <a:t>ArmFree</a:t>
            </a:r>
            <a:r>
              <a:rPr lang="en-US" sz="1400" b="1" dirty="0"/>
              <a:t>} 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5324026" y="6050285"/>
            <a:ext cx="666347" cy="494435"/>
          </a:xfrm>
          <a:prstGeom prst="line">
            <a:avLst/>
          </a:prstGeom>
          <a:ln w="793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318712" y="6075559"/>
            <a:ext cx="666347" cy="494435"/>
          </a:xfrm>
          <a:prstGeom prst="line">
            <a:avLst/>
          </a:prstGeom>
          <a:ln w="793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881588" y="3871729"/>
            <a:ext cx="666347" cy="494435"/>
          </a:xfrm>
          <a:prstGeom prst="line">
            <a:avLst/>
          </a:prstGeom>
          <a:ln w="793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5583" y="4417663"/>
            <a:ext cx="1727890" cy="46239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781" y="4831285"/>
            <a:ext cx="1789872" cy="526433"/>
          </a:xfrm>
          <a:prstGeom prst="rect">
            <a:avLst/>
          </a:prstGeom>
        </p:spPr>
      </p:pic>
      <p:cxnSp>
        <p:nvCxnSpPr>
          <p:cNvPr id="25" name="Straight Connector 24"/>
          <p:cNvCxnSpPr/>
          <p:nvPr/>
        </p:nvCxnSpPr>
        <p:spPr>
          <a:xfrm>
            <a:off x="6254639" y="6047043"/>
            <a:ext cx="666347" cy="494435"/>
          </a:xfrm>
          <a:prstGeom prst="line">
            <a:avLst/>
          </a:prstGeom>
          <a:ln w="793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3964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6" grpId="0"/>
      <p:bldP spid="2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946" y="194554"/>
            <a:ext cx="4868145" cy="204280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5840" y="680938"/>
            <a:ext cx="39883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Extract Relaxed Plan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553" y="1496226"/>
            <a:ext cx="7108526" cy="21613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5840" y="3888115"/>
            <a:ext cx="6128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Open = {clear(C)}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5838" y="4382550"/>
            <a:ext cx="67791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Closed = {on(A,B), on(B,C), holding(A</a:t>
            </a:r>
            <a:r>
              <a:rPr lang="en-US" sz="2400" b="1">
                <a:solidFill>
                  <a:srgbClr val="FF0000"/>
                </a:solidFill>
              </a:rPr>
              <a:t>), holding(B)}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5838" y="4844215"/>
            <a:ext cx="7295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FF0000"/>
                </a:solidFill>
              </a:rPr>
              <a:t>RPlan</a:t>
            </a:r>
            <a:r>
              <a:rPr lang="en-US" sz="2400" b="1" dirty="0">
                <a:solidFill>
                  <a:srgbClr val="FF0000"/>
                </a:solidFill>
              </a:rPr>
              <a:t>= {stack(A,B), stack(B,C), unstack(A,C), pickup(B)}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263" y="6128424"/>
            <a:ext cx="2919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70C0"/>
                </a:solidFill>
              </a:rPr>
              <a:t>bs</a:t>
            </a:r>
            <a:r>
              <a:rPr lang="en-US" dirty="0">
                <a:solidFill>
                  <a:srgbClr val="0070C0"/>
                </a:solidFill>
              </a:rPr>
              <a:t>(clear(C)) = unstack(A,C)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7723" y="5680953"/>
            <a:ext cx="1682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Precondition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24528" y="6128424"/>
            <a:ext cx="3178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on(A,C), clear(A), </a:t>
            </a:r>
            <a:r>
              <a:rPr lang="en-US" dirty="0" err="1">
                <a:solidFill>
                  <a:srgbClr val="0070C0"/>
                </a:solidFill>
              </a:rPr>
              <a:t>ArmFree</a:t>
            </a:r>
            <a:r>
              <a:rPr lang="en-US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03079" y="2887032"/>
            <a:ext cx="71790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I = {on(A,C), </a:t>
            </a:r>
            <a:r>
              <a:rPr lang="en-US" sz="1400" b="1" dirty="0" err="1"/>
              <a:t>onTable</a:t>
            </a:r>
            <a:r>
              <a:rPr lang="en-US" sz="1400" b="1" dirty="0"/>
              <a:t>(C), </a:t>
            </a:r>
            <a:r>
              <a:rPr lang="en-US" sz="1400" b="1" dirty="0" err="1"/>
              <a:t>onTable</a:t>
            </a:r>
            <a:r>
              <a:rPr lang="en-US" sz="1400" b="1" dirty="0"/>
              <a:t>(B), clear(A), clear(B), </a:t>
            </a:r>
            <a:r>
              <a:rPr lang="en-US" sz="1400" b="1" dirty="0" err="1"/>
              <a:t>ArmFree</a:t>
            </a:r>
            <a:r>
              <a:rPr lang="en-US" sz="1400" b="1" dirty="0"/>
              <a:t>}</a:t>
            </a:r>
          </a:p>
          <a:p>
            <a:r>
              <a:rPr lang="en-US" sz="1400" b="1" dirty="0"/>
              <a:t>G = {on(A,B), on(B,C), </a:t>
            </a:r>
            <a:r>
              <a:rPr lang="en-US" sz="1400" b="1" dirty="0" err="1"/>
              <a:t>onTable</a:t>
            </a:r>
            <a:r>
              <a:rPr lang="en-US" sz="1400" b="1" dirty="0"/>
              <a:t>(C), clear(A), </a:t>
            </a:r>
            <a:r>
              <a:rPr lang="en-US" sz="1400" b="1" dirty="0" err="1"/>
              <a:t>ArmFree</a:t>
            </a:r>
            <a:r>
              <a:rPr lang="en-US" sz="1400" b="1" dirty="0"/>
              <a:t>} 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5185630" y="6065872"/>
            <a:ext cx="666347" cy="494435"/>
          </a:xfrm>
          <a:prstGeom prst="line">
            <a:avLst/>
          </a:prstGeom>
          <a:ln w="793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4391104" y="6065872"/>
            <a:ext cx="666347" cy="494435"/>
          </a:xfrm>
          <a:prstGeom prst="line">
            <a:avLst/>
          </a:prstGeom>
          <a:ln w="793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793382" y="3827318"/>
            <a:ext cx="666347" cy="494435"/>
          </a:xfrm>
          <a:prstGeom prst="line">
            <a:avLst/>
          </a:prstGeom>
          <a:ln w="793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6013754" y="6050284"/>
            <a:ext cx="666347" cy="494435"/>
          </a:xfrm>
          <a:prstGeom prst="line">
            <a:avLst/>
          </a:prstGeom>
          <a:ln w="793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3282" y="4393245"/>
            <a:ext cx="1678863" cy="483740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>
            <a:off x="6346927" y="5305880"/>
            <a:ext cx="1727032" cy="521328"/>
          </a:xfrm>
          <a:prstGeom prst="straightConnector1">
            <a:avLst/>
          </a:prstGeom>
          <a:ln w="1206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017561" y="5729310"/>
            <a:ext cx="42137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Rplan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= {stack(A,B), stack(B,C), unstack(A,C), pickup(B)}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6570" y="4909885"/>
            <a:ext cx="2251150" cy="40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968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6" grpId="0"/>
      <p:bldP spid="27" grpId="0"/>
      <p:bldP spid="1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6897" y="1084794"/>
            <a:ext cx="72290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solidFill>
                  <a:schemeClr val="accent6">
                    <a:lumMod val="75000"/>
                  </a:schemeClr>
                </a:solidFill>
              </a:rPr>
              <a:t>Rplan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 = {stack(A,B), stack(B,C), unstack(A,C), pickup(B)}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06897" y="2198451"/>
            <a:ext cx="7431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How to get </a:t>
            </a:r>
            <a:r>
              <a:rPr lang="en-US" sz="3600" b="1" dirty="0" err="1"/>
              <a:t>h</a:t>
            </a:r>
            <a:r>
              <a:rPr lang="en-US" sz="3600" b="1" baseline="30000" dirty="0" err="1"/>
              <a:t>FF</a:t>
            </a:r>
            <a:r>
              <a:rPr lang="en-US" sz="3600" b="1" dirty="0"/>
              <a:t> from Relaxed Plan?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6897" y="2721671"/>
            <a:ext cx="74312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70C0"/>
                </a:solidFill>
              </a:rPr>
              <a:t>Sum up the </a:t>
            </a:r>
            <a:r>
              <a:rPr lang="en-US" altLang="zh-CN" sz="3600" b="1" dirty="0">
                <a:solidFill>
                  <a:srgbClr val="FF0000"/>
                </a:solidFill>
              </a:rPr>
              <a:t>cost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en-US" altLang="zh-CN" sz="2800" b="1" dirty="0">
                <a:solidFill>
                  <a:srgbClr val="0070C0"/>
                </a:solidFill>
              </a:rPr>
              <a:t>of actions in relaxed plan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06897" y="3537278"/>
            <a:ext cx="54468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>
                <a:solidFill>
                  <a:srgbClr val="FF0000"/>
                </a:solidFill>
              </a:rPr>
              <a:t>h</a:t>
            </a:r>
            <a:r>
              <a:rPr lang="en-US" sz="2400" b="1" baseline="30000" dirty="0" err="1">
                <a:solidFill>
                  <a:srgbClr val="FF0000"/>
                </a:solidFill>
              </a:rPr>
              <a:t>FF</a:t>
            </a:r>
            <a:r>
              <a:rPr lang="en-US" sz="2400" b="1" dirty="0">
                <a:solidFill>
                  <a:srgbClr val="FF0000"/>
                </a:solidFill>
              </a:rPr>
              <a:t> =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6897" y="4455268"/>
            <a:ext cx="65168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Even </a:t>
            </a:r>
            <a:r>
              <a:rPr lang="en-US" sz="2000" dirty="0" err="1"/>
              <a:t>hadd</a:t>
            </a:r>
            <a:r>
              <a:rPr lang="en-US" sz="2000" dirty="0"/>
              <a:t> and </a:t>
            </a:r>
            <a:r>
              <a:rPr lang="en-US" sz="2000" dirty="0" err="1"/>
              <a:t>hmax</a:t>
            </a:r>
            <a:r>
              <a:rPr lang="en-US" sz="2000" dirty="0"/>
              <a:t> for some fact is different, but best supporter function for that fact are the same in this example. </a:t>
            </a:r>
          </a:p>
          <a:p>
            <a:r>
              <a:rPr lang="en-US" sz="2000" dirty="0"/>
              <a:t>So </a:t>
            </a:r>
            <a:r>
              <a:rPr lang="en-US" sz="2000" dirty="0" err="1"/>
              <a:t>h</a:t>
            </a:r>
            <a:r>
              <a:rPr lang="en-US" sz="2000" baseline="30000" dirty="0" err="1"/>
              <a:t>FF</a:t>
            </a:r>
            <a:r>
              <a:rPr lang="en-US" sz="2000" dirty="0"/>
              <a:t> = 4 for both </a:t>
            </a:r>
            <a:r>
              <a:rPr lang="en-US" sz="2000" dirty="0" err="1"/>
              <a:t>h</a:t>
            </a:r>
            <a:r>
              <a:rPr lang="en-US" sz="2000" baseline="30000" dirty="0" err="1"/>
              <a:t>add</a:t>
            </a:r>
            <a:r>
              <a:rPr lang="en-US" sz="2000" dirty="0"/>
              <a:t> and </a:t>
            </a:r>
            <a:r>
              <a:rPr lang="en-US" sz="2000" dirty="0" err="1"/>
              <a:t>h</a:t>
            </a:r>
            <a:r>
              <a:rPr lang="en-US" sz="2000" baseline="30000" dirty="0" err="1"/>
              <a:t>max</a:t>
            </a:r>
            <a:endParaRPr lang="en-US" sz="2000" baseline="30000" dirty="0"/>
          </a:p>
        </p:txBody>
      </p:sp>
      <p:sp>
        <p:nvSpPr>
          <p:cNvPr id="8" name="TextBox 7"/>
          <p:cNvSpPr txBox="1"/>
          <p:nvPr/>
        </p:nvSpPr>
        <p:spPr>
          <a:xfrm>
            <a:off x="2331131" y="3622912"/>
            <a:ext cx="24902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for both </a:t>
            </a:r>
            <a:r>
              <a:rPr lang="en-US" b="1" dirty="0" err="1">
                <a:solidFill>
                  <a:srgbClr val="FF0000"/>
                </a:solidFill>
              </a:rPr>
              <a:t>hadd</a:t>
            </a:r>
            <a:r>
              <a:rPr lang="en-US" b="1" dirty="0">
                <a:solidFill>
                  <a:srgbClr val="FF0000"/>
                </a:solidFill>
              </a:rPr>
              <a:t> and </a:t>
            </a:r>
            <a:r>
              <a:rPr lang="en-US" b="1" dirty="0" err="1">
                <a:solidFill>
                  <a:srgbClr val="FF0000"/>
                </a:solidFill>
              </a:rPr>
              <a:t>hmax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021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/>
          <p:cNvSpPr txBox="1"/>
          <p:nvPr/>
        </p:nvSpPr>
        <p:spPr>
          <a:xfrm>
            <a:off x="2520308" y="5209075"/>
            <a:ext cx="5446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rgbClr val="FF0000"/>
                </a:solidFill>
              </a:rPr>
              <a:t>h</a:t>
            </a:r>
            <a:r>
              <a:rPr lang="en-US" sz="3200" b="1" baseline="30000" dirty="0" err="1">
                <a:solidFill>
                  <a:srgbClr val="FF0000"/>
                </a:solidFill>
              </a:rPr>
              <a:t>FF</a:t>
            </a:r>
            <a:r>
              <a:rPr lang="en-US" sz="3200" b="1" dirty="0">
                <a:solidFill>
                  <a:srgbClr val="FF0000"/>
                </a:solidFill>
              </a:rPr>
              <a:t> = 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95973" y="5338044"/>
            <a:ext cx="24954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for both </a:t>
            </a:r>
            <a:r>
              <a:rPr lang="en-US" b="1" dirty="0" err="1">
                <a:solidFill>
                  <a:srgbClr val="FF0000"/>
                </a:solidFill>
              </a:rPr>
              <a:t>hadd</a:t>
            </a:r>
            <a:r>
              <a:rPr lang="en-US" b="1" dirty="0">
                <a:solidFill>
                  <a:srgbClr val="FF0000"/>
                </a:solidFill>
              </a:rPr>
              <a:t> and </a:t>
            </a:r>
            <a:r>
              <a:rPr lang="en-US" b="1" dirty="0" err="1">
                <a:solidFill>
                  <a:srgbClr val="FF0000"/>
                </a:solidFill>
              </a:rPr>
              <a:t>hmax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153" y="514726"/>
            <a:ext cx="9442450" cy="4694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34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13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082" y="1034714"/>
            <a:ext cx="10944127" cy="551046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82" y="341372"/>
            <a:ext cx="10944127" cy="276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3074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345" y="2032855"/>
            <a:ext cx="9017805" cy="24953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5011" y="1002973"/>
            <a:ext cx="83286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Relationship between h*, h</a:t>
            </a:r>
            <a:r>
              <a:rPr lang="en-US" sz="3200" b="1" baseline="30000" dirty="0"/>
              <a:t>+</a:t>
            </a:r>
            <a:r>
              <a:rPr lang="en-US" sz="3200" b="1" dirty="0"/>
              <a:t>, </a:t>
            </a:r>
            <a:r>
              <a:rPr lang="en-US" sz="3200" b="1" dirty="0" err="1"/>
              <a:t>h</a:t>
            </a:r>
            <a:r>
              <a:rPr lang="en-US" sz="3200" b="1" baseline="30000" dirty="0" err="1"/>
              <a:t>add</a:t>
            </a:r>
            <a:r>
              <a:rPr lang="en-US" sz="3200" b="1" dirty="0"/>
              <a:t>, </a:t>
            </a:r>
            <a:r>
              <a:rPr lang="en-US" sz="3200" b="1" dirty="0" err="1"/>
              <a:t>h</a:t>
            </a:r>
            <a:r>
              <a:rPr lang="en-US" sz="3200" b="1" baseline="30000" dirty="0" err="1"/>
              <a:t>max</a:t>
            </a:r>
            <a:r>
              <a:rPr lang="en-US" sz="3200" b="1" dirty="0"/>
              <a:t>, </a:t>
            </a:r>
            <a:r>
              <a:rPr lang="en-US" sz="3200" b="1" dirty="0" err="1"/>
              <a:t>h</a:t>
            </a:r>
            <a:r>
              <a:rPr lang="en-US" sz="3200" b="1" baseline="30000" dirty="0" err="1"/>
              <a:t>FF</a:t>
            </a:r>
            <a:r>
              <a:rPr lang="en-US" sz="3200" b="1" dirty="0"/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3599" y="4984093"/>
            <a:ext cx="70384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h</a:t>
            </a:r>
            <a:r>
              <a:rPr lang="en-US" sz="2400" b="1" baseline="30000" dirty="0">
                <a:solidFill>
                  <a:srgbClr val="FF0000"/>
                </a:solidFill>
              </a:rPr>
              <a:t>+</a:t>
            </a:r>
            <a:r>
              <a:rPr lang="en-US" sz="2400" b="1" dirty="0">
                <a:solidFill>
                  <a:srgbClr val="FF0000"/>
                </a:solidFill>
              </a:rPr>
              <a:t>: </a:t>
            </a:r>
            <a:r>
              <a:rPr lang="en-US" sz="2400" dirty="0"/>
              <a:t>is the </a:t>
            </a:r>
            <a:r>
              <a:rPr lang="en-US" sz="2400" b="1" dirty="0">
                <a:solidFill>
                  <a:srgbClr val="FF0000"/>
                </a:solidFill>
              </a:rPr>
              <a:t>optimal delete relaxation </a:t>
            </a:r>
            <a:r>
              <a:rPr lang="en-US" sz="2400" dirty="0"/>
              <a:t>heuristic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951" y="5445758"/>
            <a:ext cx="3621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But h+ is hard to compute</a:t>
            </a:r>
          </a:p>
        </p:txBody>
      </p:sp>
    </p:spTree>
    <p:extLst>
      <p:ext uri="{BB962C8B-B14F-4D97-AF65-F5344CB8AC3E}">
        <p14:creationId xmlns:p14="http://schemas.microsoft.com/office/powerpoint/2010/main" val="17860912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6024</TotalTime>
  <Words>1851</Words>
  <Application>Microsoft Macintosh PowerPoint</Application>
  <PresentationFormat>Widescreen</PresentationFormat>
  <Paragraphs>311</Paragraphs>
  <Slides>35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Cambria Math</vt:lpstr>
      <vt:lpstr>Office Theme</vt:lpstr>
      <vt:lpstr>COMP90054 AI Planning for Autonomy    Workshop Week5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Name</dc:creator>
  <cp:lastModifiedBy>Chao Lei</cp:lastModifiedBy>
  <cp:revision>344</cp:revision>
  <dcterms:created xsi:type="dcterms:W3CDTF">2018-08-22T06:05:57Z</dcterms:created>
  <dcterms:modified xsi:type="dcterms:W3CDTF">2026-08-28T05:55:28Z</dcterms:modified>
</cp:coreProperties>
</file>